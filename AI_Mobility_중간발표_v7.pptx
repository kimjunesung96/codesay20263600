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23"/>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1" autoAdjust="0"/>
  </p:normalViewPr>
  <p:slideViewPr>
    <p:cSldViewPr snapToGrid="0" snapToObjects="1">
      <p:cViewPr varScale="1">
        <p:scale>
          <a:sx n="80" d="100"/>
          <a:sy n="80" d="100"/>
        </p:scale>
        <p:origin x="132"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600" b="0" i="0" u="none" strike="noStrike">
                <a:solidFill>
                  <a:srgbClr val="16213A"/>
                </a:solidFill>
                <a:latin typeface="+mn-lt"/>
              </a:defRPr>
            </a:pPr>
            <a:r>
              <a:rPr sz="1600" b="0" i="0" u="none" strike="noStrike">
                <a:solidFill>
                  <a:srgbClr val="16213A"/>
                </a:solidFill>
                <a:latin typeface="+mn-lt"/>
              </a:rPr>
              <a:t>배치 전략별 평균 대기시간 (초, 헝가리안 고정, 페널티 포함)</a:t>
            </a:r>
          </a:p>
        </c:rich>
      </c:tx>
      <c:overlay val="0"/>
    </c:title>
    <c:autoTitleDeleted val="0"/>
    <c:plotArea>
      <c:layout/>
      <c:barChart>
        <c:barDir val="col"/>
        <c:grouping val="clustered"/>
        <c:varyColors val="0"/>
        <c:ser>
          <c:idx val="0"/>
          <c:order val="0"/>
          <c:tx>
            <c:strRef>
              <c:f>Sheet1!$B$1</c:f>
              <c:strCache>
                <c:ptCount val="1"/>
                <c:pt idx="0">
                  <c:v>prepositioned (Baseline)</c:v>
                </c:pt>
              </c:strCache>
            </c:strRef>
          </c:tx>
          <c:spPr>
            <a:solidFill>
              <a:srgbClr val="5B6B8C"/>
            </a:solidFill>
            <a:effectLst/>
          </c:spPr>
          <c:invertIfNegative val="0"/>
          <c:dLbls>
            <c:numFmt formatCode="0.0" sourceLinked="0"/>
            <c:spPr>
              <a:noFill/>
              <a:ln>
                <a:noFill/>
              </a:ln>
              <a:effectLst/>
            </c:spPr>
            <c:txPr>
              <a:bodyPr/>
              <a:lstStyle/>
              <a:p>
                <a:pPr>
                  <a:defRPr sz="1300" b="0" i="0" u="none" strike="noStrike">
                    <a:solidFill>
                      <a:srgbClr val="16213A"/>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10/9 휴일</c:v>
                </c:pt>
                <c:pt idx="1">
                  <c:v>10/10 휴일</c:v>
                </c:pt>
                <c:pt idx="2">
                  <c:v>7/17 휴일</c:v>
                </c:pt>
                <c:pt idx="3">
                  <c:v>9/23 평일</c:v>
                </c:pt>
              </c:strCache>
            </c:strRef>
          </c:cat>
          <c:val>
            <c:numRef>
              <c:f>Sheet1!$B$2:$B$5</c:f>
              <c:numCache>
                <c:formatCode>General</c:formatCode>
                <c:ptCount val="4"/>
                <c:pt idx="0">
                  <c:v>166.5</c:v>
                </c:pt>
                <c:pt idx="1">
                  <c:v>164.5</c:v>
                </c:pt>
                <c:pt idx="2">
                  <c:v>166.2</c:v>
                </c:pt>
                <c:pt idx="3">
                  <c:v>205.3</c:v>
                </c:pt>
              </c:numCache>
            </c:numRef>
          </c:val>
          <c:extLst>
            <c:ext xmlns:c16="http://schemas.microsoft.com/office/drawing/2014/chart" uri="{C3380CC4-5D6E-409C-BE32-E72D297353CC}">
              <c16:uniqueId val="{00000000-5F3D-4044-BEBB-5DCABBAAE453}"/>
            </c:ext>
          </c:extLst>
        </c:ser>
        <c:ser>
          <c:idx val="1"/>
          <c:order val="1"/>
          <c:tx>
            <c:strRef>
              <c:f>Sheet1!$C$1</c:f>
              <c:strCache>
                <c:ptCount val="1"/>
                <c:pt idx="0">
                  <c:v>rl_prepositioned (제안, RL)</c:v>
                </c:pt>
              </c:strCache>
            </c:strRef>
          </c:tx>
          <c:spPr>
            <a:solidFill>
              <a:srgbClr val="F5B700"/>
            </a:solidFill>
            <a:effectLst/>
          </c:spPr>
          <c:invertIfNegative val="0"/>
          <c:dLbls>
            <c:numFmt formatCode="0.0" sourceLinked="0"/>
            <c:spPr>
              <a:noFill/>
              <a:ln>
                <a:noFill/>
              </a:ln>
              <a:effectLst/>
            </c:spPr>
            <c:txPr>
              <a:bodyPr/>
              <a:lstStyle/>
              <a:p>
                <a:pPr>
                  <a:defRPr sz="1300" b="0" i="0" u="none" strike="noStrike">
                    <a:solidFill>
                      <a:srgbClr val="16213A"/>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10/9 휴일</c:v>
                </c:pt>
                <c:pt idx="1">
                  <c:v>10/10 휴일</c:v>
                </c:pt>
                <c:pt idx="2">
                  <c:v>7/17 휴일</c:v>
                </c:pt>
                <c:pt idx="3">
                  <c:v>9/23 평일</c:v>
                </c:pt>
              </c:strCache>
            </c:strRef>
          </c:cat>
          <c:val>
            <c:numRef>
              <c:f>Sheet1!$C$2:$C$5</c:f>
              <c:numCache>
                <c:formatCode>General</c:formatCode>
                <c:ptCount val="4"/>
                <c:pt idx="0">
                  <c:v>147.5</c:v>
                </c:pt>
                <c:pt idx="1">
                  <c:v>143.1</c:v>
                </c:pt>
                <c:pt idx="2">
                  <c:v>140.9</c:v>
                </c:pt>
                <c:pt idx="3">
                  <c:v>204.5</c:v>
                </c:pt>
              </c:numCache>
            </c:numRef>
          </c:val>
          <c:extLst>
            <c:ext xmlns:c16="http://schemas.microsoft.com/office/drawing/2014/chart" uri="{C3380CC4-5D6E-409C-BE32-E72D297353CC}">
              <c16:uniqueId val="{00000001-5F3D-4044-BEBB-5DCABBAAE453}"/>
            </c:ext>
          </c:extLst>
        </c:ser>
        <c:dLbls>
          <c:dLblPos val="outEnd"/>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8C"/>
                </a:solidFill>
                <a:latin typeface="+mn-lt"/>
              </a:defRPr>
            </a:pPr>
            <a:endParaRPr lang="en-US"/>
          </a:p>
        </c:txPr>
        <c:crossAx val="2094734552"/>
        <c:crosses val="autoZero"/>
        <c:auto val="1"/>
        <c:lblAlgn val="ctr"/>
        <c:lblOffset val="100"/>
        <c:noMultiLvlLbl val="1"/>
      </c:catAx>
      <c:valAx>
        <c:axId val="2094734552"/>
        <c:scaling>
          <c:orientation val="minMax"/>
          <c:max val="240"/>
          <c:min val="0"/>
        </c:scaling>
        <c:delete val="0"/>
        <c:axPos val="l"/>
        <c:majorGridlines>
          <c:spPr>
            <a:ln w="9525" cap="flat">
              <a:solidFill>
                <a:srgbClr val="E1E5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ko-K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600" b="0" i="0" u="none" strike="noStrike">
                <a:solidFill>
                  <a:srgbClr val="16213A"/>
                </a:solidFill>
                <a:latin typeface="+mn-lt"/>
              </a:defRPr>
            </a:pPr>
            <a:r>
              <a:rPr sz="1600" b="0" i="0" u="none" strike="noStrike">
                <a:solidFill>
                  <a:srgbClr val="16213A"/>
                </a:solidFill>
                <a:latin typeface="+mn-lt"/>
              </a:rPr>
              <a:t>시간대별 타임아웃 호출 수 (4개 로그 합산)</a:t>
            </a:r>
          </a:p>
        </c:rich>
      </c:tx>
      <c:overlay val="0"/>
    </c:title>
    <c:autoTitleDeleted val="0"/>
    <c:plotArea>
      <c:layout/>
      <c:barChart>
        <c:barDir val="col"/>
        <c:grouping val="clustered"/>
        <c:varyColors val="0"/>
        <c:ser>
          <c:idx val="0"/>
          <c:order val="0"/>
          <c:tx>
            <c:strRef>
              <c:f>Sheet1!$B$1</c:f>
              <c:strCache>
                <c:ptCount val="1"/>
                <c:pt idx="0">
                  <c:v>타임아웃 호출 수</c:v>
                </c:pt>
              </c:strCache>
            </c:strRef>
          </c:tx>
          <c:spPr>
            <a:solidFill>
              <a:srgbClr val="E4572E"/>
            </a:solidFill>
            <a:effectLst/>
          </c:spPr>
          <c:invertIfNegative val="0"/>
          <c:dLbls>
            <c:numFmt formatCode="#,##0" sourceLinked="0"/>
            <c:spPr>
              <a:noFill/>
              <a:ln>
                <a:noFill/>
              </a:ln>
              <a:effectLst/>
            </c:spPr>
            <c:txPr>
              <a:bodyPr/>
              <a:lstStyle/>
              <a:p>
                <a:pPr>
                  <a:defRPr sz="1100" b="0" i="0" u="none" strike="noStrike">
                    <a:solidFill>
                      <a:srgbClr val="16213A"/>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9</c:v>
                </c:pt>
                <c:pt idx="1">
                  <c:v>10</c:v>
                </c:pt>
                <c:pt idx="2">
                  <c:v>11</c:v>
                </c:pt>
                <c:pt idx="3">
                  <c:v>12</c:v>
                </c:pt>
                <c:pt idx="4">
                  <c:v>13</c:v>
                </c:pt>
                <c:pt idx="5">
                  <c:v>14</c:v>
                </c:pt>
                <c:pt idx="6">
                  <c:v>15</c:v>
                </c:pt>
                <c:pt idx="7">
                  <c:v>16</c:v>
                </c:pt>
                <c:pt idx="8">
                  <c:v>17</c:v>
                </c:pt>
                <c:pt idx="9">
                  <c:v>18</c:v>
                </c:pt>
                <c:pt idx="10">
                  <c:v>19</c:v>
                </c:pt>
                <c:pt idx="11">
                  <c:v>20</c:v>
                </c:pt>
                <c:pt idx="12">
                  <c:v>21</c:v>
                </c:pt>
                <c:pt idx="13">
                  <c:v>22</c:v>
                </c:pt>
              </c:strCache>
            </c:strRef>
          </c:cat>
          <c:val>
            <c:numRef>
              <c:f>Sheet1!$B$2:$B$15</c:f>
              <c:numCache>
                <c:formatCode>General</c:formatCode>
                <c:ptCount val="14"/>
                <c:pt idx="0">
                  <c:v>107</c:v>
                </c:pt>
                <c:pt idx="1">
                  <c:v>5</c:v>
                </c:pt>
                <c:pt idx="2">
                  <c:v>2</c:v>
                </c:pt>
                <c:pt idx="3">
                  <c:v>30</c:v>
                </c:pt>
                <c:pt idx="4">
                  <c:v>559</c:v>
                </c:pt>
                <c:pt idx="5">
                  <c:v>22</c:v>
                </c:pt>
                <c:pt idx="6">
                  <c:v>7</c:v>
                </c:pt>
                <c:pt idx="7">
                  <c:v>6</c:v>
                </c:pt>
                <c:pt idx="8">
                  <c:v>99</c:v>
                </c:pt>
                <c:pt idx="9">
                  <c:v>489</c:v>
                </c:pt>
                <c:pt idx="10">
                  <c:v>446</c:v>
                </c:pt>
                <c:pt idx="11">
                  <c:v>607</c:v>
                </c:pt>
                <c:pt idx="12">
                  <c:v>246</c:v>
                </c:pt>
                <c:pt idx="13">
                  <c:v>5</c:v>
                </c:pt>
              </c:numCache>
            </c:numRef>
          </c:val>
          <c:extLst>
            <c:ext xmlns:c16="http://schemas.microsoft.com/office/drawing/2014/chart" uri="{C3380CC4-5D6E-409C-BE32-E72D297353CC}">
              <c16:uniqueId val="{00000000-A9EE-4AF1-90E5-12481F86606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title>
          <c:tx>
            <c:rich>
              <a:bodyPr/>
              <a:lstStyle/>
              <a:p>
                <a:pPr>
                  <a:defRPr sz="1200" b="0" i="0" u="none" strike="noStrike">
                    <a:solidFill>
                      <a:srgbClr val="5B6B8C"/>
                    </a:solidFill>
                    <a:latin typeface="Arial"/>
                  </a:defRPr>
                </a:pPr>
                <a:r>
                  <a:rPr sz="1200" b="0" i="0" u="none" strike="noStrike">
                    <a:solidFill>
                      <a:srgbClr val="5B6B8C"/>
                    </a:solidFill>
                    <a:latin typeface="Arial"/>
                  </a:rPr>
                  <a:t>시각(시)</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C"/>
                </a:solidFill>
                <a:latin typeface="+mn-lt"/>
              </a:defRPr>
            </a:pPr>
            <a:endParaRPr lang="en-US"/>
          </a:p>
        </c:txPr>
        <c:crossAx val="2094734552"/>
        <c:crosses val="autoZero"/>
        <c:auto val="1"/>
        <c:lblAlgn val="ctr"/>
        <c:lblOffset val="100"/>
        <c:noMultiLvlLbl val="1"/>
      </c:catAx>
      <c:valAx>
        <c:axId val="2094734552"/>
        <c:scaling>
          <c:orientation val="minMax"/>
          <c:max val="700"/>
        </c:scaling>
        <c:delete val="0"/>
        <c:axPos val="l"/>
        <c:majorGridlines>
          <c:spPr>
            <a:ln w="9525" cap="flat">
              <a:solidFill>
                <a:srgbClr val="E1E5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C"/>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04821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안녕하세요, FETEX 팀입니다. 오늘은 중간 발표라서, 결과를 자랑하기보다 지금까지 어디까지 만들었는지, 어떤 문제를 겪었는지, 그리고 뭐가 남았는지를 솔직하게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저희 프로젝트의 출발점은 이 한 문장입니다. 택시는 충분한데, 필요한 곳에 없다는 것. 대수가 부족한 게 아니라 위치가 문제라는 거죠. 저희가 생각한 사용자는 시간이 급한 택시 승객입니다. 오래 기다리면 호출을 포기하기 때문에, 평균 대기시간과 타임아웃률을 핵심 지표로 봅니다. 그래서 목표를 '필요한 곳에 차를 미리 보내두는 것'으로 잡았습니다. 이걸 검증하려면 시간대별, 날짜별로 택시와 호출이 어디에 있는지 데이터가 필요한데, 우선은 시뮬레이션으로 만들고 나중에 실데이터를 연결할 계획입니다. 마지막 단계는 Unity에서 에셋을 연결해서 SUMO를 돌려 눈으로 확인하는 건데, 이건 아직 못 했습니다. 이 부분은 뒤에서 다시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전체 진행 상황을 한 장으로 정리했습니다. 초록색은 완료입니다. 도시 환경, 데이터 생성, 전처리 파이프라인까지 끝났습니다. 노란색은 구현은 됐는데 정리가 남은 것들이고, 예측 모델 평가와 배차 실험이 여기에 해당합니다. 공휴일 효과는 지금 작업 중이고, 맨 아래 Unity 연동은 아직 시작하지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구조는 이렇습니다. SUMO 시뮬레이션이 호출 로그를 남기고, 그 로그를 전처리해서 예측 모델을 학습시키고, 그 결과를 배차와 재배치에 씁니다. 그리고 그 결과가 다시 시뮬레이션 로그로 쌓입니다. 설정은 config 파일 한 곳에서 관리해서 모듈들이 같은 값을 보도록 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 모듈, 도시 환경입니다. 실제 지도, 저희는 강남역 일대를 OSM에서 받아서 SUMO 도로망으로 바꿨습니다. 이 변환이 자주 실패해서 3단계 폴백을 넣었고, 서로 연결되지 않은 고립 도로는 걸러냈습니다. 건물은 학교, 주거, 회사, 음식점, 지하철 입구, 버스 정류장 여섯 종류로 나눴고, 승객은 시뮬레이션 중에 실시간으로 생기고 사라집니다. 예를 들어 아침에 회사가 흡수한 인원이 저녁에 다시 나오는 식입니다. 실험은 택시 50대, 일반 차량 20대, 자율주행 1대, 장애물 2개로 돌렸고, 하루 호출은 약 6천 건입니다.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 모듈은 전처리입니다. 위치는 H3 육각형 격자로 바꿨는데, 육각형은 이웃 칸까지 거리가 모두 같아서 '옆 칸으로 보내기' 같은 계산이 단순해집니다. 해상도는 8, 9, 10을 비교해서 9를 골랐고, 8은 너무 거칠고 10은 너무 잘게 쪼개져서 빈 칸이 많았습니다. 시간 피처, 시차 피처, 날씨까지 붙였고, 미래 값이 새어 들어가지 않도록 모든 피처를 한 칸 밀어서 계산했습니다.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번째 모듈은 수요 예측입니다. 지금 시점 기준으로 30분 앞까지, 5분 단위로 예측하는 구조이고, 모델은 XGBoost와 CNN-LSTM 두 가지를 구현했습니다. 평가는 시간 순서대로 8대 2로 나눠서 하고, RMSE, MAE, MAPE, WAPE를 씁니다. 테스트 구간은 9월 30일 오후부터 10월 9일까지입니다. 1차 평가 결과, XGBoost가 RMSE 8.96, MAE 2.08, WAPE 28.6퍼센트이고, CNN-LSTM은 RMSE 14.74, MAE 3.55, WAPE 48.9퍼센트입니다. 다만 CNN-LSTM 수치는 잠정입니다. 저장된 모델 파일에 표준화 정보가 빠져 있어서 학습 때와 다른 조건으로 평가됐을 가능성이 크고, 그래서 실제보다 나쁘게 나왔을 수 있습니다. 날씨 데이터도 일부 기간만 있어서 두 모델 모두 영향을 받았습니다. 재학습과 재평가를 거쳐 다시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학습 방법을 설명드리겠습니다. 위쪽은 예측 모델입니다. 시뮬레이션 로그에서 피처 테이블을 만들고, 시간순으로 나눠서 학습하고, 저장된 모델을 RL의 관측값으로 연결합니다. 아래쪽은 재배치 정책입니다. 이건 정답 데이터가 있는 게 아니라, SUMO 안에서 직접 해보면서 배웁니다. 1분마다 빈 택시를 어느 구역으로 보낼지 정하고, 승객을 태우면 보상, 타임아웃이 나면 큰 패널티를 줍니다. 이걸 PPO로 약 5만 스텝(51,200) 학습시켰고, 에피소드마다 승객 시드를 바꿔서 한 가지 상황에만 맞춰지지 않게 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배차 쪽은 이렇게 정리했습니다. 이번 실험에서 배차는 헝가리안으로 고정했습니다. 전체 거리 합이 최소가 되도록 한꺼번에 배정하는 방식입니다. 가장 가까운 승객을 차례로 붙이는 greedy는 보조 기준선으로만 같이 돌렸습니다. 그리고 저희가 SUMO의 기본 배차를 그대로 쓰지 않고 외부 제어 방식으로 바꾼 이유가 있습니다. SUMO 내장 로직은 누구를 어느 택시에 붙일지 안에서 알아서 정해버려서, 배차 알고리즘을 저희가 바꿔 끼울 수가 없었습니다. 그래서 대기 중인 예약과 빈 택시 위치를 가져와서 직접 배정하도록 했고, 예약은 빈 택시 한 대에 승객 한 명일 때만 허용하는 규칙을 둬서 어떤 알고리즘이든 같은 조건에서 돌아가게 했습니다. 이 구조 덕분에 새 배차 알고리즘을 헝가리안과 같은 조건에서 비교할 수 있고, 저희의 추가 목표는 이 비교에서 헝가리안보다 잘 나오는 배차 알고리즘, FETEX를 만드는 것입니다. FETEX는 아직 만들기 전입니다.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슬라이드가 저희 프로젝트의 핵심이고, 가장 많은 시간을 쓴 부분입니다. 매칭 자체는 헝가리안이 그 순간 최적으로 해줍니다. 그래서 RL은 매칭을 건드리지 않고, 비어 있는 택시를 미리 어디에 둘지만 정합니다. 미래 수요를 봐야 하는 건 그쪽이니까요. 관측은 여섯 구역의 대기 승객, 유휴 택시, 예측 수요와 현재 시각이고, 행동은 구역별 우선순위입니다. 보상은 오른쪽에 있는 것처럼 태우면 플러스, 타임아웃이 나면 크게 마이너스입니다.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실험 설계입니다. 비교하려는 건 하나입니다. 기준선인 prepositioned, 즉 택시를 시간대별 핫스팟에 고정해서 미리 배치하는 방식과, 저희 제안 모델인 rl_prepositioned, 즉 RL이 배치를 정하는 방식입니다. 배차는 헝가리안으로 고정해서 변수를 줄였고, greedy와의 조합은 참고용으로 같이 돌렸습니다. 조건은 택시 50대, 하루 호출 약 6천 건이고, 휴일·주말 로그 3일과 평일 로그 1일로 비교했습니다. 평균 대기시간은 타임아웃 난 승객을 500초로 계산해서 포함시켰습니다. 안 태운 승객을 빼면 오히려 좋아 보이는 착시가 생기기 때문입니다. 참고로 시간대별 분석에 쓴 로그 네 개는 휴일이나 주말 로그입니다.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결과입니다. 헝가리안 배차를 고정하고 비교하면, 휴일·주말 3일 모두 RL 재배치가 더 짧았습니다. 평균 대기가 11퍼센트에서 15퍼센트 줄었고, 타임아웃률은 10퍼센트 안팎에서 5~6퍼센트대로 내려갔습니다. 타임아웃 건수로는 32에서 41퍼센트 감소입니다. 같은 방향이 3일 반복됐다는 점이 중요합니다. 다만 평일은 개선폭이 극적이지 않았습니다. 9월 23일 평일 로그에서는 두 방식이 거의 같았고, 타임아웃률은 둘 다 26퍼센트로 휴일의 두 배 반이었습니다. 학습에 평일 로그가 더 많이 들어갔는데도 이런 결과가 나왔다는 점이 흥미롭습니다. 저희는 택시 50대로 소화하기 어려운 수요 포화를 원인으로 의심하고 있는데, 아직 증명은 못 했습니다. 평일은 1일치라 반복도 필요하고, 시간대별 호출 분포와 택시 대수를 늘린 실험으로 확인하고, 평일에서도 효과가 커지도록 추가 개선할 계획입니다. 참고로 greedy 배차로 고정하면 RL 효과는 2퍼센트 정도로 작았고, 이 정도는 수요 차이에서 오는 우연일 수도 있습니다. 그리고 10월 9일 결과는 재학습 전 모델(10만 스텝)이고, 나머지 세 결과는 지금 쓰는 5만 스텝 모델입니다.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휴일·주말 로그 기준으로 시간대별로 보면 타임아웃의 약 90퍼센트가 13시와 18시에서 21시에 몰려 있습니다. 점심과 퇴근, 저녁 피크입니다. 흥미로운 건 태운 승객의 평균 대기도 이 시간대가 가장 길다는 점입니다. 결국 피크 직전에 택시를 미리 배치하는 게 가장 효과가 클 구간이라는 저희의 가설과 맞아떨어집니다.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진행하면서 겪은 문제들입니다. 지도 변환이 자주 죽어서 폴백을 만들었고, 고립된 도로 때문에 시뮬레이션이 종료되는 문제는 연결된 도로만 남겨서 해결했습니다. 택시가 경계에서 사라지는 문제, 같은 승객이 학습에 두 번 들어가던 중복 문제, 학습과 실제 예측의 피처 구성이 달랐던 문제도 각각 고쳤습니다.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남은 일입니다. 지금은 세 가지를 하고 있습니다. 하나는 평일 추가 개선입니다. 휴일에서는 RL 효과가 분명했지만, 평일에서는 개선폭이 0.4퍼센트로 극적이지 않았고 타임아웃률도 26퍼센트로 높았습니다. 그래서 시간대별 호출 분포를 보고 택시 대수를 늘린 실험으로 수요 포화 여부를 확인하면서, 평일에서도 RL 효과가 커지도록 추가로 개선하겠습니다. 또 하나는 공휴일 효과 반영인데, 공휴일에는 회사 호출이 줄고 주거와 음식점이 늘어나는 걸 반영하는 작업입니다. 마지막은 앞에서 말씀드린 예측 모델 성능 평가 정리입니다. 그다음 가장 큰 일이 아까 말씀드린 Unity 연동이고, 송신화가 맡고 있습니다. 10월 22일 이후에 Unity에서 에셋을 연결해 SUMO를 돌리고, 미리 배치한 경우와 아닌 경우를 화면으로 비교할 계획입니다. 중간발표 직후에는 Unity 연동과 함께, 추가 목표인 FETEX, 즉 헝가리안보다 잘 나오는 배차 알고리즘 개발도 같이 시작합니다. 그 이후에 평일 반복 실험, 실데이터 확보 방안 검토, 문서 정리를 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정리하겠습니다. 필요한 곳에 택시를 미리 보내는 로직을 만들었고, RL 재배치는 휴일·주말 3일에서 평균 대기를 11에서 15퍼센트 줄였습니다. 평일은 개선폭이 휴일보다 작아서 추가 개선이 필요합니다. 중간발표 직후에는 Unity 연동과 FETEX 개발을 같이 시작합니다. 핵심 위험요인은 세 가지입니다. 첫째, 택시 호출과 공급 정보가 담긴 정확한 실데이터를 확보하기 어렵고, 지금 구할 수 있는 건 이동경로 데이터뿐입니다. 둘째, Unity 연동과 FETEX 개발을 동시에 시작하기 때문에 일정 관리가 필요합니다. 셋째, 평일에서는 개선폭이 휴일보다 작아서 원인 검증이 필요합니다. 들어주셔서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저희 팀 역할 분담입니다. 김준성이 통합과 강화학습을, 전우영이 전처리된 데이터로 XGBoost와 CNN-LSTM 두 모델을 학습해서 택시 수요를 예측하는 부분을, 윤세빈이 시뮬레이션 로그를 학습용 시계열 데이터로 전처리하고 EDA로 수요 패턴과 데이터 특성을 분석하는 부분을 맡고 있습니다. 송신화는 데이터 생성, 전처리, 모델 학습, 평가 테스트와 Unity 디지털 트윈 시각화를, 이동규는 지도와 외부 데이터 검증, 검증 도구 작성, 지역 좌표 조회 캐시 개선을 맡고 있습니다.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418320" cy="822960"/>
          </a:xfrm>
          <a:prstGeom prst="rect">
            <a:avLst/>
          </a:prstGeom>
          <a:noFill/>
          <a:ln/>
        </p:spPr>
        <p:txBody>
          <a:bodyPr wrap="square" rtlCol="0"/>
          <a:lstStyle>
            <a:lvl1pPr marL="0" indent="0" algn="l">
              <a:buNone/>
              <a:defRPr lang="en-US" sz="3000" b="1" dirty="0">
                <a:solidFill>
                  <a:schemeClr val="tx1"/>
                </a:solidFill>
                <a:latin typeface="Malgun Gothic" pitchFamily="34" charset="0"/>
                <a:ea typeface="Malgun Gothic" pitchFamily="34" charset="-122"/>
                <a:cs typeface="Malgun Gothic"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583680" y="0"/>
            <a:ext cx="0" cy="6858000"/>
          </a:xfrm>
          <a:prstGeom prst="line">
            <a:avLst/>
          </a:prstGeom>
          <a:noFill/>
          <a:ln w="9525">
            <a:solidFill>
              <a:schemeClr val="accent4">
                <a:alpha val="30000"/>
              </a:schemeClr>
            </a:solidFill>
            <a:prstDash val="solid"/>
          </a:ln>
        </p:spPr>
      </p:sp>
      <p:sp>
        <p:nvSpPr>
          <p:cNvPr id="3" name="Shape 1"/>
          <p:cNvSpPr/>
          <p:nvPr/>
        </p:nvSpPr>
        <p:spPr>
          <a:xfrm>
            <a:off x="7543800" y="0"/>
            <a:ext cx="0" cy="6858000"/>
          </a:xfrm>
          <a:prstGeom prst="line">
            <a:avLst/>
          </a:prstGeom>
          <a:noFill/>
          <a:ln w="9525">
            <a:solidFill>
              <a:schemeClr val="accent4">
                <a:alpha val="30000"/>
              </a:schemeClr>
            </a:solidFill>
            <a:prstDash val="solid"/>
          </a:ln>
        </p:spPr>
      </p:sp>
      <p:sp>
        <p:nvSpPr>
          <p:cNvPr id="4" name="Shape 2"/>
          <p:cNvSpPr/>
          <p:nvPr/>
        </p:nvSpPr>
        <p:spPr>
          <a:xfrm>
            <a:off x="8503920" y="0"/>
            <a:ext cx="0" cy="6858000"/>
          </a:xfrm>
          <a:prstGeom prst="line">
            <a:avLst/>
          </a:prstGeom>
          <a:noFill/>
          <a:ln w="9525">
            <a:solidFill>
              <a:schemeClr val="accent4">
                <a:alpha val="30000"/>
              </a:schemeClr>
            </a:solidFill>
            <a:prstDash val="solid"/>
          </a:ln>
        </p:spPr>
      </p:sp>
      <p:sp>
        <p:nvSpPr>
          <p:cNvPr id="5" name="Shape 3"/>
          <p:cNvSpPr/>
          <p:nvPr/>
        </p:nvSpPr>
        <p:spPr>
          <a:xfrm>
            <a:off x="9464040" y="0"/>
            <a:ext cx="0" cy="6858000"/>
          </a:xfrm>
          <a:prstGeom prst="line">
            <a:avLst/>
          </a:prstGeom>
          <a:noFill/>
          <a:ln w="9525">
            <a:solidFill>
              <a:schemeClr val="accent4">
                <a:alpha val="30000"/>
              </a:schemeClr>
            </a:solidFill>
            <a:prstDash val="solid"/>
          </a:ln>
        </p:spPr>
      </p:sp>
      <p:sp>
        <p:nvSpPr>
          <p:cNvPr id="6" name="Shape 4"/>
          <p:cNvSpPr/>
          <p:nvPr/>
        </p:nvSpPr>
        <p:spPr>
          <a:xfrm>
            <a:off x="10424160" y="0"/>
            <a:ext cx="0" cy="6858000"/>
          </a:xfrm>
          <a:prstGeom prst="line">
            <a:avLst/>
          </a:prstGeom>
          <a:noFill/>
          <a:ln w="9525">
            <a:solidFill>
              <a:schemeClr val="accent4">
                <a:alpha val="30000"/>
              </a:schemeClr>
            </a:solidFill>
            <a:prstDash val="solid"/>
          </a:ln>
        </p:spPr>
      </p:sp>
      <p:sp>
        <p:nvSpPr>
          <p:cNvPr id="7" name="Shape 5"/>
          <p:cNvSpPr/>
          <p:nvPr/>
        </p:nvSpPr>
        <p:spPr>
          <a:xfrm>
            <a:off x="11384280" y="0"/>
            <a:ext cx="0" cy="6858000"/>
          </a:xfrm>
          <a:prstGeom prst="line">
            <a:avLst/>
          </a:prstGeom>
          <a:noFill/>
          <a:ln w="9525">
            <a:solidFill>
              <a:schemeClr val="accent4">
                <a:alpha val="30000"/>
              </a:schemeClr>
            </a:solidFill>
            <a:prstDash val="solid"/>
          </a:ln>
        </p:spPr>
      </p:sp>
      <p:sp>
        <p:nvSpPr>
          <p:cNvPr id="8" name="Shape 6"/>
          <p:cNvSpPr/>
          <p:nvPr/>
        </p:nvSpPr>
        <p:spPr>
          <a:xfrm>
            <a:off x="6583680" y="822960"/>
            <a:ext cx="5605272" cy="0"/>
          </a:xfrm>
          <a:prstGeom prst="line">
            <a:avLst/>
          </a:prstGeom>
          <a:noFill/>
          <a:ln w="9525">
            <a:solidFill>
              <a:schemeClr val="accent4">
                <a:alpha val="30000"/>
              </a:schemeClr>
            </a:solidFill>
            <a:prstDash val="solid"/>
          </a:ln>
        </p:spPr>
      </p:sp>
      <p:sp>
        <p:nvSpPr>
          <p:cNvPr id="9" name="Shape 7"/>
          <p:cNvSpPr/>
          <p:nvPr/>
        </p:nvSpPr>
        <p:spPr>
          <a:xfrm>
            <a:off x="6583680" y="1874520"/>
            <a:ext cx="5605272" cy="0"/>
          </a:xfrm>
          <a:prstGeom prst="line">
            <a:avLst/>
          </a:prstGeom>
          <a:noFill/>
          <a:ln w="9525">
            <a:solidFill>
              <a:schemeClr val="accent4">
                <a:alpha val="30000"/>
              </a:schemeClr>
            </a:solidFill>
            <a:prstDash val="solid"/>
          </a:ln>
        </p:spPr>
      </p:sp>
      <p:sp>
        <p:nvSpPr>
          <p:cNvPr id="10" name="Shape 8"/>
          <p:cNvSpPr/>
          <p:nvPr/>
        </p:nvSpPr>
        <p:spPr>
          <a:xfrm>
            <a:off x="6583680" y="2926080"/>
            <a:ext cx="5605272" cy="0"/>
          </a:xfrm>
          <a:prstGeom prst="line">
            <a:avLst/>
          </a:prstGeom>
          <a:noFill/>
          <a:ln w="9525">
            <a:solidFill>
              <a:schemeClr val="accent4">
                <a:alpha val="30000"/>
              </a:schemeClr>
            </a:solidFill>
            <a:prstDash val="solid"/>
          </a:ln>
        </p:spPr>
      </p:sp>
      <p:sp>
        <p:nvSpPr>
          <p:cNvPr id="11" name="Shape 9"/>
          <p:cNvSpPr/>
          <p:nvPr/>
        </p:nvSpPr>
        <p:spPr>
          <a:xfrm>
            <a:off x="6583680" y="3977640"/>
            <a:ext cx="5605272" cy="0"/>
          </a:xfrm>
          <a:prstGeom prst="line">
            <a:avLst/>
          </a:prstGeom>
          <a:noFill/>
          <a:ln w="9525">
            <a:solidFill>
              <a:schemeClr val="accent4">
                <a:alpha val="30000"/>
              </a:schemeClr>
            </a:solidFill>
            <a:prstDash val="solid"/>
          </a:ln>
        </p:spPr>
      </p:sp>
      <p:sp>
        <p:nvSpPr>
          <p:cNvPr id="12" name="Shape 10"/>
          <p:cNvSpPr/>
          <p:nvPr/>
        </p:nvSpPr>
        <p:spPr>
          <a:xfrm>
            <a:off x="6583680" y="5029200"/>
            <a:ext cx="5605272" cy="0"/>
          </a:xfrm>
          <a:prstGeom prst="line">
            <a:avLst/>
          </a:prstGeom>
          <a:noFill/>
          <a:ln w="9525">
            <a:solidFill>
              <a:schemeClr val="accent4">
                <a:alpha val="30000"/>
              </a:schemeClr>
            </a:solidFill>
            <a:prstDash val="solid"/>
          </a:ln>
        </p:spPr>
      </p:sp>
      <p:sp>
        <p:nvSpPr>
          <p:cNvPr id="13" name="Shape 11"/>
          <p:cNvSpPr/>
          <p:nvPr/>
        </p:nvSpPr>
        <p:spPr>
          <a:xfrm>
            <a:off x="6583680" y="6080760"/>
            <a:ext cx="5605272" cy="0"/>
          </a:xfrm>
          <a:prstGeom prst="line">
            <a:avLst/>
          </a:prstGeom>
          <a:noFill/>
          <a:ln w="9525">
            <a:solidFill>
              <a:schemeClr val="accent4">
                <a:alpha val="30000"/>
              </a:schemeClr>
            </a:solidFill>
            <a:prstDash val="solid"/>
          </a:ln>
        </p:spPr>
      </p:sp>
      <p:pic>
        <p:nvPicPr>
          <p:cNvPr id="14" name="pixel skyline" descr="/tmp/claude-0/-home-claude/11347301-a108-554b-858c-c0553e507ab7/scratchpad/build/px/sky.png"/>
          <p:cNvPicPr>
            <a:picLocks noChangeAspect="1"/>
          </p:cNvPicPr>
          <p:nvPr/>
        </p:nvPicPr>
        <p:blipFill>
          <a:blip r:embed="rId3"/>
          <a:stretch>
            <a:fillRect/>
          </a:stretch>
        </p:blipFill>
        <p:spPr>
          <a:xfrm>
            <a:off x="0" y="6126480"/>
            <a:ext cx="12188952" cy="731520"/>
          </a:xfrm>
          <a:prstGeom prst="rect">
            <a:avLst/>
          </a:prstGeom>
        </p:spPr>
      </p:pic>
      <p:pic>
        <p:nvPicPr>
          <p:cNvPr id="15" name="pixel road" descr="/tmp/claude-0/-home-claude/11347301-a108-554b-858c-c0553e507ab7/scratchpad/build/px/road_t.png"/>
          <p:cNvPicPr>
            <a:picLocks noChangeAspect="1"/>
          </p:cNvPicPr>
          <p:nvPr/>
        </p:nvPicPr>
        <p:blipFill>
          <a:blip r:embed="rId4"/>
          <a:stretch>
            <a:fillRect/>
          </a:stretch>
        </p:blipFill>
        <p:spPr>
          <a:xfrm>
            <a:off x="6583680" y="4937760"/>
            <a:ext cx="5605272" cy="685800"/>
          </a:xfrm>
          <a:prstGeom prst="rect">
            <a:avLst/>
          </a:prstGeom>
        </p:spPr>
      </p:pic>
      <p:pic>
        <p:nvPicPr>
          <p:cNvPr id="16" name="pixel taxi" descr="/tmp/claude-0/-home-claude/11347301-a108-554b-858c-c0553e507ab7/scratchpad/build/px/taxi.png"/>
          <p:cNvPicPr>
            <a:picLocks noChangeAspect="1"/>
          </p:cNvPicPr>
          <p:nvPr/>
        </p:nvPicPr>
        <p:blipFill>
          <a:blip r:embed="rId5"/>
          <a:stretch>
            <a:fillRect/>
          </a:stretch>
        </p:blipFill>
        <p:spPr>
          <a:xfrm>
            <a:off x="7772400" y="3429000"/>
            <a:ext cx="3566160" cy="1645920"/>
          </a:xfrm>
          <a:prstGeom prst="rect">
            <a:avLst/>
          </a:prstGeom>
        </p:spPr>
      </p:pic>
      <p:pic>
        <p:nvPicPr>
          <p:cNvPr id="17" name="pixel pin" descr="/tmp/claude-0/-home-claude/11347301-a108-554b-858c-c0553e507ab7/scratchpad/build/px/pin.png"/>
          <p:cNvPicPr>
            <a:picLocks noChangeAspect="1"/>
          </p:cNvPicPr>
          <p:nvPr/>
        </p:nvPicPr>
        <p:blipFill>
          <a:blip r:embed="rId6"/>
          <a:stretch>
            <a:fillRect/>
          </a:stretch>
        </p:blipFill>
        <p:spPr>
          <a:xfrm>
            <a:off x="7498080" y="1554480"/>
            <a:ext cx="640080" cy="822960"/>
          </a:xfrm>
          <a:prstGeom prst="rect">
            <a:avLst/>
          </a:prstGeom>
        </p:spPr>
      </p:pic>
      <p:pic>
        <p:nvPicPr>
          <p:cNvPr id="18" name="pixel pin" descr="/tmp/claude-0/-home-claude/11347301-a108-554b-858c-c0553e507ab7/scratchpad/build/px/pin.png"/>
          <p:cNvPicPr>
            <a:picLocks noChangeAspect="1"/>
          </p:cNvPicPr>
          <p:nvPr/>
        </p:nvPicPr>
        <p:blipFill>
          <a:blip r:embed="rId6"/>
          <a:stretch>
            <a:fillRect/>
          </a:stretch>
        </p:blipFill>
        <p:spPr>
          <a:xfrm>
            <a:off x="10881360" y="1920240"/>
            <a:ext cx="640080" cy="822960"/>
          </a:xfrm>
          <a:prstGeom prst="rect">
            <a:avLst/>
          </a:prstGeom>
        </p:spPr>
      </p:pic>
      <p:sp>
        <p:nvSpPr>
          <p:cNvPr id="19" name="Text 12"/>
          <p:cNvSpPr txBox="1"/>
          <p:nvPr/>
        </p:nvSpPr>
        <p:spPr>
          <a:xfrm>
            <a:off x="731520" y="1097280"/>
            <a:ext cx="5669280" cy="365760"/>
          </a:xfrm>
          <a:prstGeom prst="rect">
            <a:avLst/>
          </a:prstGeom>
          <a:noFill/>
          <a:ln/>
        </p:spPr>
        <p:txBody>
          <a:bodyPr wrap="square" lIns="0" tIns="0" rIns="0" bIns="0" rtlCol="0" anchor="t"/>
          <a:lstStyle/>
          <a:p>
            <a:pPr marL="0" indent="0" eaLnBrk="0">
              <a:buNone/>
            </a:pPr>
            <a:r>
              <a:rPr lang="ko-KR" sz="1400" b="1" dirty="0" altLang="en-US">
                <a:solidFill>
                  <a:schemeClr val="accent1"/>
                </a:solidFill>
              </a:rPr>
              <a:t>Codyssey PBL · Track 12 · </a:t>
            </a:r>
            <a:r>
              <a:rPr lang="ko-KR" altLang="en-US" sz="1400" b="1" dirty="0">
                <a:solidFill>
                  <a:schemeClr val="accent1"/>
                </a:solidFill>
              </a:rPr>
              <a:t>팀</a:t>
            </a:r>
            <a:r>
              <a:rPr lang="ko-KR" altLang="en-US" sz="1400" b="1" dirty="0">
                <a:solidFill>
                  <a:schemeClr val="accent1"/>
                </a:solidFill>
              </a:rPr>
              <a:t>FETEX</a:t>
            </a:r>
            <a:endParaRPr lang="ko-KR" sz="1400" dirty="0" altLang="en-US"/>
          </a:p>
        </p:txBody>
      </p:sp>
      <p:sp>
        <p:nvSpPr>
          <p:cNvPr id="20" name="Text 13"/>
          <p:cNvSpPr txBox="1"/>
          <p:nvPr/>
        </p:nvSpPr>
        <p:spPr>
          <a:xfrm>
            <a:off x="731520" y="1737360"/>
            <a:ext cx="5852160" cy="1737360"/>
          </a:xfrm>
          <a:prstGeom prst="rect">
            <a:avLst/>
          </a:prstGeom>
          <a:noFill/>
          <a:ln/>
        </p:spPr>
        <p:txBody>
          <a:bodyPr wrap="square" lIns="0" tIns="0" rIns="0" bIns="0" rtlCol="0" anchor="t"/>
          <a:lstStyle/>
          <a:p>
            <a:pPr marL="0" indent="0" eaLnBrk="0">
              <a:buNone/>
            </a:pPr>
            <a:r>
              <a:rPr lang="ko-KR" sz="4800" b="1" dirty="0" altLang="en-US">
                <a:solidFill>
                  <a:schemeClr val="bg1"/>
                </a:solidFill>
              </a:rPr>
              <a:t>AI Mobility</a:t>
            </a:r>
            <a:endParaRPr lang="ko-KR" sz="4800" dirty="0" altLang="en-US"/>
          </a:p>
          <a:p>
            <a:pPr marL="0" indent="0" eaLnBrk="0">
              <a:buNone/>
            </a:pPr>
            <a:r>
              <a:rPr lang="ko-KR" sz="4800" b="1" dirty="0" altLang="en-US">
                <a:solidFill>
                  <a:schemeClr val="bg1"/>
                </a:solidFill>
              </a:rPr>
              <a:t>Digital Twin</a:t>
            </a:r>
            <a:endParaRPr lang="ko-KR" sz="4800" dirty="0" altLang="en-US"/>
          </a:p>
        </p:txBody>
      </p:sp>
      <p:sp>
        <p:nvSpPr>
          <p:cNvPr id="21" name="Text 14"/>
          <p:cNvSpPr txBox="1"/>
          <p:nvPr/>
        </p:nvSpPr>
        <p:spPr>
          <a:xfrm>
            <a:off x="731520" y="3749040"/>
            <a:ext cx="5669280" cy="914400"/>
          </a:xfrm>
          <a:prstGeom prst="rect">
            <a:avLst/>
          </a:prstGeom>
          <a:noFill/>
          <a:ln/>
        </p:spPr>
        <p:txBody>
          <a:bodyPr wrap="square" lIns="0" tIns="0" rIns="0" bIns="0" rtlCol="0" anchor="t"/>
          <a:lstStyle/>
          <a:p>
            <a:pPr marL="0" indent="0" eaLnBrk="0">
              <a:buNone/>
            </a:pPr>
            <a:r>
              <a:rPr lang="ko-KR" sz="1800" dirty="0" altLang="en-US">
                <a:solidFill>
                  <a:schemeClr val="accent6"/>
                </a:solidFill>
              </a:rPr>
              <a:t>중간 발표 · 택시 수요 예측 및 동적 배차</a:t>
            </a:r>
            <a:endParaRPr lang="ko-KR" sz="1800" dirty="0" altLang="en-US"/>
          </a:p>
          <a:p>
            <a:pPr marL="0" indent="0" eaLnBrk="0">
              <a:buNone/>
            </a:pPr>
            <a:r>
              <a:rPr lang="ko-KR" sz="1800" dirty="0" altLang="en-US">
                <a:solidFill>
                  <a:schemeClr val="accent6"/>
                </a:solidFill>
              </a:rPr>
              <a:t>지금까지 만든 것과 앞으로 할 것</a:t>
            </a:r>
            <a:endParaRPr lang="ko-KR" sz="1800" dirty="0" altLang="en-US"/>
          </a:p>
        </p:txBody>
      </p:sp>
      <p:sp>
        <p:nvSpPr>
          <p:cNvPr id="22" name="Text 15"/>
          <p:cNvSpPr txBox="1"/>
          <p:nvPr/>
        </p:nvSpPr>
        <p:spPr>
          <a:xfrm>
            <a:off x="731520" y="5486400"/>
            <a:ext cx="5486400" cy="365760"/>
          </a:xfrm>
          <a:prstGeom prst="rect">
            <a:avLst/>
          </a:prstGeom>
          <a:noFill/>
          <a:ln/>
        </p:spPr>
        <p:txBody>
          <a:bodyPr wrap="square" lIns="0" tIns="0" rIns="0" bIns="0" rtlCol="0" anchor="t"/>
          <a:lstStyle/>
          <a:p>
            <a:pPr marL="0" indent="0" eaLnBrk="0">
              <a:buNone/>
            </a:pPr>
            <a:r>
              <a:rPr lang="ko-KR" sz="1200" dirty="0" altLang="en-US">
                <a:solidFill>
                  <a:schemeClr val="accent6"/>
                </a:solidFill>
              </a:rPr>
              <a:t>카카오모빌리티 미션 · 중간 발표 · 2026.10</a:t>
            </a:r>
            <a:endParaRPr lang="ko-KR" sz="1200" dirty="0"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cxnSp>
        <p:nvCxnSpPr>
          <p:cNvPr id="33" name="Connector 32"/>
          <p:cNvCxnSpPr/>
          <p:nvPr/>
        </p:nvCxnSpPr>
        <p:spPr>
          <a:xfrm>
            <a:off x="9326880" y="1554480"/>
            <a:ext cx="201168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92240" y="1554480"/>
            <a:ext cx="201168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657600" y="1554480"/>
            <a:ext cx="201168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22960" y="1554480"/>
            <a:ext cx="2011679"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팀의 목적 · 택시는 충분한데, 필요한 곳에 없다</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548640" y="6297473"/>
            <a:ext cx="784555" cy="362102"/>
          </a:xfrm>
          <a:prstGeom prst="rect">
            <a:avLst/>
          </a:prstGeom>
        </p:spPr>
      </p:pic>
      <p:sp>
        <p:nvSpPr>
          <p:cNvPr id="8" name="Text 3"/>
          <p:cNvSpPr txBox="1"/>
          <p:nvPr/>
        </p:nvSpPr>
        <p:spPr>
          <a:xfrm>
            <a:off x="822960" y="1828800"/>
            <a:ext cx="640080" cy="457200"/>
          </a:xfrm>
          <a:prstGeom prst="rect">
            <a:avLst/>
          </a:prstGeom>
          <a:noFill/>
          <a:ln/>
        </p:spPr>
        <p:txBody>
          <a:bodyPr wrap="square" lIns="0" tIns="0" rIns="0" bIns="0" rtlCol="0" anchor="ctr"/>
          <a:lstStyle/>
          <a:p>
            <a:pPr marL="0" indent="0" algn="l" eaLnBrk="0">
              <a:buNone/>
            </a:pPr>
            <a:r>
              <a:rPr lang="ko-KR" sz="2200" b="1" dirty="0" altLang="en-US">
                <a:solidFill>
                  <a:schemeClr val="accent3"/>
                </a:solidFill>
              </a:rPr>
              <a:t>01</a:t>
            </a:r>
            <a:endParaRPr lang="ko-KR" sz="1600" dirty="0" altLang="en-US"/>
          </a:p>
        </p:txBody>
      </p:sp>
      <p:sp>
        <p:nvSpPr>
          <p:cNvPr id="9" name="Text 4"/>
          <p:cNvSpPr txBox="1"/>
          <p:nvPr/>
        </p:nvSpPr>
        <p:spPr>
          <a:xfrm>
            <a:off x="1463040" y="1828800"/>
            <a:ext cx="1463040" cy="457200"/>
          </a:xfrm>
          <a:prstGeom prst="rect">
            <a:avLst/>
          </a:prstGeom>
          <a:noFill/>
          <a:ln/>
        </p:spPr>
        <p:txBody>
          <a:bodyPr wrap="square" lIns="0" tIns="0" rIns="0" bIns="0" rtlCol="0" anchor="ctr"/>
          <a:lstStyle/>
          <a:p>
            <a:pPr marL="0" indent="0" eaLnBrk="0">
              <a:buNone/>
            </a:pPr>
            <a:r>
              <a:rPr lang="ko-KR" sz="2200" b="1" dirty="0" altLang="en-US">
                <a:solidFill>
                  <a:schemeClr val="tx1"/>
                </a:solidFill>
              </a:rPr>
              <a:t>문제</a:t>
            </a:r>
            <a:endParaRPr lang="ko-KR" sz="2200" dirty="0" altLang="en-US"/>
          </a:p>
        </p:txBody>
      </p:sp>
      <p:sp>
        <p:nvSpPr>
          <p:cNvPr id="10" name="Text 5"/>
          <p:cNvSpPr txBox="1"/>
          <p:nvPr/>
        </p:nvSpPr>
        <p:spPr>
          <a:xfrm>
            <a:off x="822960" y="2606040"/>
            <a:ext cx="2148840" cy="2011680"/>
          </a:xfrm>
          <a:prstGeom prst="rect">
            <a:avLst/>
          </a:prstGeom>
          <a:noFill/>
          <a:ln/>
        </p:spPr>
        <p:txBody>
          <a:bodyPr wrap="square" lIns="0" tIns="0" rIns="0" bIns="0" rtlCol="0" anchor="t"/>
          <a:lstStyle/>
          <a:p>
            <a:pPr marL="0" indent="0" eaLnBrk="0">
              <a:buNone/>
            </a:pPr>
            <a:r>
              <a:rPr lang="ko-KR" sz="1600" dirty="0" altLang="en-US">
                <a:solidFill>
                  <a:schemeClr val="tx1"/>
                </a:solidFill>
              </a:rPr>
              <a:t>택시는 충분한데</a:t>
            </a:r>
            <a:endParaRPr lang="ko-KR" sz="1600" dirty="0" altLang="en-US"/>
          </a:p>
          <a:p>
            <a:pPr marL="0" indent="0" eaLnBrk="0">
              <a:buNone/>
            </a:pPr>
            <a:r>
              <a:rPr lang="ko-KR" sz="1600" dirty="0" altLang="en-US">
                <a:solidFill>
                  <a:schemeClr val="tx1"/>
                </a:solidFill>
              </a:rPr>
              <a:t>필요한 위치에 차가 없다</a:t>
            </a:r>
            <a:endParaRPr lang="ko-KR" sz="1600" dirty="0" altLang="en-US"/>
          </a:p>
        </p:txBody>
      </p:sp>
      <p:sp>
        <p:nvSpPr>
          <p:cNvPr id="11" name="Shape 6"/>
          <p:cNvSpPr/>
          <p:nvPr/>
        </p:nvSpPr>
        <p:spPr>
          <a:xfrm>
            <a:off x="3127248" y="3063240"/>
            <a:ext cx="237744" cy="274320"/>
          </a:xfrm>
          <a:prstGeom prst="rightArrow">
            <a:avLst/>
          </a:prstGeom>
          <a:solidFill>
            <a:schemeClr val="accent4"/>
          </a:solidFill>
          <a:ln w="12700">
            <a:solidFill>
              <a:schemeClr val="accent4"/>
            </a:solidFill>
            <a:prstDash val="solid"/>
          </a:ln>
        </p:spPr>
      </p:sp>
      <p:sp>
        <p:nvSpPr>
          <p:cNvPr id="14" name="Text 9"/>
          <p:cNvSpPr txBox="1"/>
          <p:nvPr/>
        </p:nvSpPr>
        <p:spPr>
          <a:xfrm>
            <a:off x="3657600" y="1828800"/>
            <a:ext cx="640080" cy="457200"/>
          </a:xfrm>
          <a:prstGeom prst="rect">
            <a:avLst/>
          </a:prstGeom>
          <a:noFill/>
          <a:ln/>
        </p:spPr>
        <p:txBody>
          <a:bodyPr wrap="square" lIns="0" tIns="0" rIns="0" bIns="0" rtlCol="0" anchor="ctr"/>
          <a:lstStyle/>
          <a:p>
            <a:pPr marL="0" indent="0" algn="l" eaLnBrk="0">
              <a:buNone/>
            </a:pPr>
            <a:r>
              <a:rPr lang="ko-KR" sz="2200" b="1" dirty="0" altLang="en-US">
                <a:solidFill>
                  <a:schemeClr val="accent1"/>
                </a:solidFill>
              </a:rPr>
              <a:t>02</a:t>
            </a:r>
            <a:endParaRPr lang="ko-KR" sz="1600" dirty="0" altLang="en-US"/>
          </a:p>
        </p:txBody>
      </p:sp>
      <p:sp>
        <p:nvSpPr>
          <p:cNvPr id="15" name="Text 10"/>
          <p:cNvSpPr txBox="1"/>
          <p:nvPr/>
        </p:nvSpPr>
        <p:spPr>
          <a:xfrm>
            <a:off x="4297680" y="1828800"/>
            <a:ext cx="1463040" cy="457200"/>
          </a:xfrm>
          <a:prstGeom prst="rect">
            <a:avLst/>
          </a:prstGeom>
          <a:noFill/>
          <a:ln/>
        </p:spPr>
        <p:txBody>
          <a:bodyPr wrap="square" lIns="0" tIns="0" rIns="0" bIns="0" rtlCol="0" anchor="ctr"/>
          <a:lstStyle/>
          <a:p>
            <a:pPr marL="0" indent="0" eaLnBrk="0">
              <a:buNone/>
            </a:pPr>
            <a:r>
              <a:rPr lang="ko-KR" sz="2200" b="1" dirty="0" altLang="en-US">
                <a:solidFill>
                  <a:schemeClr val="tx1"/>
                </a:solidFill>
              </a:rPr>
              <a:t>목표</a:t>
            </a:r>
            <a:endParaRPr lang="ko-KR" sz="2200" dirty="0" altLang="en-US"/>
          </a:p>
        </p:txBody>
      </p:sp>
      <p:sp>
        <p:nvSpPr>
          <p:cNvPr id="16" name="Text 11"/>
          <p:cNvSpPr txBox="1"/>
          <p:nvPr/>
        </p:nvSpPr>
        <p:spPr>
          <a:xfrm>
            <a:off x="3657600" y="2606040"/>
            <a:ext cx="2148840" cy="2011680"/>
          </a:xfrm>
          <a:prstGeom prst="rect">
            <a:avLst/>
          </a:prstGeom>
          <a:noFill/>
          <a:ln/>
        </p:spPr>
        <p:txBody>
          <a:bodyPr wrap="square" lIns="0" tIns="0" rIns="0" bIns="0" rtlCol="0" anchor="t"/>
          <a:lstStyle/>
          <a:p>
            <a:pPr marL="0" indent="0" eaLnBrk="0">
              <a:buNone/>
            </a:pPr>
            <a:r>
              <a:rPr lang="ko-KR" sz="1600" dirty="0" altLang="en-US">
                <a:solidFill>
                  <a:schemeClr val="tx1"/>
                </a:solidFill>
              </a:rPr>
              <a:t>필요한 곳에</a:t>
            </a:r>
            <a:endParaRPr lang="ko-KR" sz="1600" dirty="0" altLang="en-US"/>
          </a:p>
          <a:p>
            <a:pPr marL="0" indent="0" eaLnBrk="0">
              <a:buNone/>
            </a:pPr>
            <a:r>
              <a:rPr lang="ko-KR" sz="1600" dirty="0" altLang="en-US">
                <a:solidFill>
                  <a:schemeClr val="tx1"/>
                </a:solidFill>
              </a:rPr>
              <a:t>차를 미리 보낸다</a:t>
            </a:r>
            <a:endParaRPr lang="ko-KR" sz="1600" dirty="0" altLang="en-US"/>
          </a:p>
        </p:txBody>
      </p:sp>
      <p:sp>
        <p:nvSpPr>
          <p:cNvPr id="17" name="Shape 12"/>
          <p:cNvSpPr/>
          <p:nvPr/>
        </p:nvSpPr>
        <p:spPr>
          <a:xfrm>
            <a:off x="5961888" y="3063240"/>
            <a:ext cx="237744" cy="274320"/>
          </a:xfrm>
          <a:prstGeom prst="rightArrow">
            <a:avLst/>
          </a:prstGeom>
          <a:solidFill>
            <a:schemeClr val="accent4"/>
          </a:solidFill>
          <a:ln w="12700">
            <a:solidFill>
              <a:schemeClr val="accent4"/>
            </a:solidFill>
            <a:prstDash val="solid"/>
          </a:ln>
        </p:spPr>
      </p:sp>
      <p:sp>
        <p:nvSpPr>
          <p:cNvPr id="20" name="Text 15"/>
          <p:cNvSpPr txBox="1"/>
          <p:nvPr/>
        </p:nvSpPr>
        <p:spPr>
          <a:xfrm>
            <a:off x="6492240" y="1828800"/>
            <a:ext cx="640080" cy="457200"/>
          </a:xfrm>
          <a:prstGeom prst="rect">
            <a:avLst/>
          </a:prstGeom>
          <a:noFill/>
          <a:ln/>
        </p:spPr>
        <p:txBody>
          <a:bodyPr wrap="square" lIns="0" tIns="0" rIns="0" bIns="0" rtlCol="0" anchor="ctr"/>
          <a:lstStyle/>
          <a:p>
            <a:pPr marL="0" indent="0" algn="l" eaLnBrk="0">
              <a:buNone/>
            </a:pPr>
            <a:r>
              <a:rPr lang="ko-KR" sz="2200" b="1" dirty="0" altLang="en-US">
                <a:solidFill>
                  <a:schemeClr val="accent2"/>
                </a:solidFill>
              </a:rPr>
              <a:t>03</a:t>
            </a:r>
            <a:endParaRPr lang="ko-KR" sz="1600" dirty="0" altLang="en-US"/>
          </a:p>
        </p:txBody>
      </p:sp>
      <p:sp>
        <p:nvSpPr>
          <p:cNvPr id="21" name="Text 16"/>
          <p:cNvSpPr txBox="1"/>
          <p:nvPr/>
        </p:nvSpPr>
        <p:spPr>
          <a:xfrm>
            <a:off x="7132320" y="1828800"/>
            <a:ext cx="1463040" cy="457200"/>
          </a:xfrm>
          <a:prstGeom prst="rect">
            <a:avLst/>
          </a:prstGeom>
          <a:noFill/>
          <a:ln/>
        </p:spPr>
        <p:txBody>
          <a:bodyPr wrap="square" lIns="0" tIns="0" rIns="0" bIns="0" rtlCol="0" anchor="ctr"/>
          <a:lstStyle/>
          <a:p>
            <a:pPr marL="0" indent="0" eaLnBrk="0">
              <a:buNone/>
            </a:pPr>
            <a:r>
              <a:rPr lang="ko-KR" sz="2200" b="1" dirty="0" altLang="en-US">
                <a:solidFill>
                  <a:schemeClr val="tx1"/>
                </a:solidFill>
              </a:rPr>
              <a:t>데이터</a:t>
            </a:r>
            <a:endParaRPr lang="ko-KR" sz="2200" dirty="0" altLang="en-US"/>
          </a:p>
        </p:txBody>
      </p:sp>
      <p:sp>
        <p:nvSpPr>
          <p:cNvPr id="22" name="Text 17"/>
          <p:cNvSpPr txBox="1"/>
          <p:nvPr/>
        </p:nvSpPr>
        <p:spPr>
          <a:xfrm>
            <a:off x="6492240" y="2606040"/>
            <a:ext cx="2148840" cy="2011680"/>
          </a:xfrm>
          <a:prstGeom prst="rect">
            <a:avLst/>
          </a:prstGeom>
          <a:noFill/>
          <a:ln/>
        </p:spPr>
        <p:txBody>
          <a:bodyPr wrap="square" lIns="0" tIns="0" rIns="0" bIns="0" rtlCol="0" anchor="t"/>
          <a:lstStyle/>
          <a:p>
            <a:pPr marL="0" indent="0" eaLnBrk="0">
              <a:buNone/>
            </a:pPr>
            <a:r>
              <a:rPr lang="ko-KR" sz="1600" dirty="0" altLang="en-US">
                <a:solidFill>
                  <a:schemeClr val="tx1"/>
                </a:solidFill>
              </a:rPr>
              <a:t>시간대별 · 날짜별</a:t>
            </a:r>
            <a:endParaRPr lang="ko-KR" sz="1600" dirty="0" altLang="en-US"/>
          </a:p>
          <a:p>
            <a:pPr marL="0" indent="0" eaLnBrk="0">
              <a:buNone/>
            </a:pPr>
            <a:r>
              <a:rPr lang="ko-KR" sz="1600" dirty="0" altLang="en-US">
                <a:solidFill>
                  <a:schemeClr val="tx1"/>
                </a:solidFill>
              </a:rPr>
              <a:t>택시 위치 데이터 생성</a:t>
            </a:r>
            <a:endParaRPr lang="ko-KR" sz="1600" dirty="0" altLang="en-US"/>
          </a:p>
          <a:p>
            <a:pPr marL="0" indent="0" eaLnBrk="0">
              <a:buNone/>
            </a:pPr>
            <a:r>
              <a:rPr lang="ko-KR" sz="1600" dirty="0" altLang="en-US">
                <a:solidFill>
                  <a:schemeClr val="tx1"/>
                </a:solidFill>
              </a:rPr>
              <a:t>(나중에 실데이터 연결)</a:t>
            </a:r>
            <a:endParaRPr lang="ko-KR" sz="1600" dirty="0" altLang="en-US"/>
          </a:p>
        </p:txBody>
      </p:sp>
      <p:sp>
        <p:nvSpPr>
          <p:cNvPr id="23" name="Shape 18"/>
          <p:cNvSpPr/>
          <p:nvPr/>
        </p:nvSpPr>
        <p:spPr>
          <a:xfrm>
            <a:off x="8796528" y="3063240"/>
            <a:ext cx="237744" cy="274320"/>
          </a:xfrm>
          <a:prstGeom prst="rightArrow">
            <a:avLst/>
          </a:prstGeom>
          <a:solidFill>
            <a:schemeClr val="accent4"/>
          </a:solidFill>
          <a:ln w="12700">
            <a:solidFill>
              <a:schemeClr val="accent4"/>
            </a:solidFill>
            <a:prstDash val="solid"/>
          </a:ln>
        </p:spPr>
      </p:sp>
      <p:sp>
        <p:nvSpPr>
          <p:cNvPr id="26" name="Text 21"/>
          <p:cNvSpPr txBox="1"/>
          <p:nvPr/>
        </p:nvSpPr>
        <p:spPr>
          <a:xfrm>
            <a:off x="9326880" y="1828800"/>
            <a:ext cx="640080" cy="457200"/>
          </a:xfrm>
          <a:prstGeom prst="rect">
            <a:avLst/>
          </a:prstGeom>
          <a:noFill/>
          <a:ln/>
        </p:spPr>
        <p:txBody>
          <a:bodyPr wrap="square" lIns="0" tIns="0" rIns="0" bIns="0" rtlCol="0" anchor="ctr"/>
          <a:lstStyle/>
          <a:p>
            <a:pPr marL="0" indent="0" algn="l" eaLnBrk="0">
              <a:buNone/>
            </a:pPr>
            <a:r>
              <a:rPr lang="ko-KR" sz="2200" b="1" dirty="0" altLang="en-US">
                <a:solidFill>
                  <a:schemeClr val="accent5"/>
                </a:solidFill>
              </a:rPr>
              <a:t>04</a:t>
            </a:r>
            <a:endParaRPr lang="ko-KR" sz="1600" dirty="0" altLang="en-US"/>
          </a:p>
        </p:txBody>
      </p:sp>
      <p:sp>
        <p:nvSpPr>
          <p:cNvPr id="27" name="Text 22"/>
          <p:cNvSpPr txBox="1"/>
          <p:nvPr/>
        </p:nvSpPr>
        <p:spPr>
          <a:xfrm>
            <a:off x="9966960" y="1828800"/>
            <a:ext cx="1463040" cy="457200"/>
          </a:xfrm>
          <a:prstGeom prst="rect">
            <a:avLst/>
          </a:prstGeom>
          <a:noFill/>
          <a:ln/>
        </p:spPr>
        <p:txBody>
          <a:bodyPr wrap="square" lIns="0" tIns="0" rIns="0" bIns="0" rtlCol="0" anchor="ctr"/>
          <a:lstStyle/>
          <a:p>
            <a:pPr marL="0" indent="0" eaLnBrk="0">
              <a:buNone/>
            </a:pPr>
            <a:r>
              <a:rPr lang="ko-KR" sz="2200" b="1" dirty="0" altLang="en-US">
                <a:solidFill>
                  <a:schemeClr val="tx1"/>
                </a:solidFill>
              </a:rPr>
              <a:t>검증</a:t>
            </a:r>
            <a:endParaRPr lang="ko-KR" sz="2200" dirty="0" altLang="en-US"/>
          </a:p>
        </p:txBody>
      </p:sp>
      <p:sp>
        <p:nvSpPr>
          <p:cNvPr id="28" name="Text 23"/>
          <p:cNvSpPr txBox="1"/>
          <p:nvPr/>
        </p:nvSpPr>
        <p:spPr>
          <a:xfrm>
            <a:off x="9326880" y="2606040"/>
            <a:ext cx="2148840" cy="2011680"/>
          </a:xfrm>
          <a:prstGeom prst="rect">
            <a:avLst/>
          </a:prstGeom>
          <a:noFill/>
          <a:ln/>
        </p:spPr>
        <p:txBody>
          <a:bodyPr wrap="square" lIns="0" tIns="0" rIns="0" bIns="0" rtlCol="0" anchor="t"/>
          <a:lstStyle/>
          <a:p>
            <a:pPr marL="0" indent="0" eaLnBrk="0">
              <a:buNone/>
            </a:pPr>
            <a:r>
              <a:rPr lang="ko-KR" sz="1600" dirty="0" altLang="en-US">
                <a:solidFill>
                  <a:schemeClr val="tx1"/>
                </a:solidFill>
              </a:rPr>
              <a:t>Unity에서 에셋 연결해</a:t>
            </a:r>
            <a:endParaRPr lang="ko-KR" sz="1600" dirty="0" altLang="en-US"/>
          </a:p>
          <a:p>
            <a:pPr marL="0" indent="0" eaLnBrk="0">
              <a:buNone/>
            </a:pPr>
            <a:r>
              <a:rPr lang="ko-KR" sz="1600" dirty="0" altLang="en-US">
                <a:solidFill>
                  <a:schemeClr val="tx1"/>
                </a:solidFill>
              </a:rPr>
              <a:t>SUMO 구동</a:t>
            </a:r>
            <a:endParaRPr lang="ko-KR" sz="1600" dirty="0" altLang="en-US"/>
          </a:p>
          <a:p>
            <a:pPr marL="0" indent="0" eaLnBrk="0">
              <a:buNone/>
            </a:pPr>
            <a:r>
              <a:rPr lang="ko-KR" sz="1600" dirty="0" altLang="en-US">
                <a:solidFill>
                  <a:schemeClr val="tx1"/>
                </a:solidFill>
              </a:rPr>
              <a:t>(아직 안 함)</a:t>
            </a:r>
            <a:endParaRPr lang="ko-KR" sz="1600" dirty="0" altLang="en-US"/>
          </a:p>
        </p:txBody>
      </p:sp>
      <p:sp>
        <p:nvSpPr>
          <p:cNvPr id="29" name="Text 24"/>
          <p:cNvSpPr txBox="1"/>
          <p:nvPr/>
        </p:nvSpPr>
        <p:spPr>
          <a:xfrm>
            <a:off x="548640" y="4983480"/>
            <a:ext cx="11064240" cy="1005840"/>
          </a:xfrm>
          <a:prstGeom prst="rect">
            <a:avLst/>
          </a:prstGeom>
          <a:noFill/>
          <a:ln/>
        </p:spPr>
        <p:txBody>
          <a:bodyPr wrap="square" lIns="0" tIns="0" rIns="0" bIns="0" rtlCol="0" anchor="t"/>
          <a:lstStyle/>
          <a:p>
            <a:pPr marL="0" indent="0" eaLnBrk="0">
              <a:buNone/>
            </a:pPr>
            <a:r>
              <a:rPr lang="ko-KR" sz="1800" b="1" dirty="0" altLang="en-US">
                <a:solidFill>
                  <a:schemeClr val="accent4"/>
                </a:solidFill>
              </a:rPr>
              <a:t>사용자: 시간이 급한 택시 승객 (오래 기다리면 호출을 포기)</a:t>
            </a:r>
            <a:endParaRPr lang="ko-KR" sz="1800" dirty="0" altLang="en-US"/>
          </a:p>
          <a:p>
            <a:pPr marL="0" indent="0" eaLnBrk="0">
              <a:buNone/>
            </a:pPr>
            <a:r>
              <a:rPr lang="ko-KR" sz="1800" b="1" dirty="0" altLang="en-US">
                <a:solidFill>
                  <a:schemeClr val="accent4"/>
                </a:solidFill>
              </a:rPr>
              <a:t>핵심 질문: 언제, 어디에 택시를 미리 보내두면 승객 대기시간이 줄어드는가?</a:t>
            </a:r>
            <a:endParaRPr lang="ko-KR" sz="1800" dirty="0" altLang="en-US"/>
          </a:p>
        </p:txBody>
      </p:sp>
      <p:sp>
        <p:nvSpPr>
          <p:cNvPr id="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cxnSp>
        <p:nvCxnSpPr>
          <p:cNvPr id="48" name="Connector 47"/>
          <p:cNvCxnSpPr/>
          <p:nvPr/>
        </p:nvCxnSpPr>
        <p:spPr>
          <a:xfrm>
            <a:off x="548640" y="6254496"/>
            <a:ext cx="1106424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8640" y="5650992"/>
            <a:ext cx="1106424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48640" y="4937760"/>
            <a:ext cx="1106424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48640" y="4224528"/>
            <a:ext cx="1106424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48640" y="3511296"/>
            <a:ext cx="1106424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48640" y="2798064"/>
            <a:ext cx="1106424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48640" y="2084831"/>
            <a:ext cx="1106424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48640" y="1371600"/>
            <a:ext cx="1106424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전체 진행 현황</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1290148" y="6297473"/>
            <a:ext cx="784555" cy="362102"/>
          </a:xfrm>
          <a:prstGeom prst="rect">
            <a:avLst/>
          </a:prstGeom>
        </p:spPr>
      </p:pic>
      <p:sp>
        <p:nvSpPr>
          <p:cNvPr id="7" name="Text 2"/>
          <p:cNvSpPr txBox="1"/>
          <p:nvPr/>
        </p:nvSpPr>
        <p:spPr>
          <a:xfrm>
            <a:off x="822960" y="1371600"/>
            <a:ext cx="1737360" cy="603504"/>
          </a:xfrm>
          <a:prstGeom prst="rect">
            <a:avLst/>
          </a:prstGeom>
          <a:noFill/>
          <a:ln/>
        </p:spPr>
        <p:txBody>
          <a:bodyPr wrap="square" lIns="0" tIns="0" rIns="0" bIns="0" rtlCol="0" anchor="ctr"/>
          <a:lstStyle/>
          <a:p>
            <a:pPr marL="0" indent="0" eaLnBrk="0">
              <a:buNone/>
            </a:pPr>
            <a:r>
              <a:rPr lang="ko-KR" sz="1600" b="1" dirty="0" altLang="en-US">
                <a:solidFill>
                  <a:schemeClr val="tx1"/>
                </a:solidFill>
              </a:rPr>
              <a:t>Module 1</a:t>
            </a:r>
            <a:endParaRPr lang="ko-KR" sz="1600" dirty="0" altLang="en-US"/>
          </a:p>
        </p:txBody>
      </p:sp>
      <p:sp>
        <p:nvSpPr>
          <p:cNvPr id="8" name="Text 3"/>
          <p:cNvSpPr txBox="1"/>
          <p:nvPr/>
        </p:nvSpPr>
        <p:spPr>
          <a:xfrm>
            <a:off x="2651760" y="1371600"/>
            <a:ext cx="5760720" cy="603504"/>
          </a:xfrm>
          <a:prstGeom prst="rect">
            <a:avLst/>
          </a:prstGeom>
          <a:noFill/>
          <a:ln/>
        </p:spPr>
        <p:txBody>
          <a:bodyPr wrap="square" lIns="0" tIns="0" rIns="0" bIns="0" rtlCol="0" anchor="ctr"/>
          <a:lstStyle/>
          <a:p>
            <a:pPr marL="0" indent="0" eaLnBrk="0">
              <a:buNone/>
            </a:pPr>
            <a:r>
              <a:rPr lang="ko-KR" sz="1500" dirty="0" altLang="en-US">
                <a:solidFill>
                  <a:schemeClr val="tx1"/>
                </a:solidFill>
              </a:rPr>
              <a:t>SUMO 도시 환경 (OSM 지도, 승객 생성)</a:t>
            </a:r>
            <a:endParaRPr lang="ko-KR" sz="1500" dirty="0" altLang="en-US"/>
          </a:p>
        </p:txBody>
      </p:sp>
      <p:sp>
        <p:nvSpPr>
          <p:cNvPr id="9" name="Shape 4"/>
          <p:cNvSpPr/>
          <p:nvPr/>
        </p:nvSpPr>
        <p:spPr>
          <a:xfrm>
            <a:off x="8503920" y="1453896"/>
            <a:ext cx="2926080" cy="438912"/>
          </a:xfrm>
          <a:prstGeom prst="roundRect">
            <a:avLst>
              <a:gd name="adj" fmla="val 50000"/>
            </a:avLst>
          </a:prstGeom>
          <a:solidFill>
            <a:schemeClr val="accent2"/>
          </a:solidFill>
          <a:ln w="12700">
            <a:solidFill>
              <a:schemeClr val="accent2"/>
            </a:solidFill>
            <a:prstDash val="solid"/>
          </a:ln>
        </p:spPr>
        <p:txBody>
          <a:bodyPr/>
          <a:p/>
        </p:txBody>
      </p:sp>
      <p:sp>
        <p:nvSpPr>
          <p:cNvPr id="10" name="Text 5"/>
          <p:cNvSpPr txBox="1"/>
          <p:nvPr/>
        </p:nvSpPr>
        <p:spPr>
          <a:xfrm>
            <a:off x="8503920" y="1453896"/>
            <a:ext cx="2926080" cy="438912"/>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완료</a:t>
            </a:r>
            <a:endParaRPr lang="ko-KR" sz="1300" dirty="0" altLang="en-US"/>
          </a:p>
        </p:txBody>
      </p:sp>
      <p:sp>
        <p:nvSpPr>
          <p:cNvPr id="12" name="Text 7"/>
          <p:cNvSpPr txBox="1"/>
          <p:nvPr/>
        </p:nvSpPr>
        <p:spPr>
          <a:xfrm>
            <a:off x="822960" y="2084832"/>
            <a:ext cx="1737360" cy="603504"/>
          </a:xfrm>
          <a:prstGeom prst="rect">
            <a:avLst/>
          </a:prstGeom>
          <a:noFill/>
          <a:ln/>
        </p:spPr>
        <p:txBody>
          <a:bodyPr wrap="square" lIns="0" tIns="0" rIns="0" bIns="0" rtlCol="0" anchor="ctr"/>
          <a:lstStyle/>
          <a:p>
            <a:pPr marL="0" indent="0" eaLnBrk="0">
              <a:buNone/>
            </a:pPr>
            <a:r>
              <a:rPr lang="ko-KR" sz="1600" b="1" dirty="0" altLang="en-US">
                <a:solidFill>
                  <a:schemeClr val="tx1"/>
                </a:solidFill>
              </a:rPr>
              <a:t>데이터 생성</a:t>
            </a:r>
            <a:endParaRPr lang="ko-KR" sz="1600" dirty="0" altLang="en-US"/>
          </a:p>
        </p:txBody>
      </p:sp>
      <p:sp>
        <p:nvSpPr>
          <p:cNvPr id="13" name="Text 8"/>
          <p:cNvSpPr txBox="1"/>
          <p:nvPr/>
        </p:nvSpPr>
        <p:spPr>
          <a:xfrm>
            <a:off x="2651760" y="2084832"/>
            <a:ext cx="5760720" cy="603504"/>
          </a:xfrm>
          <a:prstGeom prst="rect">
            <a:avLst/>
          </a:prstGeom>
          <a:noFill/>
          <a:ln/>
        </p:spPr>
        <p:txBody>
          <a:bodyPr wrap="square" lIns="0" tIns="0" rIns="0" bIns="0" rtlCol="0" anchor="ctr"/>
          <a:lstStyle/>
          <a:p>
            <a:pPr marL="0" indent="0" eaLnBrk="0">
              <a:buNone/>
            </a:pPr>
            <a:r>
              <a:rPr lang="ko-KR" sz="1500" dirty="0" altLang="en-US">
                <a:solidFill>
                  <a:schemeClr val="tx1"/>
                </a:solidFill>
              </a:rPr>
              <a:t>시간대별 · 날짜별 호출/택시 위치 로그 (실데이터는 나중에)</a:t>
            </a:r>
            <a:endParaRPr lang="ko-KR" sz="1500" dirty="0" altLang="en-US"/>
          </a:p>
        </p:txBody>
      </p:sp>
      <p:sp>
        <p:nvSpPr>
          <p:cNvPr id="14" name="Shape 9"/>
          <p:cNvSpPr/>
          <p:nvPr/>
        </p:nvSpPr>
        <p:spPr>
          <a:xfrm>
            <a:off x="8503920" y="2167128"/>
            <a:ext cx="2926080" cy="438912"/>
          </a:xfrm>
          <a:prstGeom prst="roundRect">
            <a:avLst>
              <a:gd name="adj" fmla="val 50000"/>
            </a:avLst>
          </a:prstGeom>
          <a:solidFill>
            <a:schemeClr val="accent2"/>
          </a:solidFill>
          <a:ln w="12700">
            <a:solidFill>
              <a:schemeClr val="accent2"/>
            </a:solidFill>
            <a:prstDash val="solid"/>
          </a:ln>
        </p:spPr>
        <p:txBody>
          <a:bodyPr/>
          <a:p/>
        </p:txBody>
      </p:sp>
      <p:sp>
        <p:nvSpPr>
          <p:cNvPr id="15" name="Text 10"/>
          <p:cNvSpPr txBox="1"/>
          <p:nvPr/>
        </p:nvSpPr>
        <p:spPr>
          <a:xfrm>
            <a:off x="8503920" y="2167128"/>
            <a:ext cx="2926080" cy="438912"/>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완료</a:t>
            </a:r>
            <a:endParaRPr lang="ko-KR" sz="1300" dirty="0" altLang="en-US"/>
          </a:p>
        </p:txBody>
      </p:sp>
      <p:sp>
        <p:nvSpPr>
          <p:cNvPr id="17" name="Text 12"/>
          <p:cNvSpPr txBox="1"/>
          <p:nvPr/>
        </p:nvSpPr>
        <p:spPr>
          <a:xfrm>
            <a:off x="822960" y="2798064"/>
            <a:ext cx="1737360" cy="603504"/>
          </a:xfrm>
          <a:prstGeom prst="rect">
            <a:avLst/>
          </a:prstGeom>
          <a:noFill/>
          <a:ln/>
        </p:spPr>
        <p:txBody>
          <a:bodyPr wrap="square" lIns="0" tIns="0" rIns="0" bIns="0" rtlCol="0" anchor="ctr"/>
          <a:lstStyle/>
          <a:p>
            <a:pPr marL="0" indent="0" eaLnBrk="0">
              <a:buNone/>
            </a:pPr>
            <a:r>
              <a:rPr lang="ko-KR" sz="1600" b="1" dirty="0" altLang="en-US">
                <a:solidFill>
                  <a:schemeClr val="tx1"/>
                </a:solidFill>
              </a:rPr>
              <a:t>Module 2</a:t>
            </a:r>
            <a:endParaRPr lang="ko-KR" sz="1600" dirty="0" altLang="en-US"/>
          </a:p>
        </p:txBody>
      </p:sp>
      <p:sp>
        <p:nvSpPr>
          <p:cNvPr id="18" name="Text 13"/>
          <p:cNvSpPr txBox="1"/>
          <p:nvPr/>
        </p:nvSpPr>
        <p:spPr>
          <a:xfrm>
            <a:off x="2651760" y="2798064"/>
            <a:ext cx="5760720" cy="603504"/>
          </a:xfrm>
          <a:prstGeom prst="rect">
            <a:avLst/>
          </a:prstGeom>
          <a:noFill/>
          <a:ln/>
        </p:spPr>
        <p:txBody>
          <a:bodyPr wrap="square" lIns="0" tIns="0" rIns="0" bIns="0" rtlCol="0" anchor="ctr"/>
          <a:lstStyle/>
          <a:p>
            <a:pPr marL="0" indent="0" eaLnBrk="0">
              <a:buNone/>
            </a:pPr>
            <a:r>
              <a:rPr lang="ko-KR" sz="1500" dirty="0" altLang="en-US">
                <a:solidFill>
                  <a:schemeClr val="tx1"/>
                </a:solidFill>
              </a:rPr>
              <a:t>H3 · 시간 · 날씨 피처 파이프라인</a:t>
            </a:r>
            <a:endParaRPr lang="ko-KR" sz="1500" dirty="0" altLang="en-US"/>
          </a:p>
        </p:txBody>
      </p:sp>
      <p:sp>
        <p:nvSpPr>
          <p:cNvPr id="19" name="Shape 14"/>
          <p:cNvSpPr/>
          <p:nvPr/>
        </p:nvSpPr>
        <p:spPr>
          <a:xfrm>
            <a:off x="8503920" y="2880360"/>
            <a:ext cx="2926080" cy="438912"/>
          </a:xfrm>
          <a:prstGeom prst="roundRect">
            <a:avLst>
              <a:gd name="adj" fmla="val 50000"/>
            </a:avLst>
          </a:prstGeom>
          <a:solidFill>
            <a:schemeClr val="accent2"/>
          </a:solidFill>
          <a:ln w="12700">
            <a:solidFill>
              <a:schemeClr val="accent2"/>
            </a:solidFill>
            <a:prstDash val="solid"/>
          </a:ln>
        </p:spPr>
        <p:txBody>
          <a:bodyPr/>
          <a:p/>
        </p:txBody>
      </p:sp>
      <p:sp>
        <p:nvSpPr>
          <p:cNvPr id="20" name="Text 15"/>
          <p:cNvSpPr txBox="1"/>
          <p:nvPr/>
        </p:nvSpPr>
        <p:spPr>
          <a:xfrm>
            <a:off x="8503920" y="2880360"/>
            <a:ext cx="2926080" cy="438912"/>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완료</a:t>
            </a:r>
            <a:endParaRPr lang="ko-KR" sz="1300" dirty="0" altLang="en-US"/>
          </a:p>
        </p:txBody>
      </p:sp>
      <p:sp>
        <p:nvSpPr>
          <p:cNvPr id="22" name="Text 17"/>
          <p:cNvSpPr txBox="1"/>
          <p:nvPr/>
        </p:nvSpPr>
        <p:spPr>
          <a:xfrm>
            <a:off x="822960" y="3511296"/>
            <a:ext cx="1737360" cy="603504"/>
          </a:xfrm>
          <a:prstGeom prst="rect">
            <a:avLst/>
          </a:prstGeom>
          <a:noFill/>
          <a:ln/>
        </p:spPr>
        <p:txBody>
          <a:bodyPr wrap="square" lIns="0" tIns="0" rIns="0" bIns="0" rtlCol="0" anchor="ctr"/>
          <a:lstStyle/>
          <a:p>
            <a:pPr marL="0" indent="0" eaLnBrk="0">
              <a:buNone/>
            </a:pPr>
            <a:r>
              <a:rPr lang="ko-KR" sz="1600" b="1" dirty="0" altLang="en-US">
                <a:solidFill>
                  <a:schemeClr val="tx1"/>
                </a:solidFill>
              </a:rPr>
              <a:t>Module 3</a:t>
            </a:r>
            <a:endParaRPr lang="ko-KR" sz="1600" dirty="0" altLang="en-US"/>
          </a:p>
        </p:txBody>
      </p:sp>
      <p:sp>
        <p:nvSpPr>
          <p:cNvPr id="23" name="Text 18"/>
          <p:cNvSpPr txBox="1"/>
          <p:nvPr/>
        </p:nvSpPr>
        <p:spPr>
          <a:xfrm>
            <a:off x="2651760" y="3511296"/>
            <a:ext cx="5760720" cy="603504"/>
          </a:xfrm>
          <a:prstGeom prst="rect">
            <a:avLst/>
          </a:prstGeom>
          <a:noFill/>
          <a:ln/>
        </p:spPr>
        <p:txBody>
          <a:bodyPr wrap="square" lIns="0" tIns="0" rIns="0" bIns="0" rtlCol="0" anchor="ctr"/>
          <a:lstStyle/>
          <a:p>
            <a:pPr marL="0" indent="0" eaLnBrk="0">
              <a:buNone/>
            </a:pPr>
            <a:r>
              <a:rPr lang="ko-KR" sz="1500" dirty="0" altLang="en-US">
                <a:solidFill>
                  <a:schemeClr val="tx1"/>
                </a:solidFill>
              </a:rPr>
              <a:t>XGBoost · CNN-LSTM 수요 예측</a:t>
            </a:r>
            <a:endParaRPr lang="ko-KR" sz="1500" dirty="0" altLang="en-US"/>
          </a:p>
        </p:txBody>
      </p:sp>
      <p:sp>
        <p:nvSpPr>
          <p:cNvPr id="24" name="Shape 19"/>
          <p:cNvSpPr/>
          <p:nvPr/>
        </p:nvSpPr>
        <p:spPr>
          <a:xfrm>
            <a:off x="8503920" y="3593592"/>
            <a:ext cx="2926080" cy="438912"/>
          </a:xfrm>
          <a:prstGeom prst="roundRect">
            <a:avLst>
              <a:gd name="adj" fmla="val 50000"/>
            </a:avLst>
          </a:prstGeom>
          <a:solidFill>
            <a:schemeClr val="accent1"/>
          </a:solidFill>
          <a:ln w="12700">
            <a:solidFill>
              <a:schemeClr val="accent1"/>
            </a:solidFill>
            <a:prstDash val="solid"/>
          </a:ln>
        </p:spPr>
        <p:txBody>
          <a:bodyPr/>
          <a:p/>
        </p:txBody>
      </p:sp>
      <p:sp>
        <p:nvSpPr>
          <p:cNvPr id="25" name="Text 20"/>
          <p:cNvSpPr txBox="1"/>
          <p:nvPr/>
        </p:nvSpPr>
        <p:spPr>
          <a:xfrm>
            <a:off x="8503920" y="3593592"/>
            <a:ext cx="2926080" cy="438912"/>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구현 완료 · 평가 정리 중</a:t>
            </a:r>
            <a:endParaRPr lang="ko-KR" sz="1300" dirty="0" altLang="en-US"/>
          </a:p>
        </p:txBody>
      </p:sp>
      <p:sp>
        <p:nvSpPr>
          <p:cNvPr id="27" name="Text 22"/>
          <p:cNvSpPr txBox="1"/>
          <p:nvPr/>
        </p:nvSpPr>
        <p:spPr>
          <a:xfrm>
            <a:off x="822960" y="4224528"/>
            <a:ext cx="1737360" cy="603504"/>
          </a:xfrm>
          <a:prstGeom prst="rect">
            <a:avLst/>
          </a:prstGeom>
          <a:noFill/>
          <a:ln/>
        </p:spPr>
        <p:txBody>
          <a:bodyPr wrap="square" lIns="0" tIns="0" rIns="0" bIns="0" rtlCol="0" anchor="ctr"/>
          <a:lstStyle/>
          <a:p>
            <a:pPr marL="0" indent="0" eaLnBrk="0">
              <a:buNone/>
            </a:pPr>
            <a:r>
              <a:rPr lang="ko-KR" sz="1600" b="1" dirty="0" altLang="en-US">
                <a:solidFill>
                  <a:schemeClr val="tx1"/>
                </a:solidFill>
              </a:rPr>
              <a:t>Module 4</a:t>
            </a:r>
            <a:endParaRPr lang="ko-KR" sz="1600" dirty="0" altLang="en-US"/>
          </a:p>
        </p:txBody>
      </p:sp>
      <p:sp>
        <p:nvSpPr>
          <p:cNvPr id="28" name="Text 23"/>
          <p:cNvSpPr txBox="1"/>
          <p:nvPr/>
        </p:nvSpPr>
        <p:spPr>
          <a:xfrm>
            <a:off x="2651760" y="4224528"/>
            <a:ext cx="5760720" cy="603504"/>
          </a:xfrm>
          <a:prstGeom prst="rect">
            <a:avLst/>
          </a:prstGeom>
          <a:noFill/>
          <a:ln/>
        </p:spPr>
        <p:txBody>
          <a:bodyPr wrap="square" lIns="0" tIns="0" rIns="0" bIns="0" rtlCol="0" anchor="ctr"/>
          <a:lstStyle/>
          <a:p>
            <a:pPr marL="0" indent="0" eaLnBrk="0">
              <a:buNone/>
            </a:pPr>
            <a:r>
              <a:rPr lang="ko-KR" sz="1500" dirty="0" altLang="en-US">
                <a:solidFill>
                  <a:schemeClr val="tx1"/>
                </a:solidFill>
              </a:rPr>
              <a:t>미리 배치: Prepositioned · PPO 재배치 · Hungarian</a:t>
            </a:r>
            <a:endParaRPr lang="ko-KR" sz="1500" dirty="0" altLang="en-US"/>
          </a:p>
        </p:txBody>
      </p:sp>
      <p:sp>
        <p:nvSpPr>
          <p:cNvPr id="29" name="Shape 24"/>
          <p:cNvSpPr/>
          <p:nvPr/>
        </p:nvSpPr>
        <p:spPr>
          <a:xfrm>
            <a:off x="8503920" y="4306824"/>
            <a:ext cx="2926080" cy="438912"/>
          </a:xfrm>
          <a:prstGeom prst="roundRect">
            <a:avLst>
              <a:gd name="adj" fmla="val 50000"/>
            </a:avLst>
          </a:prstGeom>
          <a:solidFill>
            <a:schemeClr val="accent1"/>
          </a:solidFill>
          <a:ln w="12700">
            <a:solidFill>
              <a:schemeClr val="accent1"/>
            </a:solidFill>
            <a:prstDash val="solid"/>
          </a:ln>
        </p:spPr>
        <p:txBody>
          <a:bodyPr/>
          <a:p/>
        </p:txBody>
      </p:sp>
      <p:sp>
        <p:nvSpPr>
          <p:cNvPr id="30" name="Text 25"/>
          <p:cNvSpPr txBox="1"/>
          <p:nvPr/>
        </p:nvSpPr>
        <p:spPr>
          <a:xfrm>
            <a:off x="8503920" y="4306824"/>
            <a:ext cx="2926080" cy="438912"/>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구현 완료 · 실험 진행 중</a:t>
            </a:r>
            <a:endParaRPr lang="ko-KR" sz="1300" dirty="0" altLang="en-US"/>
          </a:p>
        </p:txBody>
      </p:sp>
      <p:sp>
        <p:nvSpPr>
          <p:cNvPr id="32" name="Text 27"/>
          <p:cNvSpPr txBox="1"/>
          <p:nvPr/>
        </p:nvSpPr>
        <p:spPr>
          <a:xfrm>
            <a:off x="822960" y="4937760"/>
            <a:ext cx="1737360" cy="603504"/>
          </a:xfrm>
          <a:prstGeom prst="rect">
            <a:avLst/>
          </a:prstGeom>
          <a:noFill/>
          <a:ln/>
        </p:spPr>
        <p:txBody>
          <a:bodyPr wrap="square" lIns="0" tIns="0" rIns="0" bIns="0" rtlCol="0" anchor="ctr"/>
          <a:lstStyle/>
          <a:p>
            <a:pPr marL="0" indent="0" eaLnBrk="0">
              <a:buNone/>
            </a:pPr>
            <a:r>
              <a:rPr lang="ko-KR" sz="1600" b="1" dirty="0" altLang="en-US">
                <a:solidFill>
                  <a:schemeClr val="tx1"/>
                </a:solidFill>
              </a:rPr>
              <a:t>공휴일 효과</a:t>
            </a:r>
            <a:endParaRPr lang="ko-KR" sz="1600" dirty="0" altLang="en-US"/>
          </a:p>
        </p:txBody>
      </p:sp>
      <p:sp>
        <p:nvSpPr>
          <p:cNvPr id="33" name="Text 28"/>
          <p:cNvSpPr txBox="1"/>
          <p:nvPr/>
        </p:nvSpPr>
        <p:spPr>
          <a:xfrm>
            <a:off x="2651760" y="4937760"/>
            <a:ext cx="5760720" cy="603504"/>
          </a:xfrm>
          <a:prstGeom prst="rect">
            <a:avLst/>
          </a:prstGeom>
          <a:noFill/>
          <a:ln/>
        </p:spPr>
        <p:txBody>
          <a:bodyPr wrap="square" lIns="0" tIns="0" rIns="0" bIns="0" rtlCol="0" anchor="ctr"/>
          <a:lstStyle/>
          <a:p>
            <a:pPr marL="0" indent="0" eaLnBrk="0">
              <a:buNone/>
            </a:pPr>
            <a:r>
              <a:rPr lang="ko-KR" sz="1500" dirty="0" altLang="en-US">
                <a:solidFill>
                  <a:schemeClr val="tx1"/>
                </a:solidFill>
              </a:rPr>
              <a:t>공휴일 수요 변화 반영 · 평일/공휴일 비교</a:t>
            </a:r>
            <a:endParaRPr lang="ko-KR" sz="1500" dirty="0" altLang="en-US"/>
          </a:p>
        </p:txBody>
      </p:sp>
      <p:sp>
        <p:nvSpPr>
          <p:cNvPr id="34" name="Shape 29"/>
          <p:cNvSpPr/>
          <p:nvPr/>
        </p:nvSpPr>
        <p:spPr>
          <a:xfrm>
            <a:off x="8503920" y="5020056"/>
            <a:ext cx="2926080" cy="438912"/>
          </a:xfrm>
          <a:prstGeom prst="roundRect">
            <a:avLst>
              <a:gd name="adj" fmla="val 50000"/>
            </a:avLst>
          </a:prstGeom>
          <a:solidFill>
            <a:schemeClr val="accent3"/>
          </a:solidFill>
          <a:ln w="12700">
            <a:solidFill>
              <a:schemeClr val="accent3"/>
            </a:solidFill>
            <a:prstDash val="solid"/>
          </a:ln>
        </p:spPr>
        <p:txBody>
          <a:bodyPr/>
          <a:p/>
        </p:txBody>
      </p:sp>
      <p:sp>
        <p:nvSpPr>
          <p:cNvPr id="35" name="Text 30"/>
          <p:cNvSpPr txBox="1"/>
          <p:nvPr/>
        </p:nvSpPr>
        <p:spPr>
          <a:xfrm>
            <a:off x="8503920" y="5020056"/>
            <a:ext cx="2926080" cy="438912"/>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진행 중</a:t>
            </a:r>
            <a:endParaRPr lang="ko-KR" sz="1300" dirty="0" altLang="en-US"/>
          </a:p>
        </p:txBody>
      </p:sp>
      <p:sp>
        <p:nvSpPr>
          <p:cNvPr id="37" name="Text 32"/>
          <p:cNvSpPr txBox="1"/>
          <p:nvPr/>
        </p:nvSpPr>
        <p:spPr>
          <a:xfrm>
            <a:off x="822960" y="5650992"/>
            <a:ext cx="1737360" cy="603504"/>
          </a:xfrm>
          <a:prstGeom prst="rect">
            <a:avLst/>
          </a:prstGeom>
          <a:noFill/>
          <a:ln/>
        </p:spPr>
        <p:txBody>
          <a:bodyPr wrap="square" lIns="0" tIns="0" rIns="0" bIns="0" rtlCol="0" anchor="ctr"/>
          <a:lstStyle/>
          <a:p>
            <a:pPr marL="0" indent="0" eaLnBrk="0">
              <a:buNone/>
            </a:pPr>
            <a:r>
              <a:rPr lang="ko-KR" sz="1600" b="1" dirty="0" altLang="en-US">
                <a:solidFill>
                  <a:schemeClr val="tx1"/>
                </a:solidFill>
              </a:rPr>
              <a:t>Unity 연동</a:t>
            </a:r>
            <a:endParaRPr lang="ko-KR" sz="1600" dirty="0" altLang="en-US"/>
          </a:p>
        </p:txBody>
      </p:sp>
      <p:sp>
        <p:nvSpPr>
          <p:cNvPr id="38" name="Text 33"/>
          <p:cNvSpPr txBox="1"/>
          <p:nvPr/>
        </p:nvSpPr>
        <p:spPr>
          <a:xfrm>
            <a:off x="2651760" y="5650992"/>
            <a:ext cx="5760720" cy="603504"/>
          </a:xfrm>
          <a:prstGeom prst="rect">
            <a:avLst/>
          </a:prstGeom>
          <a:noFill/>
          <a:ln/>
        </p:spPr>
        <p:txBody>
          <a:bodyPr wrap="square" lIns="0" tIns="0" rIns="0" bIns="0" rtlCol="0" anchor="ctr"/>
          <a:lstStyle/>
          <a:p>
            <a:pPr marL="0" indent="0" eaLnBrk="0">
              <a:buNone/>
            </a:pPr>
            <a:r>
              <a:rPr lang="ko-KR" sz="1500" dirty="0" altLang="en-US">
                <a:solidFill>
                  <a:schemeClr val="tx1"/>
                </a:solidFill>
              </a:rPr>
              <a:t>에셋 연결해 SUMO 구동 · 시각 검증</a:t>
            </a:r>
            <a:endParaRPr lang="ko-KR" sz="1500" dirty="0" altLang="en-US"/>
          </a:p>
        </p:txBody>
      </p:sp>
      <p:sp>
        <p:nvSpPr>
          <p:cNvPr id="39" name="Shape 34"/>
          <p:cNvSpPr/>
          <p:nvPr/>
        </p:nvSpPr>
        <p:spPr>
          <a:xfrm>
            <a:off x="8503920" y="5733288"/>
            <a:ext cx="2926080" cy="438912"/>
          </a:xfrm>
          <a:prstGeom prst="roundRect">
            <a:avLst>
              <a:gd name="adj" fmla="val 50000"/>
            </a:avLst>
          </a:prstGeom>
          <a:solidFill>
            <a:schemeClr val="accent4"/>
          </a:solidFill>
          <a:ln w="12700">
            <a:solidFill>
              <a:schemeClr val="accent4"/>
            </a:solidFill>
            <a:prstDash val="solid"/>
          </a:ln>
        </p:spPr>
        <p:txBody>
          <a:bodyPr/>
          <a:p/>
        </p:txBody>
      </p:sp>
      <p:sp>
        <p:nvSpPr>
          <p:cNvPr id="40" name="Text 35"/>
          <p:cNvSpPr txBox="1"/>
          <p:nvPr/>
        </p:nvSpPr>
        <p:spPr>
          <a:xfrm>
            <a:off x="8503920" y="5733288"/>
            <a:ext cx="2926080" cy="438912"/>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진행 예정</a:t>
            </a:r>
            <a:endParaRPr lang="ko-KR" sz="1300" dirty="0" altLang="en-US"/>
          </a:p>
        </p:txBody>
      </p:sp>
      <p:sp>
        <p:nvSpPr>
          <p:cNvPr id="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cxnSp>
        <p:nvCxnSpPr>
          <p:cNvPr id="34" name="Connector 33"/>
          <p:cNvCxnSpPr/>
          <p:nvPr/>
        </p:nvCxnSpPr>
        <p:spPr>
          <a:xfrm>
            <a:off x="9829800" y="1828800"/>
            <a:ext cx="1645919"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543800" y="1828800"/>
            <a:ext cx="1645919"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257800" y="1828800"/>
            <a:ext cx="1645919"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1800" y="1828800"/>
            <a:ext cx="164592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85800" y="1828800"/>
            <a:ext cx="164592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구조 · 시뮬레이션 로그가 학습과 배차로 이어진다</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2031656" y="6297473"/>
            <a:ext cx="784555" cy="362102"/>
          </a:xfrm>
          <a:prstGeom prst="rect">
            <a:avLst/>
          </a:prstGeom>
        </p:spPr>
      </p:pic>
      <p:sp>
        <p:nvSpPr>
          <p:cNvPr id="7" name="Text 2"/>
          <p:cNvSpPr txBox="1"/>
          <p:nvPr/>
        </p:nvSpPr>
        <p:spPr>
          <a:xfrm>
            <a:off x="685800" y="2103120"/>
            <a:ext cx="1645920" cy="457200"/>
          </a:xfrm>
          <a:prstGeom prst="rect">
            <a:avLst/>
          </a:prstGeom>
          <a:noFill/>
          <a:ln/>
        </p:spPr>
        <p:txBody>
          <a:bodyPr wrap="square" lIns="0" tIns="0" rIns="0" bIns="0" rtlCol="0" anchor="t"/>
          <a:lstStyle/>
          <a:p>
            <a:pPr marL="0" indent="0" algn="ctr" eaLnBrk="0">
              <a:buNone/>
            </a:pPr>
            <a:r>
              <a:rPr lang="ko-KR" sz="1700" b="1" dirty="0" altLang="en-US">
                <a:solidFill>
                  <a:schemeClr val="tx1"/>
                </a:solidFill>
              </a:rPr>
              <a:t>SUMO 시뮬레이션</a:t>
            </a:r>
            <a:endParaRPr lang="ko-KR" sz="1700" dirty="0" altLang="en-US"/>
          </a:p>
        </p:txBody>
      </p:sp>
      <p:sp>
        <p:nvSpPr>
          <p:cNvPr id="8" name="Text 3"/>
          <p:cNvSpPr txBox="1"/>
          <p:nvPr/>
        </p:nvSpPr>
        <p:spPr>
          <a:xfrm>
            <a:off x="685800" y="2743200"/>
            <a:ext cx="1645920" cy="914400"/>
          </a:xfrm>
          <a:prstGeom prst="rect">
            <a:avLst/>
          </a:prstGeom>
          <a:noFill/>
          <a:ln/>
        </p:spPr>
        <p:txBody>
          <a:bodyPr wrap="square" lIns="0" tIns="0" rIns="0" bIns="0" rtlCol="0" anchor="t"/>
          <a:lstStyle/>
          <a:p>
            <a:pPr marL="0" indent="0" algn="ctr" eaLnBrk="0">
              <a:buNone/>
            </a:pPr>
            <a:r>
              <a:rPr lang="ko-KR" sz="1300" dirty="0" altLang="en-US">
                <a:solidFill>
                  <a:schemeClr val="accent4"/>
                </a:solidFill>
              </a:rPr>
              <a:t>build_env</a:t>
            </a:r>
            <a:endParaRPr lang="ko-KR" sz="1300" dirty="0" altLang="en-US"/>
          </a:p>
          <a:p>
            <a:pPr marL="0" indent="0" algn="ctr" eaLnBrk="0">
              <a:buNone/>
            </a:pPr>
            <a:r>
              <a:rPr lang="ko-KR" sz="1300" dirty="0" altLang="en-US">
                <a:solidFill>
                  <a:schemeClr val="accent4"/>
                </a:solidFill>
              </a:rPr>
              <a:t>measure_wait_time</a:t>
            </a:r>
            <a:endParaRPr lang="ko-KR" sz="1300" dirty="0" altLang="en-US"/>
          </a:p>
        </p:txBody>
      </p:sp>
      <p:sp>
        <p:nvSpPr>
          <p:cNvPr id="9" name="Shape 4"/>
          <p:cNvSpPr/>
          <p:nvPr/>
        </p:nvSpPr>
        <p:spPr>
          <a:xfrm>
            <a:off x="2514600" y="2697480"/>
            <a:ext cx="274320" cy="274320"/>
          </a:xfrm>
          <a:prstGeom prst="rightArrow">
            <a:avLst/>
          </a:prstGeom>
          <a:solidFill>
            <a:schemeClr val="accent4"/>
          </a:solidFill>
          <a:ln w="12700">
            <a:solidFill>
              <a:schemeClr val="accent4"/>
            </a:solidFill>
            <a:prstDash val="solid"/>
          </a:ln>
        </p:spPr>
      </p:sp>
      <p:sp>
        <p:nvSpPr>
          <p:cNvPr id="11" name="Text 6"/>
          <p:cNvSpPr txBox="1"/>
          <p:nvPr/>
        </p:nvSpPr>
        <p:spPr>
          <a:xfrm>
            <a:off x="2971800" y="2103120"/>
            <a:ext cx="1645920" cy="457200"/>
          </a:xfrm>
          <a:prstGeom prst="rect">
            <a:avLst/>
          </a:prstGeom>
          <a:noFill/>
          <a:ln/>
        </p:spPr>
        <p:txBody>
          <a:bodyPr wrap="square" lIns="0" tIns="0" rIns="0" bIns="0" rtlCol="0" anchor="t"/>
          <a:lstStyle/>
          <a:p>
            <a:pPr marL="0" indent="0" algn="ctr" eaLnBrk="0">
              <a:buNone/>
            </a:pPr>
            <a:r>
              <a:rPr lang="ko-KR" sz="1700" b="1" dirty="0" altLang="en-US">
                <a:solidFill>
                  <a:schemeClr val="tx1"/>
                </a:solidFill>
              </a:rPr>
              <a:t>수요 로그</a:t>
            </a:r>
            <a:endParaRPr lang="ko-KR" sz="1700" dirty="0" altLang="en-US"/>
          </a:p>
        </p:txBody>
      </p:sp>
      <p:sp>
        <p:nvSpPr>
          <p:cNvPr id="12" name="Text 7"/>
          <p:cNvSpPr txBox="1"/>
          <p:nvPr/>
        </p:nvSpPr>
        <p:spPr>
          <a:xfrm>
            <a:off x="2971800" y="2743200"/>
            <a:ext cx="1645920" cy="914400"/>
          </a:xfrm>
          <a:prstGeom prst="rect">
            <a:avLst/>
          </a:prstGeom>
          <a:noFill/>
          <a:ln/>
        </p:spPr>
        <p:txBody>
          <a:bodyPr wrap="square" lIns="0" tIns="0" rIns="0" bIns="0" rtlCol="0" anchor="t"/>
          <a:lstStyle/>
          <a:p>
            <a:pPr marL="0" indent="0" algn="ctr" eaLnBrk="0">
              <a:buNone/>
            </a:pPr>
            <a:r>
              <a:rPr lang="ko-KR" sz="1300" dirty="0" altLang="en-US">
                <a:solidFill>
                  <a:schemeClr val="accent4"/>
                </a:solidFill>
              </a:rPr>
              <a:t>demand_log_*.csv</a:t>
            </a:r>
            <a:endParaRPr lang="ko-KR" sz="1300" dirty="0" altLang="en-US"/>
          </a:p>
        </p:txBody>
      </p:sp>
      <p:sp>
        <p:nvSpPr>
          <p:cNvPr id="13" name="Shape 8"/>
          <p:cNvSpPr/>
          <p:nvPr/>
        </p:nvSpPr>
        <p:spPr>
          <a:xfrm>
            <a:off x="4800600" y="2697480"/>
            <a:ext cx="274320" cy="274320"/>
          </a:xfrm>
          <a:prstGeom prst="rightArrow">
            <a:avLst/>
          </a:prstGeom>
          <a:solidFill>
            <a:schemeClr val="accent4"/>
          </a:solidFill>
          <a:ln w="12700">
            <a:solidFill>
              <a:schemeClr val="accent4"/>
            </a:solidFill>
            <a:prstDash val="solid"/>
          </a:ln>
        </p:spPr>
      </p:sp>
      <p:sp>
        <p:nvSpPr>
          <p:cNvPr id="15" name="Text 10"/>
          <p:cNvSpPr txBox="1"/>
          <p:nvPr/>
        </p:nvSpPr>
        <p:spPr>
          <a:xfrm>
            <a:off x="5257800" y="2103120"/>
            <a:ext cx="1645920" cy="457200"/>
          </a:xfrm>
          <a:prstGeom prst="rect">
            <a:avLst/>
          </a:prstGeom>
          <a:noFill/>
          <a:ln/>
        </p:spPr>
        <p:txBody>
          <a:bodyPr wrap="square" lIns="0" tIns="0" rIns="0" bIns="0" rtlCol="0" anchor="t"/>
          <a:lstStyle/>
          <a:p>
            <a:pPr marL="0" indent="0" algn="ctr" eaLnBrk="0">
              <a:buNone/>
            </a:pPr>
            <a:r>
              <a:rPr lang="ko-KR" sz="1700" b="1" dirty="0" altLang="en-US">
                <a:solidFill>
                  <a:schemeClr val="tx1"/>
                </a:solidFill>
              </a:rPr>
              <a:t>전처리</a:t>
            </a:r>
            <a:endParaRPr lang="ko-KR" sz="1700" dirty="0" altLang="en-US"/>
          </a:p>
        </p:txBody>
      </p:sp>
      <p:sp>
        <p:nvSpPr>
          <p:cNvPr id="16" name="Text 11"/>
          <p:cNvSpPr txBox="1"/>
          <p:nvPr/>
        </p:nvSpPr>
        <p:spPr>
          <a:xfrm>
            <a:off x="5257800" y="2743200"/>
            <a:ext cx="1645920" cy="914400"/>
          </a:xfrm>
          <a:prstGeom prst="rect">
            <a:avLst/>
          </a:prstGeom>
          <a:noFill/>
          <a:ln/>
        </p:spPr>
        <p:txBody>
          <a:bodyPr wrap="square" lIns="0" tIns="0" rIns="0" bIns="0" rtlCol="0" anchor="t"/>
          <a:lstStyle/>
          <a:p>
            <a:pPr marL="0" indent="0" algn="ctr" eaLnBrk="0">
              <a:buNone/>
            </a:pPr>
            <a:r>
              <a:rPr lang="ko-KR" sz="1300" dirty="0" altLang="en-US">
                <a:solidFill>
                  <a:schemeClr val="accent4"/>
                </a:solidFill>
              </a:rPr>
              <a:t>H3·시간·날씨</a:t>
            </a:r>
            <a:endParaRPr lang="ko-KR" sz="1300" dirty="0" altLang="en-US"/>
          </a:p>
          <a:p>
            <a:pPr marL="0" indent="0" algn="ctr" eaLnBrk="0">
              <a:buNone/>
            </a:pPr>
            <a:r>
              <a:rPr lang="ko-KR" sz="1300" dirty="0" altLang="en-US">
                <a:solidFill>
                  <a:schemeClr val="accent4"/>
                </a:solidFill>
              </a:rPr>
              <a:t>피처 테이블</a:t>
            </a:r>
            <a:endParaRPr lang="ko-KR" sz="1300" dirty="0" altLang="en-US"/>
          </a:p>
        </p:txBody>
      </p:sp>
      <p:sp>
        <p:nvSpPr>
          <p:cNvPr id="17" name="Shape 12"/>
          <p:cNvSpPr/>
          <p:nvPr/>
        </p:nvSpPr>
        <p:spPr>
          <a:xfrm>
            <a:off x="7086600" y="2697480"/>
            <a:ext cx="274320" cy="274320"/>
          </a:xfrm>
          <a:prstGeom prst="rightArrow">
            <a:avLst/>
          </a:prstGeom>
          <a:solidFill>
            <a:schemeClr val="accent4"/>
          </a:solidFill>
          <a:ln w="12700">
            <a:solidFill>
              <a:schemeClr val="accent4"/>
            </a:solidFill>
            <a:prstDash val="solid"/>
          </a:ln>
        </p:spPr>
      </p:sp>
      <p:sp>
        <p:nvSpPr>
          <p:cNvPr id="19" name="Text 14"/>
          <p:cNvSpPr txBox="1"/>
          <p:nvPr/>
        </p:nvSpPr>
        <p:spPr>
          <a:xfrm>
            <a:off x="7543800" y="2103120"/>
            <a:ext cx="1645920" cy="457200"/>
          </a:xfrm>
          <a:prstGeom prst="rect">
            <a:avLst/>
          </a:prstGeom>
          <a:noFill/>
          <a:ln/>
        </p:spPr>
        <p:txBody>
          <a:bodyPr wrap="square" lIns="0" tIns="0" rIns="0" bIns="0" rtlCol="0" anchor="t"/>
          <a:lstStyle/>
          <a:p>
            <a:pPr marL="0" indent="0" algn="ctr" eaLnBrk="0">
              <a:buNone/>
            </a:pPr>
            <a:r>
              <a:rPr lang="ko-KR" sz="1700" b="1" dirty="0" altLang="en-US">
                <a:solidFill>
                  <a:schemeClr val="tx1"/>
                </a:solidFill>
              </a:rPr>
              <a:t>예측 모델</a:t>
            </a:r>
            <a:endParaRPr lang="ko-KR" sz="1700" dirty="0" altLang="en-US"/>
          </a:p>
        </p:txBody>
      </p:sp>
      <p:sp>
        <p:nvSpPr>
          <p:cNvPr id="20" name="Text 15"/>
          <p:cNvSpPr txBox="1"/>
          <p:nvPr/>
        </p:nvSpPr>
        <p:spPr>
          <a:xfrm>
            <a:off x="7543800" y="2743200"/>
            <a:ext cx="1645920" cy="914400"/>
          </a:xfrm>
          <a:prstGeom prst="rect">
            <a:avLst/>
          </a:prstGeom>
          <a:noFill/>
          <a:ln/>
        </p:spPr>
        <p:txBody>
          <a:bodyPr wrap="square" lIns="0" tIns="0" rIns="0" bIns="0" rtlCol="0" anchor="t"/>
          <a:lstStyle/>
          <a:p>
            <a:pPr marL="0" indent="0" algn="ctr" eaLnBrk="0">
              <a:buNone/>
            </a:pPr>
            <a:r>
              <a:rPr lang="ko-KR" sz="1300" dirty="0" altLang="en-US">
                <a:solidFill>
                  <a:schemeClr val="accent4"/>
                </a:solidFill>
              </a:rPr>
              <a:t>XGBoost</a:t>
            </a:r>
            <a:endParaRPr lang="ko-KR" sz="1300" dirty="0" altLang="en-US"/>
          </a:p>
          <a:p>
            <a:pPr marL="0" indent="0" algn="ctr" eaLnBrk="0">
              <a:buNone/>
            </a:pPr>
            <a:r>
              <a:rPr lang="ko-KR" sz="1300" dirty="0" altLang="en-US">
                <a:solidFill>
                  <a:schemeClr val="accent4"/>
                </a:solidFill>
              </a:rPr>
              <a:t>CNN-LSTM</a:t>
            </a:r>
            <a:endParaRPr lang="ko-KR" sz="1300" dirty="0" altLang="en-US"/>
          </a:p>
        </p:txBody>
      </p:sp>
      <p:sp>
        <p:nvSpPr>
          <p:cNvPr id="21" name="Shape 16"/>
          <p:cNvSpPr/>
          <p:nvPr/>
        </p:nvSpPr>
        <p:spPr>
          <a:xfrm>
            <a:off x="9372600" y="2697480"/>
            <a:ext cx="274320" cy="274320"/>
          </a:xfrm>
          <a:prstGeom prst="rightArrow">
            <a:avLst/>
          </a:prstGeom>
          <a:solidFill>
            <a:schemeClr val="accent4"/>
          </a:solidFill>
          <a:ln w="12700">
            <a:solidFill>
              <a:schemeClr val="accent4"/>
            </a:solidFill>
            <a:prstDash val="solid"/>
          </a:ln>
        </p:spPr>
      </p:sp>
      <p:sp>
        <p:nvSpPr>
          <p:cNvPr id="23" name="Text 18"/>
          <p:cNvSpPr txBox="1"/>
          <p:nvPr/>
        </p:nvSpPr>
        <p:spPr>
          <a:xfrm>
            <a:off x="9829800" y="2103120"/>
            <a:ext cx="1645920" cy="457200"/>
          </a:xfrm>
          <a:prstGeom prst="rect">
            <a:avLst/>
          </a:prstGeom>
          <a:noFill/>
          <a:ln/>
        </p:spPr>
        <p:txBody>
          <a:bodyPr wrap="square" lIns="0" tIns="0" rIns="0" bIns="0" rtlCol="0" anchor="t"/>
          <a:lstStyle/>
          <a:p>
            <a:pPr marL="0" indent="0" algn="ctr" eaLnBrk="0">
              <a:buNone/>
            </a:pPr>
            <a:r>
              <a:rPr lang="ko-KR" sz="1700" b="1" dirty="0" altLang="en-US">
                <a:solidFill>
                  <a:schemeClr val="tx1"/>
                </a:solidFill>
              </a:rPr>
              <a:t>배차 · RL</a:t>
            </a:r>
            <a:endParaRPr lang="ko-KR" sz="1700" dirty="0" altLang="en-US"/>
          </a:p>
        </p:txBody>
      </p:sp>
      <p:sp>
        <p:nvSpPr>
          <p:cNvPr id="24" name="Text 19"/>
          <p:cNvSpPr txBox="1"/>
          <p:nvPr/>
        </p:nvSpPr>
        <p:spPr>
          <a:xfrm>
            <a:off x="9829800" y="2743200"/>
            <a:ext cx="1645920" cy="914400"/>
          </a:xfrm>
          <a:prstGeom prst="rect">
            <a:avLst/>
          </a:prstGeom>
          <a:noFill/>
          <a:ln/>
        </p:spPr>
        <p:txBody>
          <a:bodyPr wrap="square" lIns="0" tIns="0" rIns="0" bIns="0" rtlCol="0" anchor="t"/>
          <a:lstStyle/>
          <a:p>
            <a:pPr marL="0" indent="0" algn="ctr" eaLnBrk="0">
              <a:buNone/>
            </a:pPr>
            <a:r>
              <a:rPr lang="ko-KR" sz="1300" dirty="0" altLang="en-US">
                <a:solidFill>
                  <a:schemeClr val="tx2"/>
                </a:solidFill>
              </a:rPr>
              <a:t>Hungarian</a:t>
            </a:r>
            <a:endParaRPr lang="ko-KR" sz="1300" dirty="0" altLang="en-US"/>
          </a:p>
          <a:p>
            <a:pPr marL="0" indent="0" algn="ctr" eaLnBrk="0">
              <a:buNone/>
            </a:pPr>
            <a:r>
              <a:rPr lang="ko-KR" sz="1300" dirty="0" altLang="en-US">
                <a:solidFill>
                  <a:schemeClr val="tx2"/>
                </a:solidFill>
              </a:rPr>
              <a:t>PPO 재배치</a:t>
            </a:r>
            <a:endParaRPr lang="ko-KR" sz="1300" dirty="0" altLang="en-US"/>
          </a:p>
        </p:txBody>
      </p:sp>
      <p:sp>
        <p:nvSpPr>
          <p:cNvPr id="25" name="Shape 20"/>
          <p:cNvSpPr/>
          <p:nvPr/>
        </p:nvSpPr>
        <p:spPr>
          <a:xfrm>
            <a:off x="1508760" y="4251960"/>
            <a:ext cx="9601200" cy="0"/>
          </a:xfrm>
          <a:prstGeom prst="line">
            <a:avLst/>
          </a:prstGeom>
          <a:noFill/>
          <a:ln w="25400">
            <a:solidFill>
              <a:schemeClr val="accent2"/>
            </a:solidFill>
            <a:prstDash val="dash"/>
          </a:ln>
        </p:spPr>
      </p:sp>
      <p:sp>
        <p:nvSpPr>
          <p:cNvPr id="26" name="Shape 21"/>
          <p:cNvSpPr/>
          <p:nvPr/>
        </p:nvSpPr>
        <p:spPr>
          <a:xfrm flipV="1">
            <a:off x="1508760" y="3840480"/>
            <a:ext cx="0" cy="411480"/>
          </a:xfrm>
          <a:prstGeom prst="line">
            <a:avLst/>
          </a:prstGeom>
          <a:noFill/>
          <a:ln w="25400">
            <a:solidFill>
              <a:schemeClr val="accent2"/>
            </a:solidFill>
            <a:prstDash val="solid"/>
            <a:headEnd type="none"/>
            <a:tailEnd type="triangle"/>
          </a:ln>
        </p:spPr>
      </p:sp>
      <p:sp>
        <p:nvSpPr>
          <p:cNvPr id="27" name="Shape 22"/>
          <p:cNvSpPr/>
          <p:nvPr/>
        </p:nvSpPr>
        <p:spPr>
          <a:xfrm>
            <a:off x="11109960" y="3840480"/>
            <a:ext cx="0" cy="411480"/>
          </a:xfrm>
          <a:prstGeom prst="line">
            <a:avLst/>
          </a:prstGeom>
          <a:noFill/>
          <a:ln w="25400">
            <a:solidFill>
              <a:schemeClr val="accent2"/>
            </a:solidFill>
            <a:prstDash val="solid"/>
          </a:ln>
        </p:spPr>
      </p:sp>
      <p:sp>
        <p:nvSpPr>
          <p:cNvPr id="28" name="Text 23"/>
          <p:cNvSpPr txBox="1"/>
          <p:nvPr/>
        </p:nvSpPr>
        <p:spPr>
          <a:xfrm>
            <a:off x="1508760" y="4389120"/>
            <a:ext cx="9601200" cy="365760"/>
          </a:xfrm>
          <a:prstGeom prst="rect">
            <a:avLst/>
          </a:prstGeom>
          <a:noFill/>
          <a:ln/>
        </p:spPr>
        <p:txBody>
          <a:bodyPr wrap="square" lIns="0" tIns="0" rIns="0" bIns="0" rtlCol="0" anchor="t"/>
          <a:lstStyle/>
          <a:p>
            <a:pPr marL="0" indent="0" algn="ctr" eaLnBrk="0">
              <a:buNone/>
            </a:pPr>
            <a:r>
              <a:rPr lang="ko-KR" sz="1400" b="1" dirty="0" altLang="en-US">
                <a:solidFill>
                  <a:schemeClr val="accent2"/>
                </a:solidFill>
              </a:rPr>
              <a:t>배차 결과가 다시 시뮬레이션에 반영되어 A/B 비교 로그가 쌓인다</a:t>
            </a:r>
            <a:endParaRPr lang="ko-KR" sz="1400" dirty="0" altLang="en-US"/>
          </a:p>
        </p:txBody>
      </p:sp>
      <p:sp>
        <p:nvSpPr>
          <p:cNvPr id="29" name="Text 24"/>
          <p:cNvSpPr txBox="1"/>
          <p:nvPr/>
        </p:nvSpPr>
        <p:spPr>
          <a:xfrm>
            <a:off x="548640" y="5029200"/>
            <a:ext cx="11064240" cy="365760"/>
          </a:xfrm>
          <a:prstGeom prst="rect">
            <a:avLst/>
          </a:prstGeom>
          <a:noFill/>
          <a:ln/>
        </p:spPr>
        <p:txBody>
          <a:bodyPr wrap="square" lIns="0" tIns="0" rIns="0" bIns="0" rtlCol="0" anchor="t"/>
          <a:lstStyle/>
          <a:p>
            <a:pPr marL="0" indent="0" eaLnBrk="0">
              <a:buNone/>
            </a:pPr>
            <a:r>
              <a:rPr lang="ko-KR" sz="1400" dirty="0" altLang="en-US">
                <a:solidFill>
                  <a:schemeClr val="accent4"/>
                </a:solidFill>
              </a:rPr>
              <a:t>공통 설정은 config.json 한 곳에서 관리 (GUI → config_loader → 모든 모듈)</a:t>
            </a:r>
            <a:endParaRPr lang="ko-KR" sz="1400" dirty="0" altLang="en-US"/>
          </a:p>
        </p:txBody>
      </p:sp>
      <p:sp>
        <p:nvSpPr>
          <p:cNvPr id="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Module 1 · 실제 지도 위의 도시 환경</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2773164" y="6297473"/>
            <a:ext cx="784555" cy="362102"/>
          </a:xfrm>
          <a:prstGeom prst="rect">
            <a:avLst/>
          </a:prstGeom>
        </p:spPr>
      </p:pic>
      <p:sp>
        <p:nvSpPr>
          <p:cNvPr id="6" name="Shape 1"/>
          <p:cNvSpPr/>
          <p:nvPr/>
        </p:nvSpPr>
        <p:spPr>
          <a:xfrm>
            <a:off x="10058400" y="502920"/>
            <a:ext cx="1554480" cy="411480"/>
          </a:xfrm>
          <a:prstGeom prst="roundRect">
            <a:avLst>
              <a:gd name="adj" fmla="val 48889"/>
            </a:avLst>
          </a:prstGeom>
          <a:solidFill>
            <a:schemeClr val="accent2"/>
          </a:solidFill>
          <a:ln w="12700">
            <a:solidFill>
              <a:schemeClr val="accent2"/>
            </a:solidFill>
            <a:prstDash val="solid"/>
          </a:ln>
        </p:spPr>
      </p:sp>
      <p:sp>
        <p:nvSpPr>
          <p:cNvPr id="7" name="Text 2"/>
          <p:cNvSpPr txBox="1"/>
          <p:nvPr/>
        </p:nvSpPr>
        <p:spPr>
          <a:xfrm>
            <a:off x="10058400" y="502920"/>
            <a:ext cx="1554480" cy="411480"/>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완료</a:t>
            </a:r>
            <a:endParaRPr lang="ko-KR" sz="1300" dirty="0" altLang="en-US"/>
          </a:p>
        </p:txBody>
      </p:sp>
      <p:sp>
        <p:nvSpPr>
          <p:cNvPr id="8" name="Text 3"/>
          <p:cNvSpPr txBox="1"/>
          <p:nvPr/>
        </p:nvSpPr>
        <p:spPr>
          <a:xfrm>
            <a:off x="548640" y="1463040"/>
            <a:ext cx="6675120" cy="4480560"/>
          </a:xfrm>
          <a:prstGeom prst="rect">
            <a:avLst/>
          </a:prstGeom>
          <a:noFill/>
          <a:ln/>
        </p:spPr>
        <p:txBody>
          <a:bodyPr wrap="square" lIns="0" tIns="0" rIns="0" bIns="0" rtlCol="0" anchor="t"/>
          <a:lstStyle/>
          <a:p>
            <a:pPr marL="342900" indent="-342900" eaLnBrk="0">
              <a:spcAft>
                <a:spcPts val="600"/>
              </a:spcAft>
              <a:buSzPct val="100000"/>
              <a:buChar char="•"/>
            </a:pPr>
            <a:r>
              <a:rPr lang="ko-KR" sz="1700" dirty="0" altLang="en-US">
                <a:solidFill>
                  <a:schemeClr val="tx1"/>
                </a:solidFill>
              </a:rPr>
              <a:t>OSM 지도를 SUMO 도로망으로 변환 (real_map_fetch) — netconvert 실패 시 3단계 폴백</a:t>
            </a:r>
            <a:endParaRPr lang="ko-KR" sz="1700" dirty="0" altLang="en-US"/>
          </a:p>
          <a:p>
            <a:pPr marL="342900" indent="-342900" eaLnBrk="0">
              <a:spcAft>
                <a:spcPts val="600"/>
              </a:spcAft>
              <a:buSzPct val="100000"/>
              <a:buChar char="•"/>
            </a:pPr>
            <a:r>
              <a:rPr lang="ko-KR" sz="1700" dirty="0" altLang="en-US">
                <a:solidFill>
                  <a:schemeClr val="tx1"/>
                </a:solidFill>
              </a:rPr>
              <a:t>강결합 컴포넌트(SCC)만 남겨 고립된 도로 제거 → 'No connection' 크래시 방지</a:t>
            </a:r>
            <a:endParaRPr lang="ko-KR" sz="1700" dirty="0" altLang="en-US"/>
          </a:p>
          <a:p>
            <a:pPr marL="342900" indent="-342900" eaLnBrk="0">
              <a:spcAft>
                <a:spcPts val="600"/>
              </a:spcAft>
              <a:buSzPct val="100000"/>
              <a:buChar char="•"/>
            </a:pPr>
            <a:r>
              <a:rPr lang="ko-KR" sz="1700" dirty="0" altLang="en-US">
                <a:solidFill>
                  <a:schemeClr val="tx1"/>
                </a:solidFill>
              </a:rPr>
              <a:t>건물을 6개 카테고리 POI로 분류: school · residential · company · restaurant · subway_entrance · bus_stop</a:t>
            </a:r>
            <a:endParaRPr lang="ko-KR" sz="1700" dirty="0" altLang="en-US"/>
          </a:p>
          <a:p>
            <a:pPr marL="342900" indent="-342900" eaLnBrk="0">
              <a:spcAft>
                <a:spcPts val="600"/>
              </a:spcAft>
              <a:buSzPct val="100000"/>
              <a:buChar char="•"/>
            </a:pPr>
            <a:r>
              <a:rPr lang="ko-KR" sz="1700" dirty="0" altLang="en-US">
                <a:solidFill>
                  <a:schemeClr val="tx1"/>
                </a:solidFill>
              </a:rPr>
              <a:t>승객은 시뮬레이션 중 실시간 생성·소멸: 아침에 회사가 흡수한 인원이 저녁에 다시 배출</a:t>
            </a:r>
            <a:endParaRPr lang="ko-KR" sz="1700" dirty="0" altLang="en-US"/>
          </a:p>
          <a:p>
            <a:pPr marL="342900" indent="-342900" eaLnBrk="0">
              <a:spcAft>
                <a:spcPts val="600"/>
              </a:spcAft>
              <a:buSzPct val="100000"/>
              <a:buChar char="•"/>
            </a:pPr>
            <a:r>
              <a:rPr lang="ko-KR" sz="1700" dirty="0" altLang="en-US">
                <a:solidFill>
                  <a:schemeClr val="tx1"/>
                </a:solidFill>
              </a:rPr>
              <a:t>택시 대수 유지 + 예약 규칙(택시 1대 : 승객 1명) 수문장</a:t>
            </a:r>
            <a:endParaRPr lang="ko-KR" sz="1700" dirty="0" altLang="en-US"/>
          </a:p>
        </p:txBody>
      </p:sp>
      <p:sp>
        <p:nvSpPr>
          <p:cNvPr id="9" name="Rounded Rectangle 8"/>
          <p:cNvSpPr/>
          <p:nvPr/>
        </p:nvSpPr>
        <p:spPr>
          <a:xfrm>
            <a:off x="7635240" y="1417320"/>
            <a:ext cx="4005072" cy="4617720"/>
          </a:xfrm>
          <a:prstGeom prst="roundRect">
            <a:avLst>
              <a:gd name="adj" fmla="val 3500"/>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1691640"/>
            <a:ext cx="1737360" cy="1005840"/>
          </a:xfrm>
          <a:prstGeom prst="rect">
            <a:avLst/>
          </a:prstGeom>
          <a:noFill/>
        </p:spPr>
        <p:txBody>
          <a:bodyPr wrap="square" anchor="ctr" lIns="0" rIns="0" tIns="0" bIns="0">
            <a:spAutoFit/>
          </a:bodyPr>
          <a:lstStyle/>
          <a:p>
            <a:pPr algn="l" eaLnBrk="0"/>
            <a:r>
              <a:rPr sz="6600" b="1" lang="ko-KR" altLang="en-US">
                <a:solidFill>
                  <a:srgbClr val="F5B700"/>
                </a:solidFill>
                <a:latin typeface="Malgun Gothic"/>
                <a:ea typeface="Malgun Gothic"/>
              </a:rPr>
              <a:t>50</a:t>
            </a:r>
          </a:p>
        </p:txBody>
      </p:sp>
      <p:sp>
        <p:nvSpPr>
          <p:cNvPr id="11" name="TextBox 10"/>
          <p:cNvSpPr txBox="1"/>
          <p:nvPr/>
        </p:nvSpPr>
        <p:spPr>
          <a:xfrm>
            <a:off x="8001000" y="2679191"/>
            <a:ext cx="1371600" cy="274320"/>
          </a:xfrm>
          <a:prstGeom prst="rect">
            <a:avLst/>
          </a:prstGeom>
          <a:noFill/>
        </p:spPr>
        <p:txBody>
          <a:bodyPr wrap="square" anchor="t" lIns="0" rIns="0" tIns="0" bIns="0">
            <a:spAutoFit/>
          </a:bodyPr>
          <a:lstStyle/>
          <a:p>
            <a:pPr algn="l" eaLnBrk="0"/>
            <a:r>
              <a:rPr sz="1400" b="1" lang="ko-KR" altLang="en-US">
                <a:solidFill>
                  <a:srgbClr val="FFFFFF"/>
                </a:solidFill>
                <a:latin typeface="Malgun Gothic"/>
                <a:ea typeface="Malgun Gothic"/>
              </a:rPr>
              <a:t>택시</a:t>
            </a:r>
          </a:p>
        </p:txBody>
      </p:sp>
      <p:pic>
        <p:nvPicPr>
          <p:cNvPr id="12" name="Picture 11" descr="image.png"/>
          <p:cNvPicPr>
            <a:picLocks noChangeAspect="1"/>
          </p:cNvPicPr>
          <p:nvPr/>
        </p:nvPicPr>
        <p:blipFill>
          <a:blip r:embed="rId5"/>
          <a:stretch>
            <a:fillRect/>
          </a:stretch>
        </p:blipFill>
        <p:spPr>
          <a:xfrm>
            <a:off x="11073384" y="1673352"/>
            <a:ext cx="219456" cy="283464"/>
          </a:xfrm>
          <a:prstGeom prst="rect">
            <a:avLst/>
          </a:prstGeom>
        </p:spPr>
      </p:pic>
      <p:pic>
        <p:nvPicPr>
          <p:cNvPr id="13" name="Picture 12" descr="image.png"/>
          <p:cNvPicPr>
            <a:picLocks noChangeAspect="1"/>
          </p:cNvPicPr>
          <p:nvPr/>
        </p:nvPicPr>
        <p:blipFill>
          <a:blip r:embed="rId4"/>
          <a:stretch>
            <a:fillRect/>
          </a:stretch>
        </p:blipFill>
        <p:spPr>
          <a:xfrm>
            <a:off x="9692640" y="2057400"/>
            <a:ext cx="1463040" cy="676656"/>
          </a:xfrm>
          <a:prstGeom prst="rect">
            <a:avLst/>
          </a:prstGeom>
        </p:spPr>
      </p:pic>
      <p:pic>
        <p:nvPicPr>
          <p:cNvPr id="14" name="Picture 13" descr="image.png"/>
          <p:cNvPicPr>
            <a:picLocks noChangeAspect="1"/>
          </p:cNvPicPr>
          <p:nvPr/>
        </p:nvPicPr>
        <p:blipFill>
          <a:blip r:embed="rId6"/>
          <a:stretch>
            <a:fillRect/>
          </a:stretch>
        </p:blipFill>
        <p:spPr>
          <a:xfrm>
            <a:off x="9464040" y="2715768"/>
            <a:ext cx="1901952" cy="228600"/>
          </a:xfrm>
          <a:prstGeom prst="rect">
            <a:avLst/>
          </a:prstGeom>
        </p:spPr>
      </p:pic>
      <p:cxnSp>
        <p:nvCxnSpPr>
          <p:cNvPr id="15" name="Connector 14"/>
          <p:cNvCxnSpPr/>
          <p:nvPr/>
        </p:nvCxnSpPr>
        <p:spPr>
          <a:xfrm>
            <a:off x="7955279" y="3246120"/>
            <a:ext cx="3364993" cy="0"/>
          </a:xfrm>
          <a:prstGeom prst="line">
            <a:avLst/>
          </a:prstGeom>
          <a:ln w="12700">
            <a:solidFill>
              <a:srgbClr val="2A3A6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955279" y="3410712"/>
            <a:ext cx="1121664" cy="502920"/>
          </a:xfrm>
          <a:prstGeom prst="rect">
            <a:avLst/>
          </a:prstGeom>
          <a:noFill/>
        </p:spPr>
        <p:txBody>
          <a:bodyPr wrap="square" anchor="t" lIns="0" rIns="0" tIns="0" bIns="0">
            <a:spAutoFit/>
          </a:bodyPr>
          <a:lstStyle/>
          <a:p>
            <a:pPr algn="l" eaLnBrk="0"/>
            <a:r>
              <a:rPr sz="2800" b="1" lang="ko-KR" altLang="en-US">
                <a:solidFill>
                  <a:srgbClr val="FFFFFF"/>
                </a:solidFill>
                <a:latin typeface="Malgun Gothic"/>
                <a:ea typeface="Malgun Gothic"/>
              </a:rPr>
              <a:t>20</a:t>
            </a:r>
          </a:p>
        </p:txBody>
      </p:sp>
      <p:sp>
        <p:nvSpPr>
          <p:cNvPr id="17" name="TextBox 16"/>
          <p:cNvSpPr txBox="1"/>
          <p:nvPr/>
        </p:nvSpPr>
        <p:spPr>
          <a:xfrm>
            <a:off x="7955279" y="3959352"/>
            <a:ext cx="1121664" cy="274320"/>
          </a:xfrm>
          <a:prstGeom prst="rect">
            <a:avLst/>
          </a:prstGeom>
          <a:noFill/>
        </p:spPr>
        <p:txBody>
          <a:bodyPr wrap="square" anchor="t" lIns="0" rIns="0" tIns="0" bIns="0">
            <a:spAutoFit/>
          </a:bodyPr>
          <a:lstStyle/>
          <a:p>
            <a:pPr algn="l" eaLnBrk="0"/>
            <a:r>
              <a:rPr sz="1100" b="0" lang="ko-KR" altLang="en-US">
                <a:solidFill>
                  <a:srgbClr val="9AA5BD"/>
                </a:solidFill>
                <a:latin typeface="Malgun Gothic"/>
                <a:ea typeface="Malgun Gothic"/>
              </a:rPr>
              <a:t>일반 차량</a:t>
            </a:r>
          </a:p>
        </p:txBody>
      </p:sp>
      <p:sp>
        <p:nvSpPr>
          <p:cNvPr id="18" name="TextBox 17"/>
          <p:cNvSpPr txBox="1"/>
          <p:nvPr/>
        </p:nvSpPr>
        <p:spPr>
          <a:xfrm>
            <a:off x="9076944" y="3410712"/>
            <a:ext cx="1121664" cy="502920"/>
          </a:xfrm>
          <a:prstGeom prst="rect">
            <a:avLst/>
          </a:prstGeom>
          <a:noFill/>
        </p:spPr>
        <p:txBody>
          <a:bodyPr wrap="square" anchor="t" lIns="0" rIns="0" tIns="0" bIns="0">
            <a:spAutoFit/>
          </a:bodyPr>
          <a:lstStyle/>
          <a:p>
            <a:pPr algn="l" eaLnBrk="0"/>
            <a:r>
              <a:rPr sz="2800" b="1" lang="ko-KR" altLang="en-US">
                <a:solidFill>
                  <a:srgbClr val="FFFFFF"/>
                </a:solidFill>
                <a:latin typeface="Malgun Gothic"/>
                <a:ea typeface="Malgun Gothic"/>
              </a:rPr>
              <a:t>1</a:t>
            </a:r>
          </a:p>
        </p:txBody>
      </p:sp>
      <p:sp>
        <p:nvSpPr>
          <p:cNvPr id="19" name="TextBox 18"/>
          <p:cNvSpPr txBox="1"/>
          <p:nvPr/>
        </p:nvSpPr>
        <p:spPr>
          <a:xfrm>
            <a:off x="9076944" y="3959352"/>
            <a:ext cx="1121664" cy="274320"/>
          </a:xfrm>
          <a:prstGeom prst="rect">
            <a:avLst/>
          </a:prstGeom>
          <a:noFill/>
        </p:spPr>
        <p:txBody>
          <a:bodyPr wrap="square" anchor="t" lIns="0" rIns="0" tIns="0" bIns="0">
            <a:spAutoFit/>
          </a:bodyPr>
          <a:lstStyle/>
          <a:p>
            <a:pPr algn="l" eaLnBrk="0"/>
            <a:r>
              <a:rPr sz="1100" b="0" lang="ko-KR" altLang="en-US">
                <a:solidFill>
                  <a:srgbClr val="9AA5BD"/>
                </a:solidFill>
                <a:latin typeface="Malgun Gothic"/>
                <a:ea typeface="Malgun Gothic"/>
              </a:rPr>
              <a:t>자율주행</a:t>
            </a:r>
          </a:p>
        </p:txBody>
      </p:sp>
      <p:sp>
        <p:nvSpPr>
          <p:cNvPr id="20" name="TextBox 19"/>
          <p:cNvSpPr txBox="1"/>
          <p:nvPr/>
        </p:nvSpPr>
        <p:spPr>
          <a:xfrm>
            <a:off x="10198608" y="3410712"/>
            <a:ext cx="1121664" cy="502920"/>
          </a:xfrm>
          <a:prstGeom prst="rect">
            <a:avLst/>
          </a:prstGeom>
          <a:noFill/>
        </p:spPr>
        <p:txBody>
          <a:bodyPr wrap="square" anchor="t" lIns="0" rIns="0" tIns="0" bIns="0">
            <a:spAutoFit/>
          </a:bodyPr>
          <a:lstStyle/>
          <a:p>
            <a:pPr algn="l" eaLnBrk="0"/>
            <a:r>
              <a:rPr sz="2800" b="1" lang="ko-KR" altLang="en-US">
                <a:solidFill>
                  <a:srgbClr val="FFFFFF"/>
                </a:solidFill>
                <a:latin typeface="Malgun Gothic"/>
                <a:ea typeface="Malgun Gothic"/>
              </a:rPr>
              <a:t>2</a:t>
            </a:r>
          </a:p>
        </p:txBody>
      </p:sp>
      <p:sp>
        <p:nvSpPr>
          <p:cNvPr id="21" name="TextBox 20"/>
          <p:cNvSpPr txBox="1"/>
          <p:nvPr/>
        </p:nvSpPr>
        <p:spPr>
          <a:xfrm>
            <a:off x="10198608" y="3959352"/>
            <a:ext cx="1121664" cy="274320"/>
          </a:xfrm>
          <a:prstGeom prst="rect">
            <a:avLst/>
          </a:prstGeom>
          <a:noFill/>
        </p:spPr>
        <p:txBody>
          <a:bodyPr wrap="square" anchor="t" lIns="0" rIns="0" tIns="0" bIns="0">
            <a:spAutoFit/>
          </a:bodyPr>
          <a:lstStyle/>
          <a:p>
            <a:pPr algn="l" eaLnBrk="0"/>
            <a:r>
              <a:rPr sz="1100" b="0" lang="ko-KR" altLang="en-US">
                <a:solidFill>
                  <a:srgbClr val="9AA5BD"/>
                </a:solidFill>
                <a:latin typeface="Malgun Gothic"/>
                <a:ea typeface="Malgun Gothic"/>
              </a:rPr>
              <a:t>장애물</a:t>
            </a:r>
          </a:p>
        </p:txBody>
      </p:sp>
      <p:cxnSp>
        <p:nvCxnSpPr>
          <p:cNvPr id="22" name="Connector 21"/>
          <p:cNvCxnSpPr/>
          <p:nvPr/>
        </p:nvCxnSpPr>
        <p:spPr>
          <a:xfrm>
            <a:off x="7955279" y="4434840"/>
            <a:ext cx="3364993" cy="0"/>
          </a:xfrm>
          <a:prstGeom prst="line">
            <a:avLst/>
          </a:prstGeom>
          <a:ln w="12700">
            <a:solidFill>
              <a:srgbClr val="2A3A64"/>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955279" y="4599431"/>
            <a:ext cx="1794662" cy="502920"/>
          </a:xfrm>
          <a:prstGeom prst="rect">
            <a:avLst/>
          </a:prstGeom>
          <a:noFill/>
        </p:spPr>
        <p:txBody>
          <a:bodyPr wrap="square" anchor="t" lIns="0" rIns="0" tIns="0" bIns="0">
            <a:spAutoFit/>
          </a:bodyPr>
          <a:lstStyle/>
          <a:p>
            <a:pPr algn="l" eaLnBrk="0"/>
            <a:r>
              <a:rPr sz="2800" b="1" lang="ko-KR" altLang="en-US">
                <a:solidFill>
                  <a:srgbClr val="F5B700"/>
                </a:solidFill>
                <a:latin typeface="Malgun Gothic"/>
                <a:ea typeface="Malgun Gothic"/>
              </a:rPr>
              <a:t>6,000</a:t>
            </a:r>
          </a:p>
        </p:txBody>
      </p:sp>
      <p:sp>
        <p:nvSpPr>
          <p:cNvPr id="24" name="TextBox 23"/>
          <p:cNvSpPr txBox="1"/>
          <p:nvPr/>
        </p:nvSpPr>
        <p:spPr>
          <a:xfrm>
            <a:off x="7955279" y="5148072"/>
            <a:ext cx="1794662" cy="274320"/>
          </a:xfrm>
          <a:prstGeom prst="rect">
            <a:avLst/>
          </a:prstGeom>
          <a:noFill/>
        </p:spPr>
        <p:txBody>
          <a:bodyPr wrap="square" anchor="t" lIns="0" rIns="0" tIns="0" bIns="0">
            <a:spAutoFit/>
          </a:bodyPr>
          <a:lstStyle/>
          <a:p>
            <a:pPr algn="l" eaLnBrk="0"/>
            <a:r>
              <a:rPr sz="1100" b="0" lang="ko-KR" altLang="en-US">
                <a:solidFill>
                  <a:srgbClr val="9AA5BD"/>
                </a:solidFill>
                <a:latin typeface="Malgun Gothic"/>
                <a:ea typeface="Malgun Gothic"/>
              </a:rPr>
              <a:t>하루 호출(실험)</a:t>
            </a:r>
          </a:p>
        </p:txBody>
      </p:sp>
      <p:sp>
        <p:nvSpPr>
          <p:cNvPr id="25" name="TextBox 24"/>
          <p:cNvSpPr txBox="1"/>
          <p:nvPr/>
        </p:nvSpPr>
        <p:spPr>
          <a:xfrm>
            <a:off x="9749942" y="4599431"/>
            <a:ext cx="1794662" cy="502920"/>
          </a:xfrm>
          <a:prstGeom prst="rect">
            <a:avLst/>
          </a:prstGeom>
          <a:noFill/>
        </p:spPr>
        <p:txBody>
          <a:bodyPr wrap="square" anchor="t" lIns="0" rIns="0" tIns="0" bIns="0">
            <a:spAutoFit/>
          </a:bodyPr>
          <a:lstStyle/>
          <a:p>
            <a:pPr algn="l" eaLnBrk="0"/>
            <a:r>
              <a:rPr sz="2800" b="1" lang="ko-KR" altLang="en-US">
                <a:solidFill>
                  <a:srgbClr val="FFFFFF"/>
                </a:solidFill>
                <a:latin typeface="Malgun Gothic"/>
                <a:ea typeface="Malgun Gothic"/>
              </a:rPr>
              <a:t>6</a:t>
            </a:r>
          </a:p>
        </p:txBody>
      </p:sp>
      <p:sp>
        <p:nvSpPr>
          <p:cNvPr id="26" name="TextBox 25"/>
          <p:cNvSpPr txBox="1"/>
          <p:nvPr/>
        </p:nvSpPr>
        <p:spPr>
          <a:xfrm>
            <a:off x="9749942" y="5148072"/>
            <a:ext cx="1794662" cy="274320"/>
          </a:xfrm>
          <a:prstGeom prst="rect">
            <a:avLst/>
          </a:prstGeom>
          <a:noFill/>
        </p:spPr>
        <p:txBody>
          <a:bodyPr wrap="square" anchor="t" lIns="0" rIns="0" tIns="0" bIns="0">
            <a:spAutoFit/>
          </a:bodyPr>
          <a:lstStyle/>
          <a:p>
            <a:pPr algn="l" eaLnBrk="0"/>
            <a:r>
              <a:rPr sz="1100" b="0" lang="ko-KR" altLang="en-US">
                <a:solidFill>
                  <a:srgbClr val="9AA5BD"/>
                </a:solidFill>
                <a:latin typeface="Malgun Gothic"/>
                <a:ea typeface="Malgun Gothic"/>
              </a:rPr>
              <a:t>POI 카테고리</a:t>
            </a:r>
          </a:p>
        </p:txBody>
      </p:sp>
      <p:pic>
        <p:nvPicPr>
          <p:cNvPr id="27" name="Picture 26" descr="image.png"/>
          <p:cNvPicPr>
            <a:picLocks noChangeAspect="1"/>
          </p:cNvPicPr>
          <p:nvPr/>
        </p:nvPicPr>
        <p:blipFill>
          <a:blip r:embed="rId7"/>
          <a:stretch>
            <a:fillRect/>
          </a:stretch>
        </p:blipFill>
        <p:spPr>
          <a:xfrm>
            <a:off x="7635240" y="5788152"/>
            <a:ext cx="4005072" cy="2468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cxnSp>
        <p:nvCxnSpPr>
          <p:cNvPr id="30" name="Connector 29"/>
          <p:cNvCxnSpPr/>
          <p:nvPr/>
        </p:nvCxnSpPr>
        <p:spPr>
          <a:xfrm>
            <a:off x="822960" y="4892040"/>
            <a:ext cx="10515599"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09760" y="3291840"/>
            <a:ext cx="1920239"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040880" y="3291840"/>
            <a:ext cx="19202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509760" y="1828800"/>
            <a:ext cx="1920239"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40880" y="1828800"/>
            <a:ext cx="19202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Module 2 · 전처리 파이프라인</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3514672" y="6297473"/>
            <a:ext cx="784555" cy="362102"/>
          </a:xfrm>
          <a:prstGeom prst="rect">
            <a:avLst/>
          </a:prstGeom>
        </p:spPr>
      </p:pic>
      <p:sp>
        <p:nvSpPr>
          <p:cNvPr id="6" name="Shape 1"/>
          <p:cNvSpPr/>
          <p:nvPr/>
        </p:nvSpPr>
        <p:spPr>
          <a:xfrm>
            <a:off x="10058400" y="502920"/>
            <a:ext cx="1554480" cy="411480"/>
          </a:xfrm>
          <a:prstGeom prst="roundRect">
            <a:avLst>
              <a:gd name="adj" fmla="val 48889"/>
            </a:avLst>
          </a:prstGeom>
          <a:solidFill>
            <a:schemeClr val="accent2"/>
          </a:solidFill>
          <a:ln w="12700">
            <a:solidFill>
              <a:schemeClr val="accent2"/>
            </a:solidFill>
            <a:prstDash val="solid"/>
          </a:ln>
        </p:spPr>
      </p:sp>
      <p:sp>
        <p:nvSpPr>
          <p:cNvPr id="7" name="Text 2"/>
          <p:cNvSpPr txBox="1"/>
          <p:nvPr/>
        </p:nvSpPr>
        <p:spPr>
          <a:xfrm>
            <a:off x="10058400" y="502920"/>
            <a:ext cx="1554480" cy="411480"/>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완료</a:t>
            </a:r>
            <a:endParaRPr lang="ko-KR" sz="1300" dirty="0" altLang="en-US"/>
          </a:p>
        </p:txBody>
      </p:sp>
      <p:sp>
        <p:nvSpPr>
          <p:cNvPr id="8" name="Text 3"/>
          <p:cNvSpPr txBox="1"/>
          <p:nvPr/>
        </p:nvSpPr>
        <p:spPr>
          <a:xfrm>
            <a:off x="548640" y="1371600"/>
            <a:ext cx="5486400" cy="365760"/>
          </a:xfrm>
          <a:prstGeom prst="rect">
            <a:avLst/>
          </a:prstGeom>
          <a:noFill/>
          <a:ln/>
        </p:spPr>
        <p:txBody>
          <a:bodyPr wrap="square" lIns="0" tIns="0" rIns="0" bIns="0" rtlCol="0" anchor="t"/>
          <a:lstStyle/>
          <a:p>
            <a:pPr marL="0" indent="0" eaLnBrk="0">
              <a:buNone/>
            </a:pPr>
            <a:r>
              <a:rPr lang="ko-KR" sz="1800" b="1" dirty="0" altLang="en-US">
                <a:solidFill>
                  <a:schemeClr val="tx1"/>
                </a:solidFill>
              </a:rPr>
              <a:t>H3 해상도 비교 (강남역 로그)</a:t>
            </a:r>
            <a:endParaRPr lang="ko-KR" sz="1800" dirty="0" alt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8521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57200">
                <a:tc>
                  <a:txBody>
                    <a:bodyPr/>
                    <a:lstStyle/>
                    <a:p>
                      <a:pPr marL="0" indent="0" algn="ctr" eaLnBrk="0">
                        <a:buNone/>
                      </a:pPr>
                      <a:r>
                        <a:rPr lang="ko-KR" sz="1300" b="1" dirty="0" altLang="en-US">
                          <a:solidFill>
                            <a:schemeClr val="bg1"/>
                          </a:solidFill>
                          <a:latin typeface="Malgun Gothic" pitchFamily="34" charset="0"/>
                          <a:ea typeface="Malgun Gothic" pitchFamily="34" charset="-122"/>
                          <a:cs typeface="Malgun Gothic" pitchFamily="34" charset="-120"/>
                        </a:rPr>
                        <a:t>해상도</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tx1"/>
                    </a:solidFill>
                  </a:tcPr>
                </a:tc>
                <a:tc>
                  <a:txBody>
                    <a:bodyPr/>
                    <a:lstStyle/>
                    <a:p>
                      <a:pPr marL="0" indent="0" algn="ctr" eaLnBrk="0">
                        <a:buNone/>
                      </a:pPr>
                      <a:r>
                        <a:rPr lang="ko-KR" sz="1300" b="1" dirty="0" altLang="en-US">
                          <a:solidFill>
                            <a:schemeClr val="bg1"/>
                          </a:solidFill>
                          <a:latin typeface="Malgun Gothic" pitchFamily="34" charset="0"/>
                          <a:ea typeface="Malgun Gothic" pitchFamily="34" charset="-122"/>
                          <a:cs typeface="Malgun Gothic" pitchFamily="34" charset="-120"/>
                        </a:rPr>
                        <a:t>셀 수</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tx1"/>
                    </a:solidFill>
                  </a:tcPr>
                </a:tc>
                <a:tc>
                  <a:txBody>
                    <a:bodyPr/>
                    <a:lstStyle/>
                    <a:p>
                      <a:pPr marL="0" indent="0" algn="ctr" eaLnBrk="0">
                        <a:buNone/>
                      </a:pPr>
                      <a:r>
                        <a:rPr lang="ko-KR" sz="1300" b="1" dirty="0" altLang="en-US">
                          <a:solidFill>
                            <a:schemeClr val="bg1"/>
                          </a:solidFill>
                          <a:latin typeface="Malgun Gothic" pitchFamily="34" charset="0"/>
                          <a:ea typeface="Malgun Gothic" pitchFamily="34" charset="-122"/>
                          <a:cs typeface="Malgun Gothic" pitchFamily="34" charset="-120"/>
                        </a:rPr>
                        <a:t>판단</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lgn="ctr" eaLnBrk="0">
                        <a:buNone/>
                      </a:pPr>
                      <a:r>
                        <a:rPr lang="ko-KR" sz="1300" dirty="0" altLang="en-US">
                          <a:solidFill>
                            <a:schemeClr val="tx1"/>
                          </a:solidFill>
                          <a:latin typeface="Malgun Gothic" pitchFamily="34" charset="0"/>
                          <a:ea typeface="Malgun Gothic" pitchFamily="34" charset="-122"/>
                          <a:cs typeface="Malgun Gothic" pitchFamily="34" charset="-120"/>
                        </a:rPr>
                        <a:t>res 8</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bg2"/>
                    </a:solidFill>
                  </a:tcPr>
                </a:tc>
                <a:tc>
                  <a:txBody>
                    <a:bodyPr/>
                    <a:lstStyle/>
                    <a:p>
                      <a:pPr marL="0" indent="0" algn="ctr" eaLnBrk="0">
                        <a:buNone/>
                      </a:pPr>
                      <a:r>
                        <a:rPr lang="ko-KR" sz="1300" dirty="0" altLang="en-US">
                          <a:solidFill>
                            <a:schemeClr val="tx1"/>
                          </a:solidFill>
                          <a:latin typeface="Malgun Gothic" pitchFamily="34" charset="0"/>
                          <a:ea typeface="Malgun Gothic" pitchFamily="34" charset="-122"/>
                          <a:cs typeface="Malgun Gothic" pitchFamily="34" charset="-120"/>
                        </a:rPr>
                        <a:t>7개</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bg2"/>
                    </a:solidFill>
                  </a:tcPr>
                </a:tc>
                <a:tc>
                  <a:txBody>
                    <a:bodyPr/>
                    <a:lstStyle/>
                    <a:p>
                      <a:pPr marL="0" indent="0" algn="ctr" eaLnBrk="0">
                        <a:buNone/>
                      </a:pPr>
                      <a:r>
                        <a:rPr lang="ko-KR" sz="1300" dirty="0" altLang="en-US">
                          <a:solidFill>
                            <a:schemeClr val="tx1"/>
                          </a:solidFill>
                          <a:latin typeface="Malgun Gothic" pitchFamily="34" charset="0"/>
                          <a:ea typeface="Malgun Gothic" pitchFamily="34" charset="-122"/>
                          <a:cs typeface="Malgun Gothic" pitchFamily="34" charset="-120"/>
                        </a:rPr>
                        <a:t>너무 거침 (최다 셀에 35% 집중)</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lgn="ctr" eaLnBrk="0">
                        <a:buNone/>
                      </a:pPr>
                      <a:r>
                        <a:rPr lang="ko-KR" sz="1300" b="1" dirty="0" altLang="en-US">
                          <a:solidFill>
                            <a:schemeClr val="tx1"/>
                          </a:solidFill>
                          <a:latin typeface="Malgun Gothic" pitchFamily="34" charset="0"/>
                          <a:ea typeface="Malgun Gothic" pitchFamily="34" charset="-122"/>
                          <a:cs typeface="Malgun Gothic" pitchFamily="34" charset="-120"/>
                        </a:rPr>
                        <a:t>res 9</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accent1"/>
                    </a:solidFill>
                  </a:tcPr>
                </a:tc>
                <a:tc>
                  <a:txBody>
                    <a:bodyPr/>
                    <a:lstStyle/>
                    <a:p>
                      <a:pPr marL="0" indent="0" algn="ctr" eaLnBrk="0">
                        <a:buNone/>
                      </a:pPr>
                      <a:r>
                        <a:rPr lang="ko-KR" sz="1300" b="1" dirty="0" altLang="en-US">
                          <a:solidFill>
                            <a:schemeClr val="tx1"/>
                          </a:solidFill>
                          <a:latin typeface="Malgun Gothic" pitchFamily="34" charset="0"/>
                          <a:ea typeface="Malgun Gothic" pitchFamily="34" charset="-122"/>
                          <a:cs typeface="Malgun Gothic" pitchFamily="34" charset="-120"/>
                        </a:rPr>
                        <a:t>22개</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accent1"/>
                    </a:solidFill>
                  </a:tcPr>
                </a:tc>
                <a:tc>
                  <a:txBody>
                    <a:bodyPr/>
                    <a:lstStyle/>
                    <a:p>
                      <a:pPr marL="0" indent="0" algn="ctr" eaLnBrk="0">
                        <a:buNone/>
                      </a:pPr>
                      <a:r>
                        <a:rPr lang="ko-KR" sz="1300" b="1" dirty="0" altLang="en-US">
                          <a:solidFill>
                            <a:schemeClr val="tx1"/>
                          </a:solidFill>
                          <a:latin typeface="Malgun Gothic" pitchFamily="34" charset="0"/>
                          <a:ea typeface="Malgun Gothic" pitchFamily="34" charset="-122"/>
                          <a:cs typeface="Malgun Gothic" pitchFamily="34" charset="-120"/>
                        </a:rPr>
                        <a:t>채택 · 출근 핫스팟 5~6셀 식별</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457200">
                <a:tc>
                  <a:txBody>
                    <a:bodyPr/>
                    <a:lstStyle/>
                    <a:p>
                      <a:pPr marL="0" indent="0" algn="ctr" eaLnBrk="0">
                        <a:buNone/>
                      </a:pPr>
                      <a:r>
                        <a:rPr lang="ko-KR" sz="1300" dirty="0" altLang="en-US">
                          <a:solidFill>
                            <a:schemeClr val="tx1"/>
                          </a:solidFill>
                          <a:latin typeface="Malgun Gothic" pitchFamily="34" charset="0"/>
                          <a:ea typeface="Malgun Gothic" pitchFamily="34" charset="-122"/>
                          <a:cs typeface="Malgun Gothic" pitchFamily="34" charset="-120"/>
                        </a:rPr>
                        <a:t>res 10</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bg2"/>
                    </a:solidFill>
                  </a:tcPr>
                </a:tc>
                <a:tc>
                  <a:txBody>
                    <a:bodyPr/>
                    <a:lstStyle/>
                    <a:p>
                      <a:pPr marL="0" indent="0" algn="ctr" eaLnBrk="0">
                        <a:buNone/>
                      </a:pPr>
                      <a:r>
                        <a:rPr lang="ko-KR" sz="1300" dirty="0" altLang="en-US">
                          <a:solidFill>
                            <a:schemeClr val="tx1"/>
                          </a:solidFill>
                          <a:latin typeface="Malgun Gothic" pitchFamily="34" charset="0"/>
                          <a:ea typeface="Malgun Gothic" pitchFamily="34" charset="-122"/>
                          <a:cs typeface="Malgun Gothic" pitchFamily="34" charset="-120"/>
                        </a:rPr>
                        <a:t>70개</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bg2"/>
                    </a:solidFill>
                  </a:tcPr>
                </a:tc>
                <a:tc>
                  <a:txBody>
                    <a:bodyPr/>
                    <a:lstStyle/>
                    <a:p>
                      <a:pPr marL="0" indent="0" algn="ctr" eaLnBrk="0">
                        <a:buNone/>
                      </a:pPr>
                      <a:r>
                        <a:rPr lang="ko-KR" sz="1300" dirty="0" altLang="en-US">
                          <a:solidFill>
                            <a:schemeClr val="tx1"/>
                          </a:solidFill>
                          <a:latin typeface="Malgun Gothic" pitchFamily="34" charset="0"/>
                          <a:ea typeface="Malgun Gothic" pitchFamily="34" charset="-122"/>
                          <a:cs typeface="Malgun Gothic" pitchFamily="34" charset="-120"/>
                        </a:rPr>
                        <a:t>너무 잘게 쪼개짐 (0인 칸 37%)</a:t>
                      </a:r>
                      <a:endParaRPr lang="ko-KR" sz="1300" dirty="0" altLang="en-US">
                        <a:latin typeface="Malgun Gothic" charset="0"/>
                        <a:ea typeface="Malgun Gothic" charset="0"/>
                        <a:cs typeface="Malgun Gothic" charset="0"/>
                      </a:endParaRPr>
                    </a:p>
                  </a:txBody>
                  <a:tcPr anchor="ctr">
                    <a:lnL w="25400" cap="flat" cmpd="sng" algn="ctr">
                      <a:solidFill>
                        <a:schemeClr val="bg1"/>
                      </a:solidFill>
                      <a:prstDash val="solid"/>
                      <a:round/>
                      <a:headEnd type="none" w="med" len="med"/>
                      <a:tailEnd type="none" w="med" len="med"/>
                    </a:lnL>
                    <a:lnR w="25400" cap="flat" cmpd="sng" algn="ctr">
                      <a:solidFill>
                        <a:schemeClr val="bg1"/>
                      </a:solidFill>
                      <a:prstDash val="solid"/>
                      <a:round/>
                      <a:headEnd type="none" w="med" len="med"/>
                      <a:tailEnd type="none" w="med" len="med"/>
                    </a:lnR>
                    <a:lnT w="25400" cap="flat" cmpd="sng" algn="ctr">
                      <a:solidFill>
                        <a:schemeClr val="bg1"/>
                      </a:solidFill>
                      <a:prstDash val="solid"/>
                      <a:round/>
                      <a:headEnd type="none" w="med" len="med"/>
                      <a:tailEnd type="none" w="med" len="med"/>
                    </a:lnT>
                    <a:lnB w="254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10" name="Text 4"/>
          <p:cNvSpPr txBox="1"/>
          <p:nvPr/>
        </p:nvSpPr>
        <p:spPr>
          <a:xfrm>
            <a:off x="548640" y="4023360"/>
            <a:ext cx="5852160" cy="640080"/>
          </a:xfrm>
          <a:prstGeom prst="rect">
            <a:avLst/>
          </a:prstGeom>
          <a:noFill/>
          <a:ln/>
        </p:spPr>
        <p:txBody>
          <a:bodyPr wrap="square" lIns="0" tIns="0" rIns="0" bIns="0" rtlCol="0" anchor="t"/>
          <a:lstStyle/>
          <a:p>
            <a:pPr marL="0" indent="0" eaLnBrk="0">
              <a:buNone/>
            </a:pPr>
            <a:r>
              <a:rPr lang="ko-KR" sz="1400" dirty="0" altLang="en-US">
                <a:solidFill>
                  <a:schemeClr val="accent4"/>
                </a:solidFill>
              </a:rPr>
              <a:t>대용량 최적화: 중복 좌표는 한 번만 변환(np.unique) 후 되돌림</a:t>
            </a:r>
            <a:endParaRPr lang="ko-KR" sz="1400" dirty="0" altLang="en-US"/>
          </a:p>
        </p:txBody>
      </p:sp>
      <p:sp>
        <p:nvSpPr>
          <p:cNvPr id="11" name="Text 5"/>
          <p:cNvSpPr txBox="1"/>
          <p:nvPr/>
        </p:nvSpPr>
        <p:spPr>
          <a:xfrm>
            <a:off x="6858000" y="1371600"/>
            <a:ext cx="4572000" cy="365760"/>
          </a:xfrm>
          <a:prstGeom prst="rect">
            <a:avLst/>
          </a:prstGeom>
          <a:noFill/>
          <a:ln/>
        </p:spPr>
        <p:txBody>
          <a:bodyPr wrap="square" lIns="0" tIns="0" rIns="0" bIns="0" rtlCol="0" anchor="t"/>
          <a:lstStyle/>
          <a:p>
            <a:pPr marL="0" indent="0" eaLnBrk="0">
              <a:buNone/>
            </a:pPr>
            <a:r>
              <a:rPr lang="ko-KR" sz="1800" b="1" dirty="0" altLang="en-US">
                <a:solidFill>
                  <a:schemeClr val="tx1"/>
                </a:solidFill>
              </a:rPr>
              <a:t>생성 피처</a:t>
            </a:r>
            <a:endParaRPr lang="ko-KR" sz="1800" dirty="0" altLang="en-US"/>
          </a:p>
        </p:txBody>
      </p:sp>
      <p:sp>
        <p:nvSpPr>
          <p:cNvPr id="13" name="Text 7"/>
          <p:cNvSpPr txBox="1"/>
          <p:nvPr/>
        </p:nvSpPr>
        <p:spPr>
          <a:xfrm>
            <a:off x="7040880" y="1965960"/>
            <a:ext cx="1920240" cy="320040"/>
          </a:xfrm>
          <a:prstGeom prst="rect">
            <a:avLst/>
          </a:prstGeom>
          <a:noFill/>
          <a:ln/>
        </p:spPr>
        <p:txBody>
          <a:bodyPr wrap="square" lIns="0" tIns="0" rIns="0" bIns="0" rtlCol="0" anchor="t"/>
          <a:lstStyle/>
          <a:p>
            <a:pPr marL="0" indent="0" eaLnBrk="0">
              <a:buNone/>
            </a:pPr>
            <a:r>
              <a:rPr lang="ko-KR" sz="1500" b="1" dirty="0" altLang="en-US">
                <a:solidFill>
                  <a:schemeClr val="accent2"/>
                </a:solidFill>
              </a:rPr>
              <a:t>공간</a:t>
            </a:r>
            <a:endParaRPr lang="ko-KR" sz="1500" dirty="0" altLang="en-US"/>
          </a:p>
        </p:txBody>
      </p:sp>
      <p:sp>
        <p:nvSpPr>
          <p:cNvPr id="14" name="Text 8"/>
          <p:cNvSpPr txBox="1"/>
          <p:nvPr/>
        </p:nvSpPr>
        <p:spPr>
          <a:xfrm>
            <a:off x="7040880" y="2331720"/>
            <a:ext cx="2011680" cy="731520"/>
          </a:xfrm>
          <a:prstGeom prst="rect">
            <a:avLst/>
          </a:prstGeom>
          <a:noFill/>
          <a:ln/>
        </p:spPr>
        <p:txBody>
          <a:bodyPr wrap="square" lIns="0" tIns="0" rIns="0" bIns="0" rtlCol="0" anchor="t"/>
          <a:lstStyle/>
          <a:p>
            <a:pPr marL="0" indent="0" eaLnBrk="0">
              <a:buNone/>
            </a:pPr>
            <a:r>
              <a:rPr lang="ko-KR" sz="1300" dirty="0" altLang="en-US">
                <a:solidFill>
                  <a:schemeClr val="tx1"/>
                </a:solidFill>
              </a:rPr>
              <a:t>H3 셀 · Geohash</a:t>
            </a:r>
            <a:endParaRPr lang="ko-KR" sz="1300" dirty="0" altLang="en-US"/>
          </a:p>
        </p:txBody>
      </p:sp>
      <p:sp>
        <p:nvSpPr>
          <p:cNvPr id="16" name="Text 10"/>
          <p:cNvSpPr txBox="1"/>
          <p:nvPr/>
        </p:nvSpPr>
        <p:spPr>
          <a:xfrm>
            <a:off x="9509760" y="1965960"/>
            <a:ext cx="1920240" cy="320040"/>
          </a:xfrm>
          <a:prstGeom prst="rect">
            <a:avLst/>
          </a:prstGeom>
          <a:noFill/>
          <a:ln/>
        </p:spPr>
        <p:txBody>
          <a:bodyPr wrap="square" lIns="0" tIns="0" rIns="0" bIns="0" rtlCol="0" anchor="t"/>
          <a:lstStyle/>
          <a:p>
            <a:pPr marL="0" indent="0" eaLnBrk="0">
              <a:buNone/>
            </a:pPr>
            <a:r>
              <a:rPr lang="ko-KR" sz="1500" b="1" dirty="0" altLang="en-US">
                <a:solidFill>
                  <a:schemeClr val="accent2"/>
                </a:solidFill>
              </a:rPr>
              <a:t>시간</a:t>
            </a:r>
            <a:endParaRPr lang="ko-KR" sz="1500" dirty="0" altLang="en-US"/>
          </a:p>
        </p:txBody>
      </p:sp>
      <p:sp>
        <p:nvSpPr>
          <p:cNvPr id="17" name="Text 11"/>
          <p:cNvSpPr txBox="1"/>
          <p:nvPr/>
        </p:nvSpPr>
        <p:spPr>
          <a:xfrm>
            <a:off x="9509760" y="2331720"/>
            <a:ext cx="2011680" cy="731520"/>
          </a:xfrm>
          <a:prstGeom prst="rect">
            <a:avLst/>
          </a:prstGeom>
          <a:noFill/>
          <a:ln/>
        </p:spPr>
        <p:txBody>
          <a:bodyPr wrap="square" lIns="0" tIns="0" rIns="0" bIns="0" rtlCol="0" anchor="t"/>
          <a:lstStyle/>
          <a:p>
            <a:pPr marL="0" indent="0" eaLnBrk="0">
              <a:buNone/>
            </a:pPr>
            <a:r>
              <a:rPr lang="ko-KR" sz="1300" dirty="0" altLang="en-US">
                <a:solidFill>
                  <a:schemeClr val="tx1"/>
                </a:solidFill>
              </a:rPr>
              <a:t>시·요일·계절·공휴일</a:t>
            </a:r>
            <a:endParaRPr lang="ko-KR" sz="1300" dirty="0" altLang="en-US"/>
          </a:p>
          <a:p>
            <a:pPr marL="0" indent="0" eaLnBrk="0">
              <a:buNone/>
            </a:pPr>
            <a:r>
              <a:rPr lang="ko-KR" sz="1300" dirty="0" altLang="en-US">
                <a:solidFill>
                  <a:schemeClr val="tx1"/>
                </a:solidFill>
              </a:rPr>
              <a:t>sin/cos 순환 인코딩</a:t>
            </a:r>
            <a:endParaRPr lang="ko-KR" sz="1300" dirty="0" altLang="en-US"/>
          </a:p>
        </p:txBody>
      </p:sp>
      <p:sp>
        <p:nvSpPr>
          <p:cNvPr id="19" name="Text 13"/>
          <p:cNvSpPr txBox="1"/>
          <p:nvPr/>
        </p:nvSpPr>
        <p:spPr>
          <a:xfrm>
            <a:off x="7040880" y="3429000"/>
            <a:ext cx="1920240" cy="320040"/>
          </a:xfrm>
          <a:prstGeom prst="rect">
            <a:avLst/>
          </a:prstGeom>
          <a:noFill/>
          <a:ln/>
        </p:spPr>
        <p:txBody>
          <a:bodyPr wrap="square" lIns="0" tIns="0" rIns="0" bIns="0" rtlCol="0" anchor="t"/>
          <a:lstStyle/>
          <a:p>
            <a:pPr marL="0" indent="0" eaLnBrk="0">
              <a:buNone/>
            </a:pPr>
            <a:r>
              <a:rPr lang="ko-KR" sz="1500" b="1" dirty="0" altLang="en-US">
                <a:solidFill>
                  <a:schemeClr val="accent2"/>
                </a:solidFill>
              </a:rPr>
              <a:t>시차</a:t>
            </a:r>
            <a:endParaRPr lang="ko-KR" sz="1500" dirty="0" altLang="en-US"/>
          </a:p>
        </p:txBody>
      </p:sp>
      <p:sp>
        <p:nvSpPr>
          <p:cNvPr id="20" name="Text 14"/>
          <p:cNvSpPr txBox="1"/>
          <p:nvPr/>
        </p:nvSpPr>
        <p:spPr>
          <a:xfrm>
            <a:off x="7040880" y="3794760"/>
            <a:ext cx="2011680" cy="731520"/>
          </a:xfrm>
          <a:prstGeom prst="rect">
            <a:avLst/>
          </a:prstGeom>
          <a:noFill/>
          <a:ln/>
        </p:spPr>
        <p:txBody>
          <a:bodyPr wrap="square" lIns="0" tIns="0" rIns="0" bIns="0" rtlCol="0" anchor="t"/>
          <a:lstStyle/>
          <a:p>
            <a:pPr marL="0" indent="0" eaLnBrk="0">
              <a:buNone/>
            </a:pPr>
            <a:r>
              <a:rPr lang="ko-KR" sz="1300" dirty="0" altLang="en-US">
                <a:solidFill>
                  <a:schemeClr val="tx1"/>
                </a:solidFill>
              </a:rPr>
              <a:t>lag 1~6 · 이동평균</a:t>
            </a:r>
            <a:endParaRPr lang="ko-KR" sz="1300" dirty="0" altLang="en-US"/>
          </a:p>
          <a:p>
            <a:pPr marL="0" indent="0" eaLnBrk="0">
              <a:buNone/>
            </a:pPr>
            <a:r>
              <a:rPr lang="ko-KR" sz="1300" dirty="0" altLang="en-US">
                <a:solidFill>
                  <a:schemeClr val="tx1"/>
                </a:solidFill>
              </a:rPr>
              <a:t>지난주 같은 시간</a:t>
            </a:r>
            <a:endParaRPr lang="ko-KR" sz="1300" dirty="0" altLang="en-US"/>
          </a:p>
        </p:txBody>
      </p:sp>
      <p:sp>
        <p:nvSpPr>
          <p:cNvPr id="22" name="Text 16"/>
          <p:cNvSpPr txBox="1"/>
          <p:nvPr/>
        </p:nvSpPr>
        <p:spPr>
          <a:xfrm>
            <a:off x="9509760" y="3429000"/>
            <a:ext cx="1920240" cy="320040"/>
          </a:xfrm>
          <a:prstGeom prst="rect">
            <a:avLst/>
          </a:prstGeom>
          <a:noFill/>
          <a:ln/>
        </p:spPr>
        <p:txBody>
          <a:bodyPr wrap="square" lIns="0" tIns="0" rIns="0" bIns="0" rtlCol="0" anchor="t"/>
          <a:lstStyle/>
          <a:p>
            <a:pPr marL="0" indent="0" eaLnBrk="0">
              <a:buNone/>
            </a:pPr>
            <a:r>
              <a:rPr lang="ko-KR" sz="1500" b="1" dirty="0" altLang="en-US">
                <a:solidFill>
                  <a:schemeClr val="accent2"/>
                </a:solidFill>
              </a:rPr>
              <a:t>외부</a:t>
            </a:r>
            <a:endParaRPr lang="ko-KR" sz="1500" dirty="0" altLang="en-US"/>
          </a:p>
        </p:txBody>
      </p:sp>
      <p:sp>
        <p:nvSpPr>
          <p:cNvPr id="23" name="Text 17"/>
          <p:cNvSpPr txBox="1"/>
          <p:nvPr/>
        </p:nvSpPr>
        <p:spPr>
          <a:xfrm>
            <a:off x="9509760" y="3794760"/>
            <a:ext cx="2011680" cy="731520"/>
          </a:xfrm>
          <a:prstGeom prst="rect">
            <a:avLst/>
          </a:prstGeom>
          <a:noFill/>
          <a:ln/>
        </p:spPr>
        <p:txBody>
          <a:bodyPr wrap="square" lIns="0" tIns="0" rIns="0" bIns="0" rtlCol="0" anchor="t"/>
          <a:lstStyle/>
          <a:p>
            <a:pPr marL="0" indent="0" eaLnBrk="0">
              <a:buNone/>
            </a:pPr>
            <a:r>
              <a:rPr lang="ko-KR" sz="1300" dirty="0" altLang="en-US">
                <a:solidFill>
                  <a:schemeClr val="tx1"/>
                </a:solidFill>
              </a:rPr>
              <a:t>날씨(merge_asof)</a:t>
            </a:r>
            <a:endParaRPr lang="ko-KR" sz="1300" dirty="0" altLang="en-US"/>
          </a:p>
          <a:p>
            <a:pPr marL="0" indent="0" eaLnBrk="0">
              <a:buNone/>
            </a:pPr>
            <a:r>
              <a:rPr lang="ko-KR" sz="1300" dirty="0" altLang="en-US">
                <a:solidFill>
                  <a:schemeClr val="tx1"/>
                </a:solidFill>
              </a:rPr>
              <a:t>결측 플래그</a:t>
            </a:r>
            <a:endParaRPr lang="ko-KR" sz="1300" dirty="0" altLang="en-US"/>
          </a:p>
        </p:txBody>
      </p:sp>
      <p:sp>
        <p:nvSpPr>
          <p:cNvPr id="25" name="Text 19"/>
          <p:cNvSpPr txBox="1"/>
          <p:nvPr/>
        </p:nvSpPr>
        <p:spPr>
          <a:xfrm>
            <a:off x="822960" y="5029200"/>
            <a:ext cx="10515600" cy="777240"/>
          </a:xfrm>
          <a:prstGeom prst="rect">
            <a:avLst/>
          </a:prstGeom>
          <a:noFill/>
          <a:ln/>
        </p:spPr>
        <p:txBody>
          <a:bodyPr wrap="square" lIns="0" tIns="0" rIns="0" bIns="0" rtlCol="0" anchor="ctr"/>
          <a:lstStyle/>
          <a:p>
            <a:pPr marL="0" indent="0" eaLnBrk="0">
              <a:buNone/>
            </a:pPr>
            <a:r>
              <a:rPr lang="ko-KR" sz="1500" dirty="0" altLang="en-US">
                <a:solidFill>
                  <a:schemeClr val="tx1"/>
                </a:solidFill>
              </a:rPr>
              <a:t>누수 방지: 모든 피처는 shift(1) 이후 계산 · 날씨는 '그 시각 이전 가장 최근 관측'만 결합 · 수요 0인 칸도 행으로 채움</a:t>
            </a:r>
            <a:endParaRPr lang="ko-KR" sz="1500" dirty="0" altLang="en-US"/>
          </a:p>
        </p:txBody>
      </p:sp>
      <p:sp>
        <p:nvSpPr>
          <p:cNvPr id="9"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cxnSp>
        <p:nvCxnSpPr>
          <p:cNvPr id="28" name="Connector 27"/>
          <p:cNvCxnSpPr/>
          <p:nvPr/>
        </p:nvCxnSpPr>
        <p:spPr>
          <a:xfrm>
            <a:off x="8321040" y="1463040"/>
            <a:ext cx="3017520" cy="0"/>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572000" y="1463040"/>
            <a:ext cx="3017520"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22960" y="1463040"/>
            <a:ext cx="3017520"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Module 3 · 수요 예측 모델</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4256180" y="6297473"/>
            <a:ext cx="784555" cy="362102"/>
          </a:xfrm>
          <a:prstGeom prst="rect">
            <a:avLst/>
          </a:prstGeom>
        </p:spPr>
      </p:pic>
      <p:sp>
        <p:nvSpPr>
          <p:cNvPr id="6" name="Shape 1"/>
          <p:cNvSpPr/>
          <p:nvPr/>
        </p:nvSpPr>
        <p:spPr>
          <a:xfrm>
            <a:off x="10058400" y="502920"/>
            <a:ext cx="1554480" cy="411480"/>
          </a:xfrm>
          <a:prstGeom prst="roundRect">
            <a:avLst>
              <a:gd name="adj" fmla="val 48889"/>
            </a:avLst>
          </a:prstGeom>
          <a:solidFill>
            <a:schemeClr val="accent1"/>
          </a:solidFill>
          <a:ln w="12700">
            <a:solidFill>
              <a:schemeClr val="accent1"/>
            </a:solidFill>
            <a:prstDash val="solid"/>
          </a:ln>
        </p:spPr>
      </p:sp>
      <p:sp>
        <p:nvSpPr>
          <p:cNvPr id="7" name="Text 2"/>
          <p:cNvSpPr txBox="1"/>
          <p:nvPr/>
        </p:nvSpPr>
        <p:spPr>
          <a:xfrm>
            <a:off x="10058400" y="502920"/>
            <a:ext cx="1554480" cy="411480"/>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1차 평가 · 잠정</a:t>
            </a:r>
            <a:endParaRPr lang="ko-KR" sz="1300" dirty="0" altLang="en-US"/>
          </a:p>
        </p:txBody>
      </p:sp>
      <p:sp>
        <p:nvSpPr>
          <p:cNvPr id="10" name="Text 5"/>
          <p:cNvSpPr txBox="1"/>
          <p:nvPr/>
        </p:nvSpPr>
        <p:spPr>
          <a:xfrm>
            <a:off x="822960" y="1664208"/>
            <a:ext cx="2743200" cy="411480"/>
          </a:xfrm>
          <a:prstGeom prst="rect">
            <a:avLst/>
          </a:prstGeom>
          <a:noFill/>
          <a:ln/>
        </p:spPr>
        <p:txBody>
          <a:bodyPr wrap="square" lIns="0" tIns="0" rIns="0" bIns="0" rtlCol="0" anchor="ctr"/>
          <a:lstStyle/>
          <a:p>
            <a:pPr marL="0" indent="0" eaLnBrk="0">
              <a:buNone/>
            </a:pPr>
            <a:r>
              <a:rPr lang="ko-KR" sz="1800" b="1" dirty="0" altLang="en-US">
                <a:solidFill>
                  <a:schemeClr val="tx1"/>
                </a:solidFill>
              </a:rPr>
              <a:t>XGBoost</a:t>
            </a:r>
            <a:endParaRPr lang="ko-KR" sz="1800" dirty="0" altLang="en-US"/>
          </a:p>
        </p:txBody>
      </p:sp>
      <p:sp>
        <p:nvSpPr>
          <p:cNvPr id="11" name="Text 6"/>
          <p:cNvSpPr txBox="1"/>
          <p:nvPr/>
        </p:nvSpPr>
        <p:spPr>
          <a:xfrm>
            <a:off x="822960" y="2331720"/>
            <a:ext cx="3108960" cy="1700000"/>
          </a:xfrm>
          <a:prstGeom prst="rect">
            <a:avLst/>
          </a:prstGeom>
          <a:noFill/>
          <a:ln/>
        </p:spPr>
        <p:txBody>
          <a:bodyPr wrap="square" lIns="0" tIns="0" rIns="0" bIns="0" rtlCol="0" anchor="t"/>
          <a:lstStyle/>
          <a:p>
            <a:pPr marL="342900" indent="-342900" eaLnBrk="0">
              <a:spcAft>
                <a:spcPts val="600"/>
              </a:spcAft>
              <a:buSzPct val="100000"/>
              <a:buChar char="•"/>
            </a:pPr>
            <a:r>
              <a:rPr lang="ko-KR" sz="1600" dirty="0" altLang="en-US">
                <a:solidFill>
                  <a:schemeClr val="tx1"/>
                </a:solidFill>
              </a:rPr>
              <a:t>트리 기반 회귀, 표 형태 피처에 강함</a:t>
            </a:r>
            <a:endParaRPr lang="ko-KR" sz="1600" dirty="0" altLang="en-US"/>
          </a:p>
          <a:p>
            <a:pPr marL="342900" indent="-342900" eaLnBrk="0">
              <a:spcAft>
                <a:spcPts val="600"/>
              </a:spcAft>
              <a:buSzPct val="100000"/>
              <a:buChar char="•"/>
            </a:pPr>
            <a:r>
              <a:rPr lang="ko-KR" sz="1600" dirty="0" altLang="en-US">
                <a:solidFill>
                  <a:schemeClr val="tx1"/>
                </a:solidFill>
              </a:rPr>
              <a:t>GridSearchCV로 n_estimators · depth · lr 탐색</a:t>
            </a:r>
            <a:endParaRPr lang="ko-KR" sz="1600" dirty="0" altLang="en-US"/>
          </a:p>
          <a:p>
            <a:pPr marL="342900" indent="-342900" eaLnBrk="0">
              <a:spcAft>
                <a:spcPts val="600"/>
              </a:spcAft>
              <a:buSzPct val="100000"/>
              <a:buChar char="•"/>
            </a:pPr>
            <a:r>
              <a:rPr lang="ko-KR" sz="1600" dirty="0" altLang="en-US">
                <a:solidFill>
                  <a:schemeClr val="tx1"/>
                </a:solidFill>
              </a:rPr>
              <a:t>비교 기준 모델 역할</a:t>
            </a:r>
            <a:endParaRPr lang="ko-KR" sz="1600" dirty="0" altLang="en-US"/>
          </a:p>
        </p:txBody>
      </p:sp>
      <p:sp>
        <p:nvSpPr>
          <p:cNvPr id="14" name="Text 9"/>
          <p:cNvSpPr txBox="1"/>
          <p:nvPr/>
        </p:nvSpPr>
        <p:spPr>
          <a:xfrm>
            <a:off x="4572000" y="1664208"/>
            <a:ext cx="2743200" cy="411480"/>
          </a:xfrm>
          <a:prstGeom prst="rect">
            <a:avLst/>
          </a:prstGeom>
          <a:noFill/>
          <a:ln/>
        </p:spPr>
        <p:txBody>
          <a:bodyPr wrap="square" lIns="0" tIns="0" rIns="0" bIns="0" rtlCol="0" anchor="ctr"/>
          <a:lstStyle/>
          <a:p>
            <a:pPr marL="0" indent="0" eaLnBrk="0">
              <a:buNone/>
            </a:pPr>
            <a:r>
              <a:rPr lang="ko-KR" sz="1800" b="1" dirty="0" altLang="en-US">
                <a:solidFill>
                  <a:schemeClr val="tx1"/>
                </a:solidFill>
              </a:rPr>
              <a:t>CNN-LSTM</a:t>
            </a:r>
            <a:endParaRPr lang="ko-KR" sz="1800" dirty="0" altLang="en-US"/>
          </a:p>
        </p:txBody>
      </p:sp>
      <p:sp>
        <p:nvSpPr>
          <p:cNvPr id="15" name="Text 10"/>
          <p:cNvSpPr txBox="1"/>
          <p:nvPr/>
        </p:nvSpPr>
        <p:spPr>
          <a:xfrm>
            <a:off x="4572000" y="2331720"/>
            <a:ext cx="3108960" cy="1700000"/>
          </a:xfrm>
          <a:prstGeom prst="rect">
            <a:avLst/>
          </a:prstGeom>
          <a:noFill/>
          <a:ln/>
        </p:spPr>
        <p:txBody>
          <a:bodyPr wrap="square" lIns="0" tIns="0" rIns="0" bIns="0" rtlCol="0" anchor="t"/>
          <a:lstStyle/>
          <a:p>
            <a:pPr marL="342900" indent="-342900" eaLnBrk="0">
              <a:spcAft>
                <a:spcPts val="600"/>
              </a:spcAft>
              <a:buSzPct val="100000"/>
              <a:buChar char="•"/>
            </a:pPr>
            <a:r>
              <a:rPr lang="ko-KR" sz="1600" dirty="0" altLang="en-US">
                <a:solidFill>
                  <a:schemeClr val="tx1"/>
                </a:solidFill>
              </a:rPr>
              <a:t>Conv1D → LSTM(2층) → FC</a:t>
            </a:r>
            <a:endParaRPr lang="ko-KR" sz="1600" dirty="0" altLang="en-US"/>
          </a:p>
          <a:p>
            <a:pPr marL="342900" indent="-342900" eaLnBrk="0">
              <a:spcAft>
                <a:spcPts val="600"/>
              </a:spcAft>
              <a:buSzPct val="100000"/>
              <a:buChar char="•"/>
            </a:pPr>
            <a:r>
              <a:rPr lang="ko-KR" sz="1600" dirty="0" altLang="en-US">
                <a:solidFill>
                  <a:schemeClr val="tx1"/>
                </a:solidFill>
              </a:rPr>
              <a:t>지역 패턴 + 시간 의존성</a:t>
            </a:r>
            <a:endParaRPr lang="ko-KR" sz="1600" dirty="0" altLang="en-US"/>
          </a:p>
          <a:p>
            <a:pPr marL="342900" indent="-342900" eaLnBrk="0">
              <a:spcAft>
                <a:spcPts val="600"/>
              </a:spcAft>
              <a:buSzPct val="100000"/>
              <a:buChar char="•"/>
            </a:pPr>
            <a:r>
              <a:rPr lang="ko-KR" sz="1600" dirty="0" altLang="en-US">
                <a:solidFill>
                  <a:schemeClr val="tx1"/>
                </a:solidFill>
              </a:rPr>
              <a:t>MSE · Adam · 30 epoch</a:t>
            </a:r>
            <a:endParaRPr lang="ko-KR" sz="1600" dirty="0" altLang="en-US"/>
          </a:p>
        </p:txBody>
      </p:sp>
      <p:sp>
        <p:nvSpPr>
          <p:cNvPr id="18" name="Text 13"/>
          <p:cNvSpPr txBox="1"/>
          <p:nvPr/>
        </p:nvSpPr>
        <p:spPr>
          <a:xfrm>
            <a:off x="8321040" y="1664208"/>
            <a:ext cx="2743200" cy="411480"/>
          </a:xfrm>
          <a:prstGeom prst="rect">
            <a:avLst/>
          </a:prstGeom>
          <a:noFill/>
          <a:ln/>
        </p:spPr>
        <p:txBody>
          <a:bodyPr wrap="square" lIns="0" tIns="0" rIns="0" bIns="0" rtlCol="0" anchor="ctr"/>
          <a:lstStyle/>
          <a:p>
            <a:pPr marL="0" indent="0" eaLnBrk="0">
              <a:buNone/>
            </a:pPr>
            <a:r>
              <a:rPr lang="ko-KR" sz="1800" b="1" dirty="0" altLang="en-US">
                <a:solidFill>
                  <a:schemeClr val="tx1"/>
                </a:solidFill>
              </a:rPr>
              <a:t>평가 설계</a:t>
            </a:r>
            <a:endParaRPr lang="ko-KR" sz="1800" dirty="0" altLang="en-US"/>
          </a:p>
        </p:txBody>
      </p:sp>
      <p:sp>
        <p:nvSpPr>
          <p:cNvPr id="19" name="Text 14"/>
          <p:cNvSpPr txBox="1"/>
          <p:nvPr/>
        </p:nvSpPr>
        <p:spPr>
          <a:xfrm>
            <a:off x="8321040" y="2331720"/>
            <a:ext cx="3108960" cy="1700000"/>
          </a:xfrm>
          <a:prstGeom prst="rect">
            <a:avLst/>
          </a:prstGeom>
          <a:noFill/>
          <a:ln/>
        </p:spPr>
        <p:txBody>
          <a:bodyPr wrap="square" lIns="0" tIns="0" rIns="0" bIns="0" rtlCol="0" anchor="t"/>
          <a:lstStyle/>
          <a:p>
            <a:pPr marL="342900" indent="-342900" eaLnBrk="0">
              <a:spcAft>
                <a:spcPts val="600"/>
              </a:spcAft>
              <a:buSzPct val="100000"/>
              <a:buChar char="•"/>
            </a:pPr>
            <a:r>
              <a:rPr lang="ko-KR" sz="1600" dirty="0" altLang="en-US">
                <a:solidFill>
                  <a:schemeClr val="tx1"/>
                </a:solidFill>
              </a:rPr>
              <a:t>시간 순서 분할 (80 : 20), 셔플 없음</a:t>
            </a:r>
            <a:endParaRPr lang="ko-KR" sz="1600" dirty="0" altLang="en-US"/>
          </a:p>
          <a:p>
            <a:pPr marL="342900" indent="-342900" eaLnBrk="0">
              <a:spcAft>
                <a:spcPts val="600"/>
              </a:spcAft>
              <a:buSzPct val="100000"/>
              <a:buChar char="•"/>
            </a:pPr>
            <a:r>
              <a:rPr lang="ko-KR" sz="1600" dirty="0" altLang="en-US">
                <a:solidFill>
                  <a:schemeClr val="tx1"/>
                </a:solidFill>
              </a:rPr>
              <a:t>RMSE · MAE · MAPE · WAPE</a:t>
            </a:r>
            <a:endParaRPr lang="ko-KR" sz="1600" dirty="0" altLang="en-US"/>
          </a:p>
          <a:p>
            <a:pPr marL="342900" indent="-342900" eaLnBrk="0">
              <a:spcAft>
                <a:spcPts val="600"/>
              </a:spcAft>
              <a:buSzPct val="100000"/>
              <a:buChar char="•"/>
            </a:pPr>
            <a:r>
              <a:rPr lang="ko-KR" sz="1600" dirty="0" altLang="en-US">
                <a:solidFill>
                  <a:schemeClr val="tx1"/>
                </a:solidFill>
              </a:rPr>
              <a:t>수요가 0 근처일 때 MAPE가 불안정해 WAPE 병행</a:t>
            </a:r>
            <a:endParaRPr lang="ko-KR" sz="1600" dirty="0" altLang="en-US"/>
          </a:p>
        </p:txBody>
      </p:sp>
      <p:sp>
        <p:nvSpPr>
          <p:cNvPr id="20" name="Text 15"/>
          <p:cNvSpPr txBox="1"/>
          <p:nvPr/>
        </p:nvSpPr>
        <p:spPr>
          <a:xfrm>
            <a:off x="548640" y="5394960"/>
            <a:ext cx="11064240" cy="457200"/>
          </a:xfrm>
          <a:prstGeom prst="rect">
            <a:avLst/>
          </a:prstGeom>
          <a:noFill/>
          <a:ln/>
        </p:spPr>
        <p:txBody>
          <a:bodyPr wrap="square" lIns="0" tIns="0" rIns="0" bIns="0" rtlCol="0" anchor="t"/>
          <a:lstStyle/>
          <a:p>
            <a:pPr marL="0" indent="0" eaLnBrk="0">
              <a:buNone/>
            </a:pPr>
            <a:r>
              <a:rPr lang="ko-KR" sz="1500" b="1" dirty="0" altLang="en-US">
                <a:solidFill>
                  <a:schemeClr val="accent4"/>
                </a:solidFill>
              </a:rPr>
              <a:t>예측은 두 곳에 쓰인다: ① 카테고리별 예측 → RL 관측값  ② 격자 예측 → 수급 불균형 지표</a:t>
            </a:r>
            <a:endParaRPr lang="ko-KR" sz="1500" dirty="0" altLang="en-US"/>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7</a:t>
            </a:fld>
            <a:endParaRPr lang="ko-KR" altLang="en-US"/>
          </a:p>
        </p:txBody>
      </p:sp>
      <p:graphicFrame>
        <p:nvGraphicFramePr>
          <p:cNvPr id="29" name="성능표"/>
          <p:cNvGraphicFramePr>
            <a:graphicFrameLocks noGrp="1"/>
          </p:cNvGraphicFramePr>
          <p:nvPr/>
        </p:nvGraphicFramePr>
        <p:xfrm>
          <a:off x="822960" y="4150000"/>
          <a:ext cx="7498080" cy="1080000"/>
        </p:xfrm>
        <a:graphic>
          <a:graphicData uri="http://schemas.openxmlformats.org/drawingml/2006/table">
            <a:tbl>
              <a:tblPr firstRow="0" bandRow="0">
                <a:tableStyleId>{2D5ABB26-0587-4C30-8999-92F81FD0307C}</a:tableStyleId>
              </a:tblPr>
              <a:tblGrid>
                <a:gridCol w="2098080"/>
                <a:gridCol w="1350000"/>
                <a:gridCol w="1350000"/>
                <a:gridCol w="1350000"/>
                <a:gridCol w="1350000"/>
              </a:tblGrid>
              <a:tr h="360000">
                <a:tc>
                  <a:txBody>
                    <a:bodyPr/>
                    <a:lstStyle/>
                    <a:p>
                      <a:pPr algn="l"/>
                      <a:r>
                        <a:rPr sz="1400" b="1">
                          <a:solidFill>
                            <a:schemeClr val="bg1"/>
                          </a:solidFill>
                        </a:rPr>
                        <a:t>모델</a:t>
                      </a:r>
                    </a:p>
                  </a:txBody>
                  <a:tcPr anchor="ctr" marL="91440" marR="91440" marT="0" marB="0">
                    <a:solidFill>
                      <a:schemeClr val="tx2"/>
                    </a:solidFill>
                  </a:tcPr>
                </a:tc>
                <a:tc>
                  <a:txBody>
                    <a:bodyPr/>
                    <a:lstStyle/>
                    <a:p>
                      <a:pPr algn="ctr"/>
                      <a:r>
                        <a:rPr sz="1400" b="1">
                          <a:solidFill>
                            <a:schemeClr val="bg1"/>
                          </a:solidFill>
                        </a:rPr>
                        <a:t>RMSE</a:t>
                      </a:r>
                    </a:p>
                  </a:txBody>
                  <a:tcPr anchor="ctr" marL="91440" marR="91440" marT="0" marB="0">
                    <a:solidFill>
                      <a:schemeClr val="tx2"/>
                    </a:solidFill>
                  </a:tcPr>
                </a:tc>
                <a:tc>
                  <a:txBody>
                    <a:bodyPr/>
                    <a:lstStyle/>
                    <a:p>
                      <a:pPr algn="ctr"/>
                      <a:r>
                        <a:rPr sz="1400" b="1">
                          <a:solidFill>
                            <a:schemeClr val="bg1"/>
                          </a:solidFill>
                        </a:rPr>
                        <a:t>MAE</a:t>
                      </a:r>
                    </a:p>
                  </a:txBody>
                  <a:tcPr anchor="ctr" marL="91440" marR="91440" marT="0" marB="0">
                    <a:solidFill>
                      <a:schemeClr val="tx2"/>
                    </a:solidFill>
                  </a:tcPr>
                </a:tc>
                <a:tc>
                  <a:txBody>
                    <a:bodyPr/>
                    <a:lstStyle/>
                    <a:p>
                      <a:pPr algn="ctr"/>
                      <a:r>
                        <a:rPr sz="1400" b="1">
                          <a:solidFill>
                            <a:schemeClr val="bg1"/>
                          </a:solidFill>
                        </a:rPr>
                        <a:t>MAPE</a:t>
                      </a:r>
                    </a:p>
                  </a:txBody>
                  <a:tcPr anchor="ctr" marL="91440" marR="91440" marT="0" marB="0">
                    <a:solidFill>
                      <a:schemeClr val="tx2"/>
                    </a:solidFill>
                  </a:tcPr>
                </a:tc>
                <a:tc>
                  <a:txBody>
                    <a:bodyPr/>
                    <a:lstStyle/>
                    <a:p>
                      <a:pPr algn="ctr"/>
                      <a:r>
                        <a:rPr sz="1400" b="1">
                          <a:solidFill>
                            <a:schemeClr val="bg1"/>
                          </a:solidFill>
                        </a:rPr>
                        <a:t>WAPE</a:t>
                      </a:r>
                    </a:p>
                  </a:txBody>
                  <a:tcPr anchor="ctr" marL="91440" marR="91440" marT="0" marB="0">
                    <a:solidFill>
                      <a:schemeClr val="tx2"/>
                    </a:solidFill>
                  </a:tcPr>
                </a:tc>
              </a:tr>
              <a:tr h="360000">
                <a:tc>
                  <a:txBody>
                    <a:bodyPr/>
                    <a:lstStyle/>
                    <a:p>
                      <a:pPr algn="l"/>
                      <a:r>
                        <a:rPr sz="1400" b="1">
                          <a:solidFill>
                            <a:schemeClr val="tx1"/>
                          </a:solidFill>
                        </a:rPr>
                        <a:t>XGBoost</a:t>
                      </a:r>
                    </a:p>
                  </a:txBody>
                  <a:tcPr anchor="ctr" marL="91440" marR="91440" marT="0" marB="0">
                    <a:solidFill>
                      <a:schemeClr val="bg2"/>
                    </a:solidFill>
                  </a:tcPr>
                </a:tc>
                <a:tc>
                  <a:txBody>
                    <a:bodyPr/>
                    <a:lstStyle/>
                    <a:p>
                      <a:pPr algn="ctr"/>
                      <a:r>
                        <a:rPr sz="1400" b="0">
                          <a:solidFill>
                            <a:schemeClr val="tx1"/>
                          </a:solidFill>
                        </a:rPr>
                        <a:t>8.96</a:t>
                      </a:r>
                    </a:p>
                  </a:txBody>
                  <a:tcPr anchor="ctr" marL="91440" marR="91440" marT="0" marB="0">
                    <a:solidFill>
                      <a:schemeClr val="bg2"/>
                    </a:solidFill>
                  </a:tcPr>
                </a:tc>
                <a:tc>
                  <a:txBody>
                    <a:bodyPr/>
                    <a:lstStyle/>
                    <a:p>
                      <a:pPr algn="ctr"/>
                      <a:r>
                        <a:rPr sz="1400" b="0">
                          <a:solidFill>
                            <a:schemeClr val="tx1"/>
                          </a:solidFill>
                        </a:rPr>
                        <a:t>2.08</a:t>
                      </a:r>
                    </a:p>
                  </a:txBody>
                  <a:tcPr anchor="ctr" marL="91440" marR="91440" marT="0" marB="0">
                    <a:solidFill>
                      <a:schemeClr val="bg2"/>
                    </a:solidFill>
                  </a:tcPr>
                </a:tc>
                <a:tc>
                  <a:txBody>
                    <a:bodyPr/>
                    <a:lstStyle/>
                    <a:p>
                      <a:pPr algn="ctr"/>
                      <a:r>
                        <a:rPr sz="1400" b="0">
                          <a:solidFill>
                            <a:schemeClr val="tx1"/>
                          </a:solidFill>
                        </a:rPr>
                        <a:t>57.9%</a:t>
                      </a:r>
                    </a:p>
                  </a:txBody>
                  <a:tcPr anchor="ctr" marL="91440" marR="91440" marT="0" marB="0">
                    <a:solidFill>
                      <a:schemeClr val="bg2"/>
                    </a:solidFill>
                  </a:tcPr>
                </a:tc>
                <a:tc>
                  <a:txBody>
                    <a:bodyPr/>
                    <a:lstStyle/>
                    <a:p>
                      <a:pPr algn="ctr"/>
                      <a:r>
                        <a:rPr sz="1400" b="0">
                          <a:solidFill>
                            <a:schemeClr val="tx1"/>
                          </a:solidFill>
                        </a:rPr>
                        <a:t>28.6%</a:t>
                      </a:r>
                    </a:p>
                  </a:txBody>
                  <a:tcPr anchor="ctr" marL="91440" marR="91440" marT="0" marB="0">
                    <a:solidFill>
                      <a:schemeClr val="bg2"/>
                    </a:solidFill>
                  </a:tcPr>
                </a:tc>
              </a:tr>
              <a:tr h="360000">
                <a:tc>
                  <a:txBody>
                    <a:bodyPr/>
                    <a:lstStyle/>
                    <a:p>
                      <a:pPr algn="l"/>
                      <a:r>
                        <a:rPr sz="1400" b="1">
                          <a:solidFill>
                            <a:schemeClr val="tx1"/>
                          </a:solidFill>
                        </a:rPr>
                        <a:t>CNN-LSTM*</a:t>
                      </a:r>
                    </a:p>
                  </a:txBody>
                  <a:tcPr anchor="ctr" marL="91440" marR="91440" marT="0" marB="0">
                    <a:solidFill>
                      <a:schemeClr val="bg2"/>
                    </a:solidFill>
                  </a:tcPr>
                </a:tc>
                <a:tc>
                  <a:txBody>
                    <a:bodyPr/>
                    <a:lstStyle/>
                    <a:p>
                      <a:pPr algn="ctr"/>
                      <a:r>
                        <a:rPr sz="1400" b="0">
                          <a:solidFill>
                            <a:schemeClr val="tx1"/>
                          </a:solidFill>
                        </a:rPr>
                        <a:t>14.74</a:t>
                      </a:r>
                    </a:p>
                  </a:txBody>
                  <a:tcPr anchor="ctr" marL="91440" marR="91440" marT="0" marB="0">
                    <a:solidFill>
                      <a:schemeClr val="bg2"/>
                    </a:solidFill>
                  </a:tcPr>
                </a:tc>
                <a:tc>
                  <a:txBody>
                    <a:bodyPr/>
                    <a:lstStyle/>
                    <a:p>
                      <a:pPr algn="ctr"/>
                      <a:r>
                        <a:rPr sz="1400" b="0">
                          <a:solidFill>
                            <a:schemeClr val="tx1"/>
                          </a:solidFill>
                        </a:rPr>
                        <a:t>3.55</a:t>
                      </a:r>
                    </a:p>
                  </a:txBody>
                  <a:tcPr anchor="ctr" marL="91440" marR="91440" marT="0" marB="0">
                    <a:solidFill>
                      <a:schemeClr val="bg2"/>
                    </a:solidFill>
                  </a:tcPr>
                </a:tc>
                <a:tc>
                  <a:txBody>
                    <a:bodyPr/>
                    <a:lstStyle/>
                    <a:p>
                      <a:pPr algn="ctr"/>
                      <a:r>
                        <a:rPr sz="1400" b="0">
                          <a:solidFill>
                            <a:schemeClr val="tx1"/>
                          </a:solidFill>
                        </a:rPr>
                        <a:t>91.7%</a:t>
                      </a:r>
                    </a:p>
                  </a:txBody>
                  <a:tcPr anchor="ctr" marL="91440" marR="91440" marT="0" marB="0">
                    <a:solidFill>
                      <a:schemeClr val="bg2"/>
                    </a:solidFill>
                  </a:tcPr>
                </a:tc>
                <a:tc>
                  <a:txBody>
                    <a:bodyPr/>
                    <a:lstStyle/>
                    <a:p>
                      <a:pPr algn="ctr"/>
                      <a:r>
                        <a:rPr sz="1400" b="0">
                          <a:solidFill>
                            <a:schemeClr val="tx1"/>
                          </a:solidFill>
                        </a:rPr>
                        <a:t>48.9%</a:t>
                      </a:r>
                    </a:p>
                  </a:txBody>
                  <a:tcPr anchor="ctr" marL="91440" marR="91440" marT="0" marB="0">
                    <a:solidFill>
                      <a:schemeClr val="bg2"/>
                    </a:solidFill>
                  </a:tcPr>
                </a:tc>
              </a:tr>
            </a:tbl>
          </a:graphicData>
        </a:graphic>
      </p:graphicFrame>
      <p:sp>
        <p:nvSpPr>
          <p:cNvPr id="30" name="성능표 주석"/>
          <p:cNvSpPr txBox="1"/>
          <p:nvPr/>
        </p:nvSpPr>
        <p:spPr>
          <a:xfrm>
            <a:off x="8600000" y="4150000"/>
            <a:ext cx="3010000" cy="1080000"/>
          </a:xfrm>
          <a:prstGeom prst="rect">
            <a:avLst/>
          </a:prstGeom>
          <a:noFill/>
        </p:spPr>
        <p:txBody>
          <a:bodyPr wrap="square" lIns="0" rIns="0" tIns="0" bIns="0">
            <a:spAutoFit/>
          </a:bodyPr>
          <a:lstStyle/>
          <a:p>
            <a:pPr>
              <a:spcAft>
                <a:spcPts val="400"/>
              </a:spcAft>
            </a:pPr>
            <a:r>
              <a:rPr sz="1200">
                <a:solidFill>
                  <a:schemeClr val="tx1"/>
                </a:solidFill>
              </a:rPr>
              <a:t>테스트 9/30 15:00 ~ 10/9 (4,017행) · 타겟 y_h1</a:t>
            </a:r>
          </a:p>
          <a:p>
            <a:pPr>
              <a:spcAft>
                <a:spcPts val="400"/>
              </a:spcAft>
            </a:pPr>
            <a:r>
              <a:rPr sz="1200">
                <a:solidFill>
                  <a:schemeClr val="tx1"/>
                </a:solidFill>
              </a:rPr>
              <a:t>* CNN-LSTM 잠정: 저장 파일에 scaler가 없어 표준화 없이 평가됨 → 재평가 예정</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cxnSp>
        <p:nvCxnSpPr>
          <p:cNvPr id="58" name="Connector 57"/>
          <p:cNvCxnSpPr/>
          <p:nvPr/>
        </p:nvCxnSpPr>
        <p:spPr>
          <a:xfrm>
            <a:off x="9793224" y="4069080"/>
            <a:ext cx="16916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16368" y="4069080"/>
            <a:ext cx="16916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239512" y="4069080"/>
            <a:ext cx="16916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962656" y="4069080"/>
            <a:ext cx="16916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85800" y="4069080"/>
            <a:ext cx="16916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793224" y="1783080"/>
            <a:ext cx="16916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16368" y="1783080"/>
            <a:ext cx="16916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239512" y="1783080"/>
            <a:ext cx="16916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962656" y="1783080"/>
            <a:ext cx="16916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85800" y="1783080"/>
            <a:ext cx="169164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Module 4-1 · 어떻게 학습시키나</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4997688" y="6297473"/>
            <a:ext cx="784555" cy="362102"/>
          </a:xfrm>
          <a:prstGeom prst="rect">
            <a:avLst/>
          </a:prstGeom>
        </p:spPr>
      </p:pic>
      <p:sp>
        <p:nvSpPr>
          <p:cNvPr id="6" name="Shape 1"/>
          <p:cNvSpPr/>
          <p:nvPr/>
        </p:nvSpPr>
        <p:spPr>
          <a:xfrm>
            <a:off x="10058400" y="502920"/>
            <a:ext cx="1554480" cy="411480"/>
          </a:xfrm>
          <a:prstGeom prst="roundRect">
            <a:avLst>
              <a:gd name="adj" fmla="val 48889"/>
            </a:avLst>
          </a:prstGeom>
          <a:solidFill>
            <a:schemeClr val="accent2"/>
          </a:solidFill>
          <a:ln w="12700">
            <a:solidFill>
              <a:schemeClr val="accent2"/>
            </a:solidFill>
            <a:prstDash val="solid"/>
          </a:ln>
        </p:spPr>
      </p:sp>
      <p:sp>
        <p:nvSpPr>
          <p:cNvPr id="7" name="Text 2"/>
          <p:cNvSpPr txBox="1"/>
          <p:nvPr/>
        </p:nvSpPr>
        <p:spPr>
          <a:xfrm>
            <a:off x="10058400" y="502920"/>
            <a:ext cx="1554480" cy="411480"/>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구현 완료</a:t>
            </a:r>
            <a:endParaRPr lang="ko-KR" sz="1300" dirty="0" altLang="en-US"/>
          </a:p>
        </p:txBody>
      </p:sp>
      <p:sp>
        <p:nvSpPr>
          <p:cNvPr id="8" name="Text 3"/>
          <p:cNvSpPr txBox="1"/>
          <p:nvPr/>
        </p:nvSpPr>
        <p:spPr>
          <a:xfrm>
            <a:off x="548640" y="1325880"/>
            <a:ext cx="11064240" cy="365760"/>
          </a:xfrm>
          <a:prstGeom prst="rect">
            <a:avLst/>
          </a:prstGeom>
          <a:noFill/>
          <a:ln/>
        </p:spPr>
        <p:txBody>
          <a:bodyPr wrap="square" lIns="0" tIns="0" rIns="0" bIns="0" rtlCol="0" anchor="t"/>
          <a:lstStyle/>
          <a:p>
            <a:pPr marL="0" indent="0" eaLnBrk="0">
              <a:buNone/>
            </a:pPr>
            <a:r>
              <a:rPr lang="ko-KR" sz="1800" b="1" dirty="0" altLang="en-US">
                <a:solidFill>
                  <a:schemeClr val="accent2"/>
                </a:solidFill>
              </a:rPr>
              <a:t>① 수요 예측 모델 — 로그로 배운다 (지도학습)</a:t>
            </a:r>
            <a:endParaRPr lang="ko-KR" sz="1800" dirty="0" altLang="en-US"/>
          </a:p>
        </p:txBody>
      </p:sp>
      <p:sp>
        <p:nvSpPr>
          <p:cNvPr id="10" name="Text 5"/>
          <p:cNvSpPr txBox="1"/>
          <p:nvPr/>
        </p:nvSpPr>
        <p:spPr>
          <a:xfrm>
            <a:off x="685800" y="1892808"/>
            <a:ext cx="1691640" cy="365760"/>
          </a:xfrm>
          <a:prstGeom prst="rect">
            <a:avLst/>
          </a:prstGeom>
          <a:noFill/>
          <a:ln/>
        </p:spPr>
        <p:txBody>
          <a:bodyPr wrap="square" lIns="0" tIns="0" rIns="0" bIns="0" rtlCol="0" anchor="t"/>
          <a:lstStyle/>
          <a:p>
            <a:pPr marL="0" indent="0" algn="ctr" eaLnBrk="0">
              <a:buNone/>
            </a:pPr>
            <a:r>
              <a:rPr lang="ko-KR" sz="1500" b="1" dirty="0" altLang="en-US">
                <a:solidFill>
                  <a:schemeClr val="tx1"/>
                </a:solidFill>
              </a:rPr>
              <a:t>시뮬 로그</a:t>
            </a:r>
            <a:endParaRPr lang="ko-KR" sz="1500" dirty="0" altLang="en-US"/>
          </a:p>
        </p:txBody>
      </p:sp>
      <p:sp>
        <p:nvSpPr>
          <p:cNvPr id="11" name="Text 6"/>
          <p:cNvSpPr txBox="1"/>
          <p:nvPr/>
        </p:nvSpPr>
        <p:spPr>
          <a:xfrm>
            <a:off x="685800" y="2331720"/>
            <a:ext cx="1691640" cy="822960"/>
          </a:xfrm>
          <a:prstGeom prst="rect">
            <a:avLst/>
          </a:prstGeom>
          <a:noFill/>
          <a:ln/>
        </p:spPr>
        <p:txBody>
          <a:bodyPr wrap="square" lIns="0" tIns="0" rIns="0" bIns="0" rtlCol="0" anchor="t"/>
          <a:lstStyle/>
          <a:p>
            <a:pPr marL="0" indent="0" algn="ctr" eaLnBrk="0">
              <a:buNone/>
            </a:pPr>
            <a:r>
              <a:rPr lang="ko-KR" sz="1200" dirty="0" altLang="en-US">
                <a:solidFill>
                  <a:schemeClr val="accent4"/>
                </a:solidFill>
              </a:rPr>
              <a:t>승객 1명 = 호출 1건</a:t>
            </a:r>
            <a:endParaRPr lang="ko-KR" sz="1200" dirty="0" altLang="en-US"/>
          </a:p>
          <a:p>
            <a:pPr marL="0" indent="0" algn="ctr" eaLnBrk="0">
              <a:buNone/>
            </a:pPr>
            <a:r>
              <a:rPr lang="ko-KR" sz="1200" dirty="0" altLang="en-US">
                <a:solidFill>
                  <a:schemeClr val="accent4"/>
                </a:solidFill>
              </a:rPr>
              <a:t>GUI에서 학습 로그 선택</a:t>
            </a:r>
            <a:endParaRPr lang="ko-KR" sz="1200" dirty="0" altLang="en-US"/>
          </a:p>
        </p:txBody>
      </p:sp>
      <p:sp>
        <p:nvSpPr>
          <p:cNvPr id="12" name="Shape 7"/>
          <p:cNvSpPr/>
          <p:nvPr/>
        </p:nvSpPr>
        <p:spPr>
          <a:xfrm>
            <a:off x="2542032" y="2377440"/>
            <a:ext cx="256032" cy="256032"/>
          </a:xfrm>
          <a:prstGeom prst="rightArrow">
            <a:avLst/>
          </a:prstGeom>
          <a:solidFill>
            <a:schemeClr val="accent4"/>
          </a:solidFill>
          <a:ln w="12700">
            <a:solidFill>
              <a:schemeClr val="accent4"/>
            </a:solidFill>
            <a:prstDash val="solid"/>
          </a:ln>
        </p:spPr>
      </p:sp>
      <p:sp>
        <p:nvSpPr>
          <p:cNvPr id="14" name="Text 9"/>
          <p:cNvSpPr txBox="1"/>
          <p:nvPr/>
        </p:nvSpPr>
        <p:spPr>
          <a:xfrm>
            <a:off x="2962656" y="1892808"/>
            <a:ext cx="1691640" cy="365760"/>
          </a:xfrm>
          <a:prstGeom prst="rect">
            <a:avLst/>
          </a:prstGeom>
          <a:noFill/>
          <a:ln/>
        </p:spPr>
        <p:txBody>
          <a:bodyPr wrap="square" lIns="0" tIns="0" rIns="0" bIns="0" rtlCol="0" anchor="t"/>
          <a:lstStyle/>
          <a:p>
            <a:pPr marL="0" indent="0" algn="ctr" eaLnBrk="0">
              <a:buNone/>
            </a:pPr>
            <a:r>
              <a:rPr lang="ko-KR" sz="1500" b="1" dirty="0" altLang="en-US">
                <a:solidFill>
                  <a:schemeClr val="tx1"/>
                </a:solidFill>
              </a:rPr>
              <a:t>피처 테이블</a:t>
            </a:r>
            <a:endParaRPr lang="ko-KR" sz="1500" dirty="0" altLang="en-US"/>
          </a:p>
        </p:txBody>
      </p:sp>
      <p:sp>
        <p:nvSpPr>
          <p:cNvPr id="15" name="Text 10"/>
          <p:cNvSpPr txBox="1"/>
          <p:nvPr/>
        </p:nvSpPr>
        <p:spPr>
          <a:xfrm>
            <a:off x="2962656" y="2331720"/>
            <a:ext cx="1691640" cy="822960"/>
          </a:xfrm>
          <a:prstGeom prst="rect">
            <a:avLst/>
          </a:prstGeom>
          <a:noFill/>
          <a:ln/>
        </p:spPr>
        <p:txBody>
          <a:bodyPr wrap="square" lIns="0" tIns="0" rIns="0" bIns="0" rtlCol="0" anchor="t"/>
          <a:lstStyle/>
          <a:p>
            <a:pPr marL="0" indent="0" algn="ctr" eaLnBrk="0">
              <a:buNone/>
            </a:pPr>
            <a:r>
              <a:rPr lang="ko-KR" sz="1200" dirty="0" altLang="en-US">
                <a:solidFill>
                  <a:schemeClr val="accent4"/>
                </a:solidFill>
              </a:rPr>
              <a:t>H3·시간·날씨</a:t>
            </a:r>
            <a:endParaRPr lang="ko-KR" sz="1200" dirty="0" altLang="en-US"/>
          </a:p>
          <a:p>
            <a:pPr marL="0" indent="0" algn="ctr" eaLnBrk="0">
              <a:buNone/>
            </a:pPr>
            <a:r>
              <a:rPr lang="ko-KR" sz="1200" dirty="0" altLang="en-US">
                <a:solidFill>
                  <a:schemeClr val="accent4"/>
                </a:solidFill>
              </a:rPr>
              <a:t>lag · 이동평균</a:t>
            </a:r>
            <a:endParaRPr lang="ko-KR" sz="1200" dirty="0" altLang="en-US"/>
          </a:p>
        </p:txBody>
      </p:sp>
      <p:sp>
        <p:nvSpPr>
          <p:cNvPr id="16" name="Shape 11"/>
          <p:cNvSpPr/>
          <p:nvPr/>
        </p:nvSpPr>
        <p:spPr>
          <a:xfrm>
            <a:off x="4818888" y="2377440"/>
            <a:ext cx="256032" cy="256032"/>
          </a:xfrm>
          <a:prstGeom prst="rightArrow">
            <a:avLst/>
          </a:prstGeom>
          <a:solidFill>
            <a:schemeClr val="accent4"/>
          </a:solidFill>
          <a:ln w="12700">
            <a:solidFill>
              <a:schemeClr val="accent4"/>
            </a:solidFill>
            <a:prstDash val="solid"/>
          </a:ln>
        </p:spPr>
      </p:sp>
      <p:sp>
        <p:nvSpPr>
          <p:cNvPr id="18" name="Text 13"/>
          <p:cNvSpPr txBox="1"/>
          <p:nvPr/>
        </p:nvSpPr>
        <p:spPr>
          <a:xfrm>
            <a:off x="5239512" y="1892808"/>
            <a:ext cx="1691640" cy="365760"/>
          </a:xfrm>
          <a:prstGeom prst="rect">
            <a:avLst/>
          </a:prstGeom>
          <a:noFill/>
          <a:ln/>
        </p:spPr>
        <p:txBody>
          <a:bodyPr wrap="square" lIns="0" tIns="0" rIns="0" bIns="0" rtlCol="0" anchor="t"/>
          <a:lstStyle/>
          <a:p>
            <a:pPr marL="0" indent="0" algn="ctr" eaLnBrk="0">
              <a:buNone/>
            </a:pPr>
            <a:r>
              <a:rPr lang="ko-KR" sz="1500" b="1" dirty="0" altLang="en-US">
                <a:solidFill>
                  <a:schemeClr val="tx1"/>
                </a:solidFill>
              </a:rPr>
              <a:t>시간순 분할</a:t>
            </a:r>
            <a:endParaRPr lang="ko-KR" sz="1500" dirty="0" altLang="en-US"/>
          </a:p>
        </p:txBody>
      </p:sp>
      <p:sp>
        <p:nvSpPr>
          <p:cNvPr id="19" name="Text 14"/>
          <p:cNvSpPr txBox="1"/>
          <p:nvPr/>
        </p:nvSpPr>
        <p:spPr>
          <a:xfrm>
            <a:off x="5239512" y="2331720"/>
            <a:ext cx="1691640" cy="822960"/>
          </a:xfrm>
          <a:prstGeom prst="rect">
            <a:avLst/>
          </a:prstGeom>
          <a:noFill/>
          <a:ln/>
        </p:spPr>
        <p:txBody>
          <a:bodyPr wrap="square" lIns="0" tIns="0" rIns="0" bIns="0" rtlCol="0" anchor="t"/>
          <a:lstStyle/>
          <a:p>
            <a:pPr marL="0" indent="0" algn="ctr" eaLnBrk="0">
              <a:buNone/>
            </a:pPr>
            <a:r>
              <a:rPr lang="ko-KR" sz="1200" dirty="0" altLang="en-US">
                <a:solidFill>
                  <a:schemeClr val="accent4"/>
                </a:solidFill>
              </a:rPr>
              <a:t>학습 80 : 테스트 20</a:t>
            </a:r>
            <a:endParaRPr lang="ko-KR" sz="1200" dirty="0" altLang="en-US"/>
          </a:p>
          <a:p>
            <a:pPr marL="0" indent="0" algn="ctr" eaLnBrk="0">
              <a:buNone/>
            </a:pPr>
            <a:r>
              <a:rPr lang="ko-KR" sz="1200" dirty="0" altLang="en-US">
                <a:solidFill>
                  <a:schemeClr val="accent4"/>
                </a:solidFill>
              </a:rPr>
              <a:t>셔플 없음</a:t>
            </a:r>
            <a:endParaRPr lang="ko-KR" sz="1200" dirty="0" altLang="en-US"/>
          </a:p>
        </p:txBody>
      </p:sp>
      <p:sp>
        <p:nvSpPr>
          <p:cNvPr id="20" name="Shape 15"/>
          <p:cNvSpPr/>
          <p:nvPr/>
        </p:nvSpPr>
        <p:spPr>
          <a:xfrm>
            <a:off x="7095744" y="2377440"/>
            <a:ext cx="256032" cy="256032"/>
          </a:xfrm>
          <a:prstGeom prst="rightArrow">
            <a:avLst/>
          </a:prstGeom>
          <a:solidFill>
            <a:schemeClr val="accent4"/>
          </a:solidFill>
          <a:ln w="12700">
            <a:solidFill>
              <a:schemeClr val="accent4"/>
            </a:solidFill>
            <a:prstDash val="solid"/>
          </a:ln>
        </p:spPr>
      </p:sp>
      <p:sp>
        <p:nvSpPr>
          <p:cNvPr id="22" name="Text 17"/>
          <p:cNvSpPr txBox="1"/>
          <p:nvPr/>
        </p:nvSpPr>
        <p:spPr>
          <a:xfrm>
            <a:off x="7516368" y="1892808"/>
            <a:ext cx="1691640" cy="365760"/>
          </a:xfrm>
          <a:prstGeom prst="rect">
            <a:avLst/>
          </a:prstGeom>
          <a:noFill/>
          <a:ln/>
        </p:spPr>
        <p:txBody>
          <a:bodyPr wrap="square" lIns="0" tIns="0" rIns="0" bIns="0" rtlCol="0" anchor="t"/>
          <a:lstStyle/>
          <a:p>
            <a:pPr marL="0" indent="0" algn="ctr" eaLnBrk="0">
              <a:buNone/>
            </a:pPr>
            <a:r>
              <a:rPr lang="ko-KR" sz="1500" b="1" dirty="0" altLang="en-US">
                <a:solidFill>
                  <a:schemeClr val="tx1"/>
                </a:solidFill>
              </a:rPr>
              <a:t>모델 학습</a:t>
            </a:r>
            <a:endParaRPr lang="ko-KR" sz="1500" dirty="0" altLang="en-US"/>
          </a:p>
        </p:txBody>
      </p:sp>
      <p:sp>
        <p:nvSpPr>
          <p:cNvPr id="23" name="Text 18"/>
          <p:cNvSpPr txBox="1"/>
          <p:nvPr/>
        </p:nvSpPr>
        <p:spPr>
          <a:xfrm>
            <a:off x="7516368" y="2331720"/>
            <a:ext cx="1691640" cy="822960"/>
          </a:xfrm>
          <a:prstGeom prst="rect">
            <a:avLst/>
          </a:prstGeom>
          <a:noFill/>
          <a:ln/>
        </p:spPr>
        <p:txBody>
          <a:bodyPr wrap="square" lIns="0" tIns="0" rIns="0" bIns="0" rtlCol="0" anchor="t"/>
          <a:lstStyle/>
          <a:p>
            <a:pPr marL="0" indent="0" algn="ctr" eaLnBrk="0">
              <a:buNone/>
            </a:pPr>
            <a:r>
              <a:rPr lang="ko-KR" sz="1200" dirty="0" altLang="en-US">
                <a:solidFill>
                  <a:schemeClr val="accent4"/>
                </a:solidFill>
              </a:rPr>
              <a:t>XGBoost: GridSearch</a:t>
            </a:r>
            <a:endParaRPr lang="ko-KR" sz="1200" dirty="0" altLang="en-US"/>
          </a:p>
          <a:p>
            <a:pPr marL="0" indent="0" algn="ctr" eaLnBrk="0">
              <a:buNone/>
            </a:pPr>
            <a:r>
              <a:rPr lang="ko-KR" sz="1200" dirty="0" altLang="en-US">
                <a:solidFill>
                  <a:schemeClr val="accent4"/>
                </a:solidFill>
              </a:rPr>
              <a:t>CNN-LSTM: 30 epoch</a:t>
            </a:r>
            <a:endParaRPr lang="ko-KR" sz="1200" dirty="0" altLang="en-US"/>
          </a:p>
        </p:txBody>
      </p:sp>
      <p:sp>
        <p:nvSpPr>
          <p:cNvPr id="24" name="Shape 19"/>
          <p:cNvSpPr/>
          <p:nvPr/>
        </p:nvSpPr>
        <p:spPr>
          <a:xfrm>
            <a:off x="9372600" y="2377440"/>
            <a:ext cx="256032" cy="256032"/>
          </a:xfrm>
          <a:prstGeom prst="rightArrow">
            <a:avLst/>
          </a:prstGeom>
          <a:solidFill>
            <a:schemeClr val="accent4"/>
          </a:solidFill>
          <a:ln w="12700">
            <a:solidFill>
              <a:schemeClr val="accent4"/>
            </a:solidFill>
            <a:prstDash val="solid"/>
          </a:ln>
        </p:spPr>
      </p:sp>
      <p:sp>
        <p:nvSpPr>
          <p:cNvPr id="26" name="Text 21"/>
          <p:cNvSpPr txBox="1"/>
          <p:nvPr/>
        </p:nvSpPr>
        <p:spPr>
          <a:xfrm>
            <a:off x="9793224" y="1892808"/>
            <a:ext cx="1691640" cy="365760"/>
          </a:xfrm>
          <a:prstGeom prst="rect">
            <a:avLst/>
          </a:prstGeom>
          <a:noFill/>
          <a:ln/>
        </p:spPr>
        <p:txBody>
          <a:bodyPr wrap="square" lIns="0" tIns="0" rIns="0" bIns="0" rtlCol="0" anchor="t"/>
          <a:lstStyle/>
          <a:p>
            <a:pPr marL="0" indent="0" algn="ctr" eaLnBrk="0">
              <a:buNone/>
            </a:pPr>
            <a:r>
              <a:rPr lang="ko-KR" sz="1500" b="1" dirty="0" altLang="en-US">
                <a:solidFill>
                  <a:schemeClr val="tx1"/>
                </a:solidFill>
              </a:rPr>
              <a:t>저장 · 연결</a:t>
            </a:r>
            <a:endParaRPr lang="ko-KR" sz="1500" dirty="0" altLang="en-US"/>
          </a:p>
        </p:txBody>
      </p:sp>
      <p:sp>
        <p:nvSpPr>
          <p:cNvPr id="27" name="Text 22"/>
          <p:cNvSpPr txBox="1"/>
          <p:nvPr/>
        </p:nvSpPr>
        <p:spPr>
          <a:xfrm>
            <a:off x="9793224" y="2331720"/>
            <a:ext cx="1691640" cy="822960"/>
          </a:xfrm>
          <a:prstGeom prst="rect">
            <a:avLst/>
          </a:prstGeom>
          <a:noFill/>
          <a:ln/>
        </p:spPr>
        <p:txBody>
          <a:bodyPr wrap="square" lIns="0" tIns="0" rIns="0" bIns="0" rtlCol="0" anchor="t"/>
          <a:lstStyle/>
          <a:p>
            <a:pPr marL="0" indent="0" algn="ctr" eaLnBrk="0">
              <a:buNone/>
            </a:pPr>
            <a:r>
              <a:rPr lang="ko-KR" sz="1200" dirty="0" altLang="en-US">
                <a:solidFill>
                  <a:schemeClr val="accent4"/>
                </a:solidFill>
              </a:rPr>
              <a:t>카테고리별 예측 모델을</a:t>
            </a:r>
            <a:endParaRPr lang="ko-KR" sz="1200" dirty="0" altLang="en-US"/>
          </a:p>
          <a:p>
            <a:pPr marL="0" indent="0" algn="ctr" eaLnBrk="0">
              <a:buNone/>
            </a:pPr>
            <a:r>
              <a:rPr lang="ko-KR" sz="1200" dirty="0" altLang="en-US">
                <a:solidFill>
                  <a:schemeClr val="accent4"/>
                </a:solidFill>
              </a:rPr>
              <a:t>RL 관측값으로 연결</a:t>
            </a:r>
            <a:endParaRPr lang="ko-KR" sz="1200" dirty="0" altLang="en-US"/>
          </a:p>
        </p:txBody>
      </p:sp>
      <p:sp>
        <p:nvSpPr>
          <p:cNvPr id="28" name="Text 23"/>
          <p:cNvSpPr txBox="1"/>
          <p:nvPr/>
        </p:nvSpPr>
        <p:spPr>
          <a:xfrm>
            <a:off x="548640" y="3611880"/>
            <a:ext cx="11064240" cy="365760"/>
          </a:xfrm>
          <a:prstGeom prst="rect">
            <a:avLst/>
          </a:prstGeom>
          <a:noFill/>
          <a:ln/>
        </p:spPr>
        <p:txBody>
          <a:bodyPr wrap="square" lIns="0" tIns="0" rIns="0" bIns="0" rtlCol="0" anchor="t"/>
          <a:lstStyle/>
          <a:p>
            <a:pPr marL="0" indent="0" eaLnBrk="0">
              <a:buNone/>
            </a:pPr>
            <a:r>
              <a:rPr lang="ko-KR" sz="1800" b="1" dirty="0" altLang="en-US">
                <a:solidFill>
                  <a:schemeClr val="accent1"/>
                </a:solidFill>
              </a:rPr>
              <a:t>② 재배치 정책 — 시뮬레이션에서 직접 배운다 (PPO 강화학습)</a:t>
            </a:r>
            <a:endParaRPr lang="ko-KR" sz="1800" dirty="0" altLang="en-US"/>
          </a:p>
        </p:txBody>
      </p:sp>
      <p:sp>
        <p:nvSpPr>
          <p:cNvPr id="30" name="Text 25"/>
          <p:cNvSpPr txBox="1"/>
          <p:nvPr/>
        </p:nvSpPr>
        <p:spPr>
          <a:xfrm>
            <a:off x="685800" y="4178808"/>
            <a:ext cx="1691640" cy="365760"/>
          </a:xfrm>
          <a:prstGeom prst="rect">
            <a:avLst/>
          </a:prstGeom>
          <a:noFill/>
          <a:ln/>
        </p:spPr>
        <p:txBody>
          <a:bodyPr wrap="square" lIns="0" tIns="0" rIns="0" bIns="0" rtlCol="0" anchor="t"/>
          <a:lstStyle/>
          <a:p>
            <a:pPr marL="0" indent="0" algn="ctr" eaLnBrk="0">
              <a:buNone/>
            </a:pPr>
            <a:r>
              <a:rPr lang="ko-KR" sz="1500" b="1" dirty="0" altLang="en-US">
                <a:solidFill>
                  <a:schemeClr val="tx1"/>
                </a:solidFill>
              </a:rPr>
              <a:t>에피소드</a:t>
            </a:r>
            <a:endParaRPr lang="ko-KR" sz="1500" dirty="0" altLang="en-US"/>
          </a:p>
        </p:txBody>
      </p:sp>
      <p:sp>
        <p:nvSpPr>
          <p:cNvPr id="31" name="Text 26"/>
          <p:cNvSpPr txBox="1"/>
          <p:nvPr/>
        </p:nvSpPr>
        <p:spPr>
          <a:xfrm>
            <a:off x="685800" y="4617720"/>
            <a:ext cx="1691640" cy="822960"/>
          </a:xfrm>
          <a:prstGeom prst="rect">
            <a:avLst/>
          </a:prstGeom>
          <a:noFill/>
          <a:ln/>
        </p:spPr>
        <p:txBody>
          <a:bodyPr wrap="square" lIns="0" tIns="0" rIns="0" bIns="0" rtlCol="0" anchor="t"/>
          <a:lstStyle/>
          <a:p>
            <a:pPr marL="0" indent="0" algn="ctr" eaLnBrk="0">
              <a:buNone/>
            </a:pPr>
            <a:r>
              <a:rPr lang="ko-KR" sz="1200" dirty="0" altLang="en-US">
                <a:solidFill>
                  <a:schemeClr val="accent4"/>
                </a:solidFill>
              </a:rPr>
              <a:t>SUMO 하루 시뮬</a:t>
            </a:r>
            <a:endParaRPr lang="ko-KR" sz="1200" dirty="0" altLang="en-US"/>
          </a:p>
          <a:p>
            <a:pPr marL="0" indent="0" algn="ctr" eaLnBrk="0">
              <a:buNone/>
            </a:pPr>
            <a:r>
              <a:rPr lang="ko-KR" sz="1200" dirty="0" altLang="en-US">
                <a:solidFill>
                  <a:schemeClr val="accent4"/>
                </a:solidFill>
              </a:rPr>
              <a:t>1분마다 판단 (최대 60회)</a:t>
            </a:r>
            <a:endParaRPr lang="ko-KR" sz="1200" dirty="0" altLang="en-US"/>
          </a:p>
        </p:txBody>
      </p:sp>
      <p:sp>
        <p:nvSpPr>
          <p:cNvPr id="32" name="Shape 27"/>
          <p:cNvSpPr/>
          <p:nvPr/>
        </p:nvSpPr>
        <p:spPr>
          <a:xfrm>
            <a:off x="2542032" y="4663440"/>
            <a:ext cx="256032" cy="256032"/>
          </a:xfrm>
          <a:prstGeom prst="rightArrow">
            <a:avLst/>
          </a:prstGeom>
          <a:solidFill>
            <a:schemeClr val="accent4"/>
          </a:solidFill>
          <a:ln w="12700">
            <a:solidFill>
              <a:schemeClr val="accent4"/>
            </a:solidFill>
            <a:prstDash val="solid"/>
          </a:ln>
        </p:spPr>
      </p:sp>
      <p:sp>
        <p:nvSpPr>
          <p:cNvPr id="34" name="Text 29"/>
          <p:cNvSpPr txBox="1"/>
          <p:nvPr/>
        </p:nvSpPr>
        <p:spPr>
          <a:xfrm>
            <a:off x="2962656" y="4178808"/>
            <a:ext cx="1691640" cy="365760"/>
          </a:xfrm>
          <a:prstGeom prst="rect">
            <a:avLst/>
          </a:prstGeom>
          <a:noFill/>
          <a:ln/>
        </p:spPr>
        <p:txBody>
          <a:bodyPr wrap="square" lIns="0" tIns="0" rIns="0" bIns="0" rtlCol="0" anchor="t"/>
          <a:lstStyle/>
          <a:p>
            <a:pPr marL="0" indent="0" algn="ctr" eaLnBrk="0">
              <a:buNone/>
            </a:pPr>
            <a:r>
              <a:rPr lang="ko-KR" sz="1500" b="1" dirty="0" altLang="en-US">
                <a:solidFill>
                  <a:schemeClr val="tx1"/>
                </a:solidFill>
              </a:rPr>
              <a:t>관측</a:t>
            </a:r>
            <a:endParaRPr lang="ko-KR" sz="1500" dirty="0" altLang="en-US"/>
          </a:p>
        </p:txBody>
      </p:sp>
      <p:sp>
        <p:nvSpPr>
          <p:cNvPr id="35" name="Text 30"/>
          <p:cNvSpPr txBox="1"/>
          <p:nvPr/>
        </p:nvSpPr>
        <p:spPr>
          <a:xfrm>
            <a:off x="2962656" y="4617720"/>
            <a:ext cx="1691640" cy="822960"/>
          </a:xfrm>
          <a:prstGeom prst="rect">
            <a:avLst/>
          </a:prstGeom>
          <a:noFill/>
          <a:ln/>
        </p:spPr>
        <p:txBody>
          <a:bodyPr wrap="square" lIns="0" tIns="0" rIns="0" bIns="0" rtlCol="0" anchor="t"/>
          <a:lstStyle/>
          <a:p>
            <a:pPr marL="0" indent="0" algn="ctr" eaLnBrk="0">
              <a:buNone/>
            </a:pPr>
            <a:r>
              <a:rPr lang="ko-KR" sz="1200" dirty="0" altLang="en-US">
                <a:solidFill>
                  <a:schemeClr val="accent4"/>
                </a:solidFill>
              </a:rPr>
              <a:t>대기 승객 · 유휴 택시</a:t>
            </a:r>
            <a:endParaRPr lang="ko-KR" sz="1200" dirty="0" altLang="en-US"/>
          </a:p>
          <a:p>
            <a:pPr marL="0" indent="0" algn="ctr" eaLnBrk="0">
              <a:buNone/>
            </a:pPr>
            <a:r>
              <a:rPr lang="ko-KR" sz="1200" dirty="0" altLang="en-US">
                <a:solidFill>
                  <a:schemeClr val="accent4"/>
                </a:solidFill>
              </a:rPr>
              <a:t>예측 수요 · 시각</a:t>
            </a:r>
            <a:endParaRPr lang="ko-KR" sz="1200" dirty="0" altLang="en-US"/>
          </a:p>
        </p:txBody>
      </p:sp>
      <p:sp>
        <p:nvSpPr>
          <p:cNvPr id="36" name="Shape 31"/>
          <p:cNvSpPr/>
          <p:nvPr/>
        </p:nvSpPr>
        <p:spPr>
          <a:xfrm>
            <a:off x="4818888" y="4663440"/>
            <a:ext cx="256032" cy="256032"/>
          </a:xfrm>
          <a:prstGeom prst="rightArrow">
            <a:avLst/>
          </a:prstGeom>
          <a:solidFill>
            <a:schemeClr val="accent4"/>
          </a:solidFill>
          <a:ln w="12700">
            <a:solidFill>
              <a:schemeClr val="accent4"/>
            </a:solidFill>
            <a:prstDash val="solid"/>
          </a:ln>
        </p:spPr>
      </p:sp>
      <p:sp>
        <p:nvSpPr>
          <p:cNvPr id="38" name="Text 33"/>
          <p:cNvSpPr txBox="1"/>
          <p:nvPr/>
        </p:nvSpPr>
        <p:spPr>
          <a:xfrm>
            <a:off x="5239512" y="4178808"/>
            <a:ext cx="1691640" cy="365760"/>
          </a:xfrm>
          <a:prstGeom prst="rect">
            <a:avLst/>
          </a:prstGeom>
          <a:noFill/>
          <a:ln/>
        </p:spPr>
        <p:txBody>
          <a:bodyPr wrap="square" lIns="0" tIns="0" rIns="0" bIns="0" rtlCol="0" anchor="t"/>
          <a:lstStyle/>
          <a:p>
            <a:pPr marL="0" indent="0" algn="ctr" eaLnBrk="0">
              <a:buNone/>
            </a:pPr>
            <a:r>
              <a:rPr lang="ko-KR" sz="1500" b="1" dirty="0" altLang="en-US">
                <a:solidFill>
                  <a:schemeClr val="tx1"/>
                </a:solidFill>
              </a:rPr>
              <a:t>행동</a:t>
            </a:r>
            <a:endParaRPr lang="ko-KR" sz="1500" dirty="0" altLang="en-US"/>
          </a:p>
        </p:txBody>
      </p:sp>
      <p:sp>
        <p:nvSpPr>
          <p:cNvPr id="39" name="Text 34"/>
          <p:cNvSpPr txBox="1"/>
          <p:nvPr/>
        </p:nvSpPr>
        <p:spPr>
          <a:xfrm>
            <a:off x="5239512" y="4617720"/>
            <a:ext cx="1691640" cy="822960"/>
          </a:xfrm>
          <a:prstGeom prst="rect">
            <a:avLst/>
          </a:prstGeom>
          <a:noFill/>
          <a:ln/>
        </p:spPr>
        <p:txBody>
          <a:bodyPr wrap="square" lIns="0" tIns="0" rIns="0" bIns="0" rtlCol="0" anchor="t"/>
          <a:lstStyle/>
          <a:p>
            <a:pPr marL="0" indent="0" algn="ctr" eaLnBrk="0">
              <a:buNone/>
            </a:pPr>
            <a:r>
              <a:rPr lang="ko-KR" sz="1200" dirty="0" altLang="en-US">
                <a:solidFill>
                  <a:schemeClr val="accent4"/>
                </a:solidFill>
              </a:rPr>
              <a:t>구역별 우선순위 0~3</a:t>
            </a:r>
            <a:endParaRPr lang="ko-KR" sz="1200" dirty="0" altLang="en-US"/>
          </a:p>
          <a:p>
            <a:pPr marL="0" indent="0" algn="ctr" eaLnBrk="0">
              <a:buNone/>
            </a:pPr>
            <a:r>
              <a:rPr lang="ko-KR" sz="1200" dirty="0" altLang="en-US">
                <a:solidFill>
                  <a:schemeClr val="accent4"/>
                </a:solidFill>
              </a:rPr>
              <a:t>→ 유휴 택시 분배</a:t>
            </a:r>
            <a:endParaRPr lang="ko-KR" sz="1200" dirty="0" altLang="en-US"/>
          </a:p>
        </p:txBody>
      </p:sp>
      <p:sp>
        <p:nvSpPr>
          <p:cNvPr id="40" name="Shape 35"/>
          <p:cNvSpPr/>
          <p:nvPr/>
        </p:nvSpPr>
        <p:spPr>
          <a:xfrm>
            <a:off x="7095744" y="4663440"/>
            <a:ext cx="256032" cy="256032"/>
          </a:xfrm>
          <a:prstGeom prst="rightArrow">
            <a:avLst/>
          </a:prstGeom>
          <a:solidFill>
            <a:schemeClr val="accent4"/>
          </a:solidFill>
          <a:ln w="12700">
            <a:solidFill>
              <a:schemeClr val="accent4"/>
            </a:solidFill>
            <a:prstDash val="solid"/>
          </a:ln>
        </p:spPr>
      </p:sp>
      <p:sp>
        <p:nvSpPr>
          <p:cNvPr id="42" name="Text 37"/>
          <p:cNvSpPr txBox="1"/>
          <p:nvPr/>
        </p:nvSpPr>
        <p:spPr>
          <a:xfrm>
            <a:off x="7516368" y="4178808"/>
            <a:ext cx="1691640" cy="365760"/>
          </a:xfrm>
          <a:prstGeom prst="rect">
            <a:avLst/>
          </a:prstGeom>
          <a:noFill/>
          <a:ln/>
        </p:spPr>
        <p:txBody>
          <a:bodyPr wrap="square" lIns="0" tIns="0" rIns="0" bIns="0" rtlCol="0" anchor="t"/>
          <a:lstStyle/>
          <a:p>
            <a:pPr marL="0" indent="0" algn="ctr" eaLnBrk="0">
              <a:buNone/>
            </a:pPr>
            <a:r>
              <a:rPr lang="ko-KR" sz="1500" b="1" dirty="0" altLang="en-US">
                <a:solidFill>
                  <a:schemeClr val="tx1"/>
                </a:solidFill>
              </a:rPr>
              <a:t>보상</a:t>
            </a:r>
            <a:endParaRPr lang="ko-KR" sz="1500" dirty="0" altLang="en-US"/>
          </a:p>
        </p:txBody>
      </p:sp>
      <p:sp>
        <p:nvSpPr>
          <p:cNvPr id="43" name="Text 38"/>
          <p:cNvSpPr txBox="1"/>
          <p:nvPr/>
        </p:nvSpPr>
        <p:spPr>
          <a:xfrm>
            <a:off x="7516368" y="4617720"/>
            <a:ext cx="1691640" cy="822960"/>
          </a:xfrm>
          <a:prstGeom prst="rect">
            <a:avLst/>
          </a:prstGeom>
          <a:noFill/>
          <a:ln/>
        </p:spPr>
        <p:txBody>
          <a:bodyPr wrap="square" lIns="0" tIns="0" rIns="0" bIns="0" rtlCol="0" anchor="t"/>
          <a:lstStyle/>
          <a:p>
            <a:pPr marL="0" indent="0" algn="ctr" eaLnBrk="0">
              <a:buNone/>
            </a:pPr>
            <a:r>
              <a:rPr lang="ko-KR" sz="1200" dirty="0" altLang="en-US">
                <a:solidFill>
                  <a:schemeClr val="accent4"/>
                </a:solidFill>
              </a:rPr>
              <a:t>탑승 +3 · 타임아웃 −8</a:t>
            </a:r>
            <a:endParaRPr lang="ko-KR" sz="1200" dirty="0" altLang="en-US"/>
          </a:p>
          <a:p>
            <a:pPr marL="0" indent="0" algn="ctr" eaLnBrk="0">
              <a:buNone/>
            </a:pPr>
            <a:r>
              <a:rPr lang="ko-KR" sz="1200" dirty="0" altLang="en-US">
                <a:solidFill>
                  <a:schemeClr val="accent4"/>
                </a:solidFill>
              </a:rPr>
              <a:t>대기 · 이동거리 패널티</a:t>
            </a:r>
            <a:endParaRPr lang="ko-KR" sz="1200" dirty="0" altLang="en-US"/>
          </a:p>
        </p:txBody>
      </p:sp>
      <p:sp>
        <p:nvSpPr>
          <p:cNvPr id="44" name="Shape 39"/>
          <p:cNvSpPr/>
          <p:nvPr/>
        </p:nvSpPr>
        <p:spPr>
          <a:xfrm>
            <a:off x="9372600" y="4663440"/>
            <a:ext cx="256032" cy="256032"/>
          </a:xfrm>
          <a:prstGeom prst="rightArrow">
            <a:avLst/>
          </a:prstGeom>
          <a:solidFill>
            <a:schemeClr val="accent4"/>
          </a:solidFill>
          <a:ln w="12700">
            <a:solidFill>
              <a:schemeClr val="accent4"/>
            </a:solidFill>
            <a:prstDash val="solid"/>
          </a:ln>
        </p:spPr>
      </p:sp>
      <p:sp>
        <p:nvSpPr>
          <p:cNvPr id="46" name="Text 41"/>
          <p:cNvSpPr txBox="1"/>
          <p:nvPr/>
        </p:nvSpPr>
        <p:spPr>
          <a:xfrm>
            <a:off x="9793224" y="4178808"/>
            <a:ext cx="1691640" cy="365760"/>
          </a:xfrm>
          <a:prstGeom prst="rect">
            <a:avLst/>
          </a:prstGeom>
          <a:noFill/>
          <a:ln/>
        </p:spPr>
        <p:txBody>
          <a:bodyPr wrap="square" lIns="0" tIns="0" rIns="0" bIns="0" rtlCol="0" anchor="t"/>
          <a:lstStyle/>
          <a:p>
            <a:pPr marL="0" indent="0" algn="ctr" eaLnBrk="0">
              <a:buNone/>
            </a:pPr>
            <a:r>
              <a:rPr lang="ko-KR" sz="1500" b="1" dirty="0" altLang="en-US">
                <a:solidFill>
                  <a:schemeClr val="tx1"/>
                </a:solidFill>
              </a:rPr>
              <a:t>PPO 업데이트</a:t>
            </a:r>
            <a:endParaRPr lang="ko-KR" sz="1500" dirty="0" altLang="en-US"/>
          </a:p>
        </p:txBody>
      </p:sp>
      <p:sp>
        <p:nvSpPr>
          <p:cNvPr id="47" name="Text 42"/>
          <p:cNvSpPr txBox="1"/>
          <p:nvPr/>
        </p:nvSpPr>
        <p:spPr>
          <a:xfrm>
            <a:off x="9793224" y="4617720"/>
            <a:ext cx="1691640" cy="822960"/>
          </a:xfrm>
          <a:prstGeom prst="rect">
            <a:avLst/>
          </a:prstGeom>
          <a:noFill/>
          <a:ln/>
        </p:spPr>
        <p:txBody>
          <a:bodyPr wrap="square" lIns="0" tIns="0" rIns="0" bIns="0" rtlCol="0" anchor="t"/>
          <a:lstStyle/>
          <a:p>
            <a:pPr marL="0" indent="0" algn="ctr" eaLnBrk="0">
              <a:buNone/>
            </a:pPr>
            <a:r>
              <a:rPr lang="ko-KR" sz="1200" dirty="0" altLang="en-US">
                <a:solidFill>
                  <a:schemeClr val="accent4"/>
                </a:solidFill>
              </a:rPr>
              <a:t>MLP 128×128 · lr 3e-4</a:t>
            </a:r>
            <a:endParaRPr lang="ko-KR" sz="1200" dirty="0" altLang="en-US"/>
          </a:p>
          <a:p>
            <a:pPr marL="0" indent="0" algn="ctr" eaLnBrk="0">
              <a:buNone/>
            </a:pPr>
            <a:r>
              <a:rPr lang="ko-KR" sz="1200" dirty="0" altLang="en-US">
                <a:solidFill>
                  <a:schemeClr val="accent4"/>
                </a:solidFill>
              </a:rPr>
              <a:t>51,200 step</a:t>
            </a:r>
            <a:endParaRPr lang="ko-KR" sz="1200" dirty="0" altLang="en-US"/>
          </a:p>
        </p:txBody>
      </p:sp>
      <p:sp>
        <p:nvSpPr>
          <p:cNvPr id="48" name="Text 43"/>
          <p:cNvSpPr txBox="1"/>
          <p:nvPr/>
        </p:nvSpPr>
        <p:spPr>
          <a:xfrm>
            <a:off x="548640" y="5897880"/>
            <a:ext cx="11064240" cy="365760"/>
          </a:xfrm>
          <a:prstGeom prst="rect">
            <a:avLst/>
          </a:prstGeom>
          <a:noFill/>
          <a:ln/>
        </p:spPr>
        <p:txBody>
          <a:bodyPr wrap="square" lIns="0" tIns="0" rIns="0" bIns="0" rtlCol="0" anchor="t"/>
          <a:lstStyle/>
          <a:p>
            <a:pPr marL="0" indent="0" eaLnBrk="0">
              <a:buNone/>
            </a:pPr>
            <a:r>
              <a:rPr lang="ko-KR" sz="1300" dirty="0" altLang="en-US">
                <a:solidFill>
                  <a:schemeClr val="accent4"/>
                </a:solidFill>
              </a:rPr>
              <a:t>에피소드마다 승객 시드를 바꿔 한 가지 상황에 과적합하지 않게 하고, 512 step마다 체크포인트를 저장한다</a:t>
            </a:r>
            <a:endParaRPr lang="ko-KR" sz="1300" dirty="0" altLang="en-US"/>
          </a:p>
        </p:txBody>
      </p:sp>
      <p:sp>
        <p:nvSpPr>
          <p:cNvPr id="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cxnSp>
        <p:nvCxnSpPr>
          <p:cNvPr id="28" name="Connector 27"/>
          <p:cNvCxnSpPr/>
          <p:nvPr/>
        </p:nvCxnSpPr>
        <p:spPr>
          <a:xfrm>
            <a:off x="868680" y="4480560"/>
            <a:ext cx="10424160"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537959" y="1463040"/>
            <a:ext cx="4754881"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 y="1463040"/>
            <a:ext cx="475488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Module 4-2 · 배차 알고리즘 (헝가리안 고정)</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5739196" y="6297473"/>
            <a:ext cx="784555" cy="362102"/>
          </a:xfrm>
          <a:prstGeom prst="rect">
            <a:avLst/>
          </a:prstGeom>
        </p:spPr>
      </p:pic>
      <p:sp>
        <p:nvSpPr>
          <p:cNvPr id="6" name="Shape 1"/>
          <p:cNvSpPr/>
          <p:nvPr/>
        </p:nvSpPr>
        <p:spPr>
          <a:xfrm>
            <a:off x="10058400" y="502920"/>
            <a:ext cx="1554480" cy="411480"/>
          </a:xfrm>
          <a:prstGeom prst="roundRect">
            <a:avLst>
              <a:gd name="adj" fmla="val 48889"/>
            </a:avLst>
          </a:prstGeom>
          <a:solidFill>
            <a:schemeClr val="accent2"/>
          </a:solidFill>
          <a:ln w="12700">
            <a:solidFill>
              <a:schemeClr val="accent2"/>
            </a:solidFill>
            <a:prstDash val="solid"/>
          </a:ln>
        </p:spPr>
      </p:sp>
      <p:sp>
        <p:nvSpPr>
          <p:cNvPr id="7" name="Text 2"/>
          <p:cNvSpPr txBox="1"/>
          <p:nvPr/>
        </p:nvSpPr>
        <p:spPr>
          <a:xfrm>
            <a:off x="10058400" y="502920"/>
            <a:ext cx="1554480" cy="411480"/>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구현 완료</a:t>
            </a:r>
            <a:endParaRPr lang="ko-KR" sz="1300" dirty="0" altLang="en-US"/>
          </a:p>
        </p:txBody>
      </p:sp>
      <p:sp>
        <p:nvSpPr>
          <p:cNvPr id="9" name="Text 4"/>
          <p:cNvSpPr txBox="1"/>
          <p:nvPr/>
        </p:nvSpPr>
        <p:spPr>
          <a:xfrm>
            <a:off x="868680" y="1691640"/>
            <a:ext cx="4754880" cy="457200"/>
          </a:xfrm>
          <a:prstGeom prst="rect">
            <a:avLst/>
          </a:prstGeom>
          <a:noFill/>
          <a:ln/>
        </p:spPr>
        <p:txBody>
          <a:bodyPr wrap="square" lIns="0" tIns="0" rIns="0" bIns="0" rtlCol="0" anchor="t"/>
          <a:lstStyle/>
          <a:p>
            <a:pPr marL="0" indent="0" eaLnBrk="0">
              <a:buNone/>
            </a:pPr>
            <a:r>
              <a:rPr lang="ko-KR" sz="2200" b="1" dirty="0" altLang="en-US">
                <a:solidFill>
                  <a:schemeClr val="tx1"/>
                </a:solidFill>
              </a:rPr>
              <a:t>custom_greedy</a:t>
            </a:r>
            <a:endParaRPr lang="ko-KR" sz="2200" dirty="0" altLang="en-US"/>
          </a:p>
        </p:txBody>
      </p:sp>
      <p:sp>
        <p:nvSpPr>
          <p:cNvPr id="10" name="Text 5"/>
          <p:cNvSpPr txBox="1"/>
          <p:nvPr/>
        </p:nvSpPr>
        <p:spPr>
          <a:xfrm>
            <a:off x="868680" y="2240280"/>
            <a:ext cx="4754880" cy="365760"/>
          </a:xfrm>
          <a:prstGeom prst="rect">
            <a:avLst/>
          </a:prstGeom>
          <a:noFill/>
          <a:ln/>
        </p:spPr>
        <p:txBody>
          <a:bodyPr wrap="square" lIns="0" tIns="0" rIns="0" bIns="0" rtlCol="0" anchor="t"/>
          <a:lstStyle/>
          <a:p>
            <a:pPr marL="0" indent="0" eaLnBrk="0">
              <a:buNone/>
            </a:pPr>
            <a:r>
              <a:rPr lang="ko-KR" sz="1300" b="1" dirty="0" altLang="en-US">
                <a:solidFill>
                  <a:schemeClr val="accent3"/>
                </a:solidFill>
              </a:rPr>
              <a:t>보조 기준선</a:t>
            </a:r>
            <a:endParaRPr lang="ko-KR" sz="1300" dirty="0" altLang="en-US"/>
          </a:p>
        </p:txBody>
      </p:sp>
      <p:sp>
        <p:nvSpPr>
          <p:cNvPr id="11" name="Text 6"/>
          <p:cNvSpPr txBox="1"/>
          <p:nvPr/>
        </p:nvSpPr>
        <p:spPr>
          <a:xfrm>
            <a:off x="868680" y="2743200"/>
            <a:ext cx="4754880" cy="1371600"/>
          </a:xfrm>
          <a:prstGeom prst="rect">
            <a:avLst/>
          </a:prstGeom>
          <a:noFill/>
          <a:ln/>
        </p:spPr>
        <p:txBody>
          <a:bodyPr wrap="square" lIns="0" tIns="0" rIns="0" bIns="0" rtlCol="0" anchor="t"/>
          <a:lstStyle/>
          <a:p>
            <a:pPr marL="0" indent="0" eaLnBrk="0">
              <a:buNone/>
            </a:pPr>
            <a:r>
              <a:rPr lang="ko-KR" sz="1500" dirty="0" altLang="en-US">
                <a:solidFill>
                  <a:schemeClr val="tx1"/>
                </a:solidFill>
              </a:rPr>
              <a:t>빈 택시마다 가장 가까운 대기 승객을 차례로 배정.</a:t>
            </a:r>
            <a:endParaRPr lang="ko-KR" sz="1500" dirty="0" altLang="en-US"/>
          </a:p>
          <a:p>
            <a:pPr marL="0" indent="0" eaLnBrk="0">
              <a:buNone/>
            </a:pPr>
            <a:r>
              <a:rPr lang="ko-KR" sz="1500" dirty="0" altLang="en-US">
                <a:solidFill>
                  <a:schemeClr val="tx1"/>
                </a:solidFill>
              </a:rPr>
              <a:t>구현이 단순하지만 한 쌍이 가까워도 전체로는 손해일 수 있다.</a:t>
            </a:r>
            <a:endParaRPr lang="ko-KR" sz="1500" dirty="0" altLang="en-US"/>
          </a:p>
        </p:txBody>
      </p:sp>
      <p:sp>
        <p:nvSpPr>
          <p:cNvPr id="13" name="Text 8"/>
          <p:cNvSpPr txBox="1"/>
          <p:nvPr/>
        </p:nvSpPr>
        <p:spPr>
          <a:xfrm>
            <a:off x="6537960" y="1691640"/>
            <a:ext cx="4754880" cy="457200"/>
          </a:xfrm>
          <a:prstGeom prst="rect">
            <a:avLst/>
          </a:prstGeom>
          <a:noFill/>
          <a:ln/>
        </p:spPr>
        <p:txBody>
          <a:bodyPr wrap="square" lIns="0" tIns="0" rIns="0" bIns="0" rtlCol="0" anchor="t"/>
          <a:lstStyle/>
          <a:p>
            <a:pPr marL="0" indent="0" eaLnBrk="0">
              <a:buNone/>
            </a:pPr>
            <a:r>
              <a:rPr lang="ko-KR" sz="2200" b="1" dirty="0" altLang="en-US">
                <a:solidFill>
                  <a:schemeClr val="tx1"/>
                </a:solidFill>
              </a:rPr>
              <a:t>hungarian</a:t>
            </a:r>
            <a:endParaRPr lang="ko-KR" sz="2200" dirty="0" altLang="en-US"/>
          </a:p>
        </p:txBody>
      </p:sp>
      <p:sp>
        <p:nvSpPr>
          <p:cNvPr id="14" name="Text 9"/>
          <p:cNvSpPr txBox="1"/>
          <p:nvPr/>
        </p:nvSpPr>
        <p:spPr>
          <a:xfrm>
            <a:off x="6537960" y="2240280"/>
            <a:ext cx="4754880" cy="365760"/>
          </a:xfrm>
          <a:prstGeom prst="rect">
            <a:avLst/>
          </a:prstGeom>
          <a:noFill/>
          <a:ln/>
        </p:spPr>
        <p:txBody>
          <a:bodyPr wrap="square" lIns="0" tIns="0" rIns="0" bIns="0" rtlCol="0" anchor="t"/>
          <a:lstStyle/>
          <a:p>
            <a:pPr marL="0" indent="0" eaLnBrk="0">
              <a:buNone/>
            </a:pPr>
            <a:r>
              <a:rPr lang="ko-KR" sz="1300" b="1" dirty="0" altLang="en-US">
                <a:solidFill>
                  <a:schemeClr val="accent2"/>
                </a:solidFill>
              </a:rPr>
              <a:t>실험 기본 배차 (고정)</a:t>
            </a:r>
            <a:endParaRPr lang="ko-KR" sz="1300" dirty="0" altLang="en-US"/>
          </a:p>
        </p:txBody>
      </p:sp>
      <p:sp>
        <p:nvSpPr>
          <p:cNvPr id="15" name="Text 10"/>
          <p:cNvSpPr txBox="1"/>
          <p:nvPr/>
        </p:nvSpPr>
        <p:spPr>
          <a:xfrm>
            <a:off x="6537960" y="2743200"/>
            <a:ext cx="4754880" cy="1371600"/>
          </a:xfrm>
          <a:prstGeom prst="rect">
            <a:avLst/>
          </a:prstGeom>
          <a:noFill/>
          <a:ln/>
        </p:spPr>
        <p:txBody>
          <a:bodyPr wrap="square" lIns="0" tIns="0" rIns="0" bIns="0" rtlCol="0" anchor="t"/>
          <a:lstStyle/>
          <a:p>
            <a:pPr marL="0" indent="0" eaLnBrk="0">
              <a:buNone/>
            </a:pPr>
            <a:r>
              <a:rPr lang="ko-KR" sz="1500" dirty="0" altLang="en-US">
                <a:solidFill>
                  <a:schemeClr val="tx1"/>
                </a:solidFill>
              </a:rPr>
              <a:t>대기 승객 × 빈 택시 거리 행렬에서</a:t>
            </a:r>
            <a:endParaRPr lang="ko-KR" sz="1500" dirty="0" altLang="en-US"/>
          </a:p>
          <a:p>
            <a:pPr marL="0" indent="0" eaLnBrk="0">
              <a:buNone/>
            </a:pPr>
            <a:r>
              <a:rPr lang="ko-KR" sz="1500" dirty="0" altLang="en-US">
                <a:solidFill>
                  <a:schemeClr val="tx1"/>
                </a:solidFill>
              </a:rPr>
              <a:t>전체 비용 합이 최소가 되는 배정(scipy).</a:t>
            </a:r>
            <a:endParaRPr lang="ko-KR" sz="1500" dirty="0" altLang="en-US"/>
          </a:p>
          <a:p>
            <a:pPr marL="0" indent="0" eaLnBrk="0">
              <a:buNone/>
            </a:pPr>
            <a:r>
              <a:rPr lang="ko-KR" sz="1500" dirty="0" altLang="en-US">
                <a:solidFill>
                  <a:schemeClr val="tx1"/>
                </a:solidFill>
              </a:rPr>
              <a:t>SUMO의 traci 배차 모드에서 실시간 수행.</a:t>
            </a:r>
            <a:endParaRPr lang="ko-KR" sz="1500" dirty="0" altLang="en-US"/>
          </a:p>
        </p:txBody>
      </p:sp>
      <p:sp>
        <p:nvSpPr>
          <p:cNvPr id="17" name="Text 12"/>
          <p:cNvSpPr txBox="1"/>
          <p:nvPr/>
        </p:nvSpPr>
        <p:spPr>
          <a:xfrm>
            <a:off x="868680" y="4617720"/>
            <a:ext cx="10058400" cy="365760"/>
          </a:xfrm>
          <a:prstGeom prst="rect">
            <a:avLst/>
          </a:prstGeom>
          <a:noFill/>
          <a:ln/>
        </p:spPr>
        <p:txBody>
          <a:bodyPr wrap="square" lIns="0" tIns="0" rIns="0" bIns="0" rtlCol="0" anchor="t"/>
          <a:lstStyle/>
          <a:p>
            <a:pPr marL="0" indent="0" eaLnBrk="0">
              <a:buNone/>
            </a:pPr>
            <a:r>
              <a:rPr lang="ko-KR" sz="1600" b="1" dirty="0" altLang="en-US">
                <a:solidFill>
                  <a:schemeClr val="tx1"/>
                </a:solidFill>
              </a:rPr>
              <a:t>ReservationGuard — 예약 규칙 수문장 · 추가 목표: 헝가리안을 넘는 FETEX</a:t>
            </a:r>
            <a:endParaRPr lang="ko-KR" sz="1600" dirty="0" altLang="en-US"/>
          </a:p>
        </p:txBody>
      </p:sp>
      <p:sp>
        <p:nvSpPr>
          <p:cNvPr id="18" name="Text 13"/>
          <p:cNvSpPr txBox="1"/>
          <p:nvPr/>
        </p:nvSpPr>
        <p:spPr>
          <a:xfrm>
            <a:off x="868680" y="5074920"/>
            <a:ext cx="10607040" cy="777240"/>
          </a:xfrm>
          <a:prstGeom prst="rect">
            <a:avLst/>
          </a:prstGeom>
          <a:noFill/>
          <a:ln/>
        </p:spPr>
        <p:txBody>
          <a:bodyPr wrap="square" lIns="0" tIns="0" rIns="0" bIns="0" rtlCol="0" anchor="t"/>
          <a:lstStyle/>
          <a:p>
            <a:pPr marL="0" indent="0" eaLnBrk="0">
              <a:buNone/>
            </a:pPr>
            <a:r>
              <a:rPr lang="ko-KR" sz="1500" dirty="0" altLang="en-US">
                <a:solidFill>
                  <a:schemeClr val="tx1"/>
                </a:solidFill>
              </a:rPr>
              <a:t>① 예약은 '완전히 빈 택시 1대 ↔ 승객 1명'일 때만   ② 동시 예약 수 ≤ 택시 수   ③ 픽업 중·승객 탑승 중인 택시는 새 예약 불가</a:t>
            </a:r>
            <a:endParaRPr lang="ko-KR" sz="1500" dirty="0" altLang="en-US"/>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cxnSp>
        <p:nvCxnSpPr>
          <p:cNvPr id="40" name="Connector 39"/>
          <p:cNvCxnSpPr/>
          <p:nvPr/>
        </p:nvCxnSpPr>
        <p:spPr>
          <a:xfrm>
            <a:off x="6583680" y="5733288"/>
            <a:ext cx="502920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583680" y="5047488"/>
            <a:ext cx="502920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583680" y="4242816"/>
            <a:ext cx="502920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583680" y="3438144"/>
            <a:ext cx="502920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83680" y="2633472"/>
            <a:ext cx="502920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583680" y="1828800"/>
            <a:ext cx="5029200" cy="0"/>
          </a:xfrm>
          <a:prstGeom prst="line">
            <a:avLst/>
          </a:prstGeom>
          <a:ln w="9525">
            <a:solidFill>
              <a:srgbClr val="E1E5E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74720" y="1828800"/>
            <a:ext cx="2651759"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1828800"/>
            <a:ext cx="2651760"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Module 4-3 · RL 유휴택시 재배치 (핵심)</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6480704" y="6297473"/>
            <a:ext cx="784555" cy="362102"/>
          </a:xfrm>
          <a:prstGeom prst="rect">
            <a:avLst/>
          </a:prstGeom>
        </p:spPr>
      </p:pic>
      <p:sp>
        <p:nvSpPr>
          <p:cNvPr id="6" name="Shape 1"/>
          <p:cNvSpPr/>
          <p:nvPr/>
        </p:nvSpPr>
        <p:spPr>
          <a:xfrm>
            <a:off x="10058400" y="502920"/>
            <a:ext cx="1554480" cy="411480"/>
          </a:xfrm>
          <a:prstGeom prst="roundRect">
            <a:avLst>
              <a:gd name="adj" fmla="val 48889"/>
            </a:avLst>
          </a:prstGeom>
          <a:solidFill>
            <a:schemeClr val="accent1"/>
          </a:solidFill>
          <a:ln w="12700">
            <a:solidFill>
              <a:schemeClr val="accent1"/>
            </a:solidFill>
            <a:prstDash val="solid"/>
          </a:ln>
        </p:spPr>
      </p:sp>
      <p:sp>
        <p:nvSpPr>
          <p:cNvPr id="7" name="Text 2"/>
          <p:cNvSpPr txBox="1"/>
          <p:nvPr/>
        </p:nvSpPr>
        <p:spPr>
          <a:xfrm>
            <a:off x="10058400" y="502920"/>
            <a:ext cx="1554480" cy="411480"/>
          </a:xfrm>
          <a:prstGeom prst="rect">
            <a:avLst/>
          </a:prstGeom>
          <a:noFill/>
          <a:ln/>
        </p:spPr>
        <p:txBody>
          <a:bodyPr wrap="square" lIns="0" tIns="0" rIns="0" bIns="0" rtlCol="0" anchor="ctr"/>
          <a:lstStyle/>
          <a:p>
            <a:pPr marL="0" indent="0" algn="ctr" eaLnBrk="0">
              <a:buNone/>
            </a:pPr>
            <a:r>
              <a:rPr lang="ko-KR" sz="1300" b="1" dirty="0" altLang="en-US">
                <a:solidFill>
                  <a:schemeClr val="tx2"/>
                </a:solidFill>
              </a:rPr>
              <a:t>실험 진행 중</a:t>
            </a:r>
            <a:endParaRPr lang="ko-KR" sz="1300" dirty="0" altLang="en-US"/>
          </a:p>
        </p:txBody>
      </p:sp>
      <p:sp>
        <p:nvSpPr>
          <p:cNvPr id="8" name="Text 3"/>
          <p:cNvSpPr txBox="1"/>
          <p:nvPr/>
        </p:nvSpPr>
        <p:spPr>
          <a:xfrm>
            <a:off x="548640" y="1371600"/>
            <a:ext cx="5486400" cy="365760"/>
          </a:xfrm>
          <a:prstGeom prst="rect">
            <a:avLst/>
          </a:prstGeom>
          <a:noFill/>
          <a:ln/>
        </p:spPr>
        <p:txBody>
          <a:bodyPr wrap="square" lIns="0" tIns="0" rIns="0" bIns="0" rtlCol="0" anchor="t"/>
          <a:lstStyle/>
          <a:p>
            <a:pPr marL="0" indent="0" eaLnBrk="0">
              <a:buNone/>
            </a:pPr>
            <a:r>
              <a:rPr lang="ko-KR" sz="1800" b="1" dirty="0" altLang="en-US">
                <a:solidFill>
                  <a:schemeClr val="tx1"/>
                </a:solidFill>
              </a:rPr>
              <a:t>역할 분리</a:t>
            </a:r>
            <a:endParaRPr lang="ko-KR" sz="1800" dirty="0" altLang="en-US"/>
          </a:p>
        </p:txBody>
      </p:sp>
      <p:sp>
        <p:nvSpPr>
          <p:cNvPr id="10" name="Text 5"/>
          <p:cNvSpPr txBox="1"/>
          <p:nvPr/>
        </p:nvSpPr>
        <p:spPr>
          <a:xfrm>
            <a:off x="548640" y="1828800"/>
            <a:ext cx="2651760" cy="1371600"/>
          </a:xfrm>
          <a:prstGeom prst="rect">
            <a:avLst/>
          </a:prstGeom>
          <a:noFill/>
          <a:ln/>
        </p:spPr>
        <p:txBody>
          <a:bodyPr wrap="square" lIns="0" tIns="0" rIns="0" bIns="0" rtlCol="0" anchor="ctr"/>
          <a:lstStyle/>
          <a:p>
            <a:pPr marL="0" indent="0" algn="ctr" eaLnBrk="0">
              <a:buNone/>
            </a:pPr>
            <a:r>
              <a:rPr lang="ko-KR" sz="1600" b="1" dirty="0" altLang="en-US">
                <a:solidFill>
                  <a:schemeClr val="tx2"/>
                </a:solidFill>
              </a:rPr>
              <a:t>지금 이 순간</a:t>
            </a:r>
            <a:endParaRPr lang="ko-KR" sz="1600" dirty="0" altLang="en-US"/>
          </a:p>
          <a:p>
            <a:pPr marL="0" indent="0" algn="ctr" eaLnBrk="0">
              <a:buNone/>
            </a:pPr>
            <a:r>
              <a:rPr lang="ko-KR" sz="1600" b="1" dirty="0" altLang="en-US">
                <a:solidFill>
                  <a:schemeClr val="tx2"/>
                </a:solidFill>
              </a:rPr>
              <a:t>Hungarian 매칭</a:t>
            </a:r>
            <a:endParaRPr lang="ko-KR" sz="1600" dirty="0" altLang="en-US"/>
          </a:p>
        </p:txBody>
      </p:sp>
      <p:sp>
        <p:nvSpPr>
          <p:cNvPr id="12" name="Text 7"/>
          <p:cNvSpPr txBox="1"/>
          <p:nvPr/>
        </p:nvSpPr>
        <p:spPr>
          <a:xfrm>
            <a:off x="3474720" y="1828800"/>
            <a:ext cx="2651760" cy="1371600"/>
          </a:xfrm>
          <a:prstGeom prst="rect">
            <a:avLst/>
          </a:prstGeom>
          <a:noFill/>
          <a:ln/>
        </p:spPr>
        <p:txBody>
          <a:bodyPr wrap="square" lIns="0" tIns="0" rIns="0" bIns="0" rtlCol="0" anchor="ctr"/>
          <a:lstStyle/>
          <a:p>
            <a:pPr marL="0" indent="0" algn="ctr" eaLnBrk="0">
              <a:buNone/>
            </a:pPr>
            <a:r>
              <a:rPr lang="ko-KR" sz="1600" b="1" dirty="0" altLang="en-US">
                <a:solidFill>
                  <a:schemeClr val="tx2"/>
                </a:solidFill>
              </a:rPr>
              <a:t>다음 몇 분</a:t>
            </a:r>
            <a:endParaRPr lang="ko-KR" sz="1600" dirty="0" altLang="en-US"/>
          </a:p>
          <a:p>
            <a:pPr marL="0" indent="0" algn="ctr" eaLnBrk="0">
              <a:buNone/>
            </a:pPr>
            <a:r>
              <a:rPr lang="ko-KR" sz="1600" b="1" dirty="0" altLang="en-US">
                <a:solidFill>
                  <a:schemeClr val="tx2"/>
                </a:solidFill>
              </a:rPr>
              <a:t>PPO 유휴택시 재배치</a:t>
            </a:r>
            <a:endParaRPr lang="ko-KR" sz="1600" dirty="0" altLang="en-US"/>
          </a:p>
        </p:txBody>
      </p:sp>
      <p:sp>
        <p:nvSpPr>
          <p:cNvPr id="13" name="Text 8"/>
          <p:cNvSpPr txBox="1"/>
          <p:nvPr/>
        </p:nvSpPr>
        <p:spPr>
          <a:xfrm>
            <a:off x="548640" y="3429000"/>
            <a:ext cx="5577840" cy="365760"/>
          </a:xfrm>
          <a:prstGeom prst="rect">
            <a:avLst/>
          </a:prstGeom>
          <a:noFill/>
          <a:ln/>
        </p:spPr>
        <p:txBody>
          <a:bodyPr wrap="square" lIns="0" tIns="0" rIns="0" bIns="0" rtlCol="0" anchor="t"/>
          <a:lstStyle/>
          <a:p>
            <a:pPr marL="0" indent="0" eaLnBrk="0">
              <a:buNone/>
            </a:pPr>
            <a:r>
              <a:rPr lang="ko-KR" sz="1400" dirty="0" altLang="en-US">
                <a:solidFill>
                  <a:schemeClr val="accent4"/>
                </a:solidFill>
              </a:rPr>
              <a:t>PPO (stable-baselines3) · 1분마다 판단</a:t>
            </a:r>
            <a:endParaRPr lang="ko-KR" sz="1400" dirty="0" altLang="en-US"/>
          </a:p>
        </p:txBody>
      </p:sp>
      <p:sp>
        <p:nvSpPr>
          <p:cNvPr id="14" name="Text 9"/>
          <p:cNvSpPr txBox="1"/>
          <p:nvPr/>
        </p:nvSpPr>
        <p:spPr>
          <a:xfrm>
            <a:off x="548640" y="3931920"/>
            <a:ext cx="5486400" cy="365760"/>
          </a:xfrm>
          <a:prstGeom prst="rect">
            <a:avLst/>
          </a:prstGeom>
          <a:noFill/>
          <a:ln/>
        </p:spPr>
        <p:txBody>
          <a:bodyPr wrap="square" lIns="0" tIns="0" rIns="0" bIns="0" rtlCol="0" anchor="t"/>
          <a:lstStyle/>
          <a:p>
            <a:pPr marL="0" indent="0" eaLnBrk="0">
              <a:buNone/>
            </a:pPr>
            <a:r>
              <a:rPr lang="ko-KR" sz="1800" b="1" dirty="0" altLang="en-US">
                <a:solidFill>
                  <a:schemeClr val="tx1"/>
                </a:solidFill>
              </a:rPr>
              <a:t>관측 / 행동</a:t>
            </a:r>
            <a:endParaRPr lang="ko-KR" sz="1800" dirty="0" altLang="en-US"/>
          </a:p>
        </p:txBody>
      </p:sp>
      <p:sp>
        <p:nvSpPr>
          <p:cNvPr id="15" name="Text 10"/>
          <p:cNvSpPr txBox="1"/>
          <p:nvPr/>
        </p:nvSpPr>
        <p:spPr>
          <a:xfrm>
            <a:off x="548640" y="4389120"/>
            <a:ext cx="5577840" cy="1554480"/>
          </a:xfrm>
          <a:prstGeom prst="rect">
            <a:avLst/>
          </a:prstGeom>
          <a:noFill/>
          <a:ln/>
        </p:spPr>
        <p:txBody>
          <a:bodyPr wrap="square" lIns="0" tIns="0" rIns="0" bIns="0" rtlCol="0" anchor="t"/>
          <a:lstStyle/>
          <a:p>
            <a:pPr marL="342900" indent="-342900" eaLnBrk="0">
              <a:spcAft>
                <a:spcPts val="600"/>
              </a:spcAft>
              <a:buSzPct val="100000"/>
              <a:buChar char="•"/>
            </a:pPr>
            <a:r>
              <a:rPr lang="ko-KR" sz="1400" dirty="0" altLang="en-US">
                <a:solidFill>
                  <a:schemeClr val="tx1"/>
                </a:solidFill>
              </a:rPr>
              <a:t>관측 19차원 = 6구역 × (대기 승객, 유휴 택시, 예측 수요) + 현재 시각</a:t>
            </a:r>
            <a:endParaRPr lang="ko-KR" sz="1400" dirty="0" altLang="en-US"/>
          </a:p>
          <a:p>
            <a:pPr marL="342900" indent="-342900" eaLnBrk="0">
              <a:spcAft>
                <a:spcPts val="600"/>
              </a:spcAft>
              <a:buSzPct val="100000"/>
              <a:buChar char="•"/>
            </a:pPr>
            <a:r>
              <a:rPr lang="ko-KR" sz="1400" dirty="0" altLang="en-US">
                <a:solidFill>
                  <a:schemeClr val="tx1"/>
                </a:solidFill>
              </a:rPr>
              <a:t>행동 = 구역별 우선순위 0~3 (MultiDiscrete) → 비율로 유휴 택시 분배</a:t>
            </a:r>
            <a:endParaRPr lang="ko-KR" sz="1400" dirty="0" altLang="en-US"/>
          </a:p>
        </p:txBody>
      </p:sp>
      <p:sp>
        <p:nvSpPr>
          <p:cNvPr id="16" name="Text 11"/>
          <p:cNvSpPr txBox="1"/>
          <p:nvPr/>
        </p:nvSpPr>
        <p:spPr>
          <a:xfrm>
            <a:off x="6583680" y="1371600"/>
            <a:ext cx="4572000" cy="365760"/>
          </a:xfrm>
          <a:prstGeom prst="rect">
            <a:avLst/>
          </a:prstGeom>
          <a:noFill/>
          <a:ln/>
        </p:spPr>
        <p:txBody>
          <a:bodyPr wrap="square" lIns="0" tIns="0" rIns="0" bIns="0" rtlCol="0" anchor="t"/>
          <a:lstStyle/>
          <a:p>
            <a:pPr marL="0" indent="0" eaLnBrk="0">
              <a:buNone/>
            </a:pPr>
            <a:r>
              <a:rPr lang="ko-KR" sz="1800" b="1" dirty="0" altLang="en-US">
                <a:solidFill>
                  <a:schemeClr val="tx1"/>
                </a:solidFill>
              </a:rPr>
              <a:t>보상 설계</a:t>
            </a:r>
            <a:endParaRPr lang="ko-KR" sz="1800" dirty="0" altLang="en-US"/>
          </a:p>
        </p:txBody>
      </p:sp>
      <p:sp>
        <p:nvSpPr>
          <p:cNvPr id="18" name="Text 13"/>
          <p:cNvSpPr txBox="1"/>
          <p:nvPr/>
        </p:nvSpPr>
        <p:spPr>
          <a:xfrm>
            <a:off x="6766560" y="1828800"/>
            <a:ext cx="1371600" cy="685800"/>
          </a:xfrm>
          <a:prstGeom prst="rect">
            <a:avLst/>
          </a:prstGeom>
          <a:noFill/>
          <a:ln/>
        </p:spPr>
        <p:txBody>
          <a:bodyPr wrap="square" lIns="0" tIns="0" rIns="0" bIns="0" rtlCol="0" anchor="ctr"/>
          <a:lstStyle/>
          <a:p>
            <a:pPr marL="0" indent="0" eaLnBrk="0">
              <a:buNone/>
            </a:pPr>
            <a:r>
              <a:rPr lang="ko-KR" sz="1800" b="1" dirty="0" altLang="en-US">
                <a:solidFill>
                  <a:schemeClr val="accent2"/>
                </a:solidFill>
              </a:rPr>
              <a:t>+3.0</a:t>
            </a:r>
            <a:endParaRPr lang="ko-KR" sz="1800" dirty="0" altLang="en-US"/>
          </a:p>
        </p:txBody>
      </p:sp>
      <p:sp>
        <p:nvSpPr>
          <p:cNvPr id="19" name="Text 14"/>
          <p:cNvSpPr txBox="1"/>
          <p:nvPr/>
        </p:nvSpPr>
        <p:spPr>
          <a:xfrm>
            <a:off x="8229600" y="1828800"/>
            <a:ext cx="3291840" cy="685800"/>
          </a:xfrm>
          <a:prstGeom prst="rect">
            <a:avLst/>
          </a:prstGeom>
          <a:noFill/>
          <a:ln/>
        </p:spPr>
        <p:txBody>
          <a:bodyPr wrap="square" lIns="0" tIns="0" rIns="0" bIns="0" rtlCol="0" anchor="ctr"/>
          <a:lstStyle/>
          <a:p>
            <a:pPr marL="0" indent="0" eaLnBrk="0">
              <a:buNone/>
            </a:pPr>
            <a:r>
              <a:rPr lang="ko-KR" sz="1400" dirty="0" altLang="en-US">
                <a:solidFill>
                  <a:schemeClr val="tx1"/>
                </a:solidFill>
              </a:rPr>
              <a:t>탑승 성공 1건</a:t>
            </a:r>
            <a:endParaRPr lang="ko-KR" sz="1400" dirty="0" altLang="en-US"/>
          </a:p>
        </p:txBody>
      </p:sp>
      <p:sp>
        <p:nvSpPr>
          <p:cNvPr id="21" name="Text 16"/>
          <p:cNvSpPr txBox="1"/>
          <p:nvPr/>
        </p:nvSpPr>
        <p:spPr>
          <a:xfrm>
            <a:off x="6766560" y="2633472"/>
            <a:ext cx="1371600" cy="685800"/>
          </a:xfrm>
          <a:prstGeom prst="rect">
            <a:avLst/>
          </a:prstGeom>
          <a:noFill/>
          <a:ln/>
        </p:spPr>
        <p:txBody>
          <a:bodyPr wrap="square" lIns="0" tIns="0" rIns="0" bIns="0" rtlCol="0" anchor="ctr"/>
          <a:lstStyle/>
          <a:p>
            <a:pPr marL="0" indent="0" eaLnBrk="0">
              <a:buNone/>
            </a:pPr>
            <a:r>
              <a:rPr lang="ko-KR" sz="1800" b="1" dirty="0" altLang="en-US">
                <a:solidFill>
                  <a:schemeClr val="accent3"/>
                </a:solidFill>
              </a:rPr>
              <a:t>−0.10</a:t>
            </a:r>
            <a:endParaRPr lang="ko-KR" sz="1800" dirty="0" altLang="en-US"/>
          </a:p>
        </p:txBody>
      </p:sp>
      <p:sp>
        <p:nvSpPr>
          <p:cNvPr id="22" name="Text 17"/>
          <p:cNvSpPr txBox="1"/>
          <p:nvPr/>
        </p:nvSpPr>
        <p:spPr>
          <a:xfrm>
            <a:off x="8229600" y="2633472"/>
            <a:ext cx="3291840" cy="685800"/>
          </a:xfrm>
          <a:prstGeom prst="rect">
            <a:avLst/>
          </a:prstGeom>
          <a:noFill/>
          <a:ln/>
        </p:spPr>
        <p:txBody>
          <a:bodyPr wrap="square" lIns="0" tIns="0" rIns="0" bIns="0" rtlCol="0" anchor="ctr"/>
          <a:lstStyle/>
          <a:p>
            <a:pPr marL="0" indent="0" eaLnBrk="0">
              <a:buNone/>
            </a:pPr>
            <a:r>
              <a:rPr lang="ko-KR" sz="1400" dirty="0" altLang="en-US">
                <a:solidFill>
                  <a:schemeClr val="tx1"/>
                </a:solidFill>
              </a:rPr>
              <a:t>대기 승객 1명(매 판단)</a:t>
            </a:r>
            <a:endParaRPr lang="ko-KR" sz="1400" dirty="0" altLang="en-US"/>
          </a:p>
        </p:txBody>
      </p:sp>
      <p:sp>
        <p:nvSpPr>
          <p:cNvPr id="24" name="Text 19"/>
          <p:cNvSpPr txBox="1"/>
          <p:nvPr/>
        </p:nvSpPr>
        <p:spPr>
          <a:xfrm>
            <a:off x="6766560" y="3438144"/>
            <a:ext cx="1371600" cy="685800"/>
          </a:xfrm>
          <a:prstGeom prst="rect">
            <a:avLst/>
          </a:prstGeom>
          <a:noFill/>
          <a:ln/>
        </p:spPr>
        <p:txBody>
          <a:bodyPr wrap="square" lIns="0" tIns="0" rIns="0" bIns="0" rtlCol="0" anchor="ctr"/>
          <a:lstStyle/>
          <a:p>
            <a:pPr marL="0" indent="0" eaLnBrk="0">
              <a:buNone/>
            </a:pPr>
            <a:r>
              <a:rPr lang="ko-KR" sz="1800" b="1" dirty="0" altLang="en-US">
                <a:solidFill>
                  <a:schemeClr val="accent3"/>
                </a:solidFill>
              </a:rPr>
              <a:t>−8.0</a:t>
            </a:r>
            <a:endParaRPr lang="ko-KR" sz="1800" dirty="0" altLang="en-US"/>
          </a:p>
        </p:txBody>
      </p:sp>
      <p:sp>
        <p:nvSpPr>
          <p:cNvPr id="25" name="Text 20"/>
          <p:cNvSpPr txBox="1"/>
          <p:nvPr/>
        </p:nvSpPr>
        <p:spPr>
          <a:xfrm>
            <a:off x="8229600" y="3438144"/>
            <a:ext cx="3291840" cy="685800"/>
          </a:xfrm>
          <a:prstGeom prst="rect">
            <a:avLst/>
          </a:prstGeom>
          <a:noFill/>
          <a:ln/>
        </p:spPr>
        <p:txBody>
          <a:bodyPr wrap="square" lIns="0" tIns="0" rIns="0" bIns="0" rtlCol="0" anchor="ctr"/>
          <a:lstStyle/>
          <a:p>
            <a:pPr marL="0" indent="0" eaLnBrk="0">
              <a:buNone/>
            </a:pPr>
            <a:r>
              <a:rPr lang="ko-KR" sz="1400" dirty="0" altLang="en-US">
                <a:solidFill>
                  <a:schemeClr val="tx1"/>
                </a:solidFill>
              </a:rPr>
              <a:t>타임아웃 1건</a:t>
            </a:r>
            <a:endParaRPr lang="ko-KR" sz="1400" dirty="0" altLang="en-US"/>
          </a:p>
        </p:txBody>
      </p:sp>
      <p:sp>
        <p:nvSpPr>
          <p:cNvPr id="27" name="Text 22"/>
          <p:cNvSpPr txBox="1"/>
          <p:nvPr/>
        </p:nvSpPr>
        <p:spPr>
          <a:xfrm>
            <a:off x="6766560" y="4242816"/>
            <a:ext cx="1371600" cy="685800"/>
          </a:xfrm>
          <a:prstGeom prst="rect">
            <a:avLst/>
          </a:prstGeom>
          <a:noFill/>
          <a:ln/>
        </p:spPr>
        <p:txBody>
          <a:bodyPr wrap="square" lIns="0" tIns="0" rIns="0" bIns="0" rtlCol="0" anchor="ctr"/>
          <a:lstStyle/>
          <a:p>
            <a:pPr marL="0" indent="0" eaLnBrk="0">
              <a:buNone/>
            </a:pPr>
            <a:r>
              <a:rPr lang="ko-KR" sz="1800" b="1" dirty="0" altLang="en-US">
                <a:solidFill>
                  <a:schemeClr val="accent3"/>
                </a:solidFill>
              </a:rPr>
              <a:t>−0.0002</a:t>
            </a:r>
            <a:endParaRPr lang="ko-KR" sz="1800" dirty="0" altLang="en-US"/>
          </a:p>
        </p:txBody>
      </p:sp>
      <p:sp>
        <p:nvSpPr>
          <p:cNvPr id="28" name="Text 23"/>
          <p:cNvSpPr txBox="1"/>
          <p:nvPr/>
        </p:nvSpPr>
        <p:spPr>
          <a:xfrm>
            <a:off x="8229600" y="4242816"/>
            <a:ext cx="3291840" cy="685800"/>
          </a:xfrm>
          <a:prstGeom prst="rect">
            <a:avLst/>
          </a:prstGeom>
          <a:noFill/>
          <a:ln/>
        </p:spPr>
        <p:txBody>
          <a:bodyPr wrap="square" lIns="0" tIns="0" rIns="0" bIns="0" rtlCol="0" anchor="ctr"/>
          <a:lstStyle/>
          <a:p>
            <a:pPr marL="0" indent="0" eaLnBrk="0">
              <a:buNone/>
            </a:pPr>
            <a:r>
              <a:rPr lang="ko-KR" sz="1400" dirty="0" altLang="en-US">
                <a:solidFill>
                  <a:schemeClr val="tx1"/>
                </a:solidFill>
              </a:rPr>
              <a:t>재배치 거리 1m</a:t>
            </a:r>
            <a:endParaRPr lang="ko-KR" sz="1400" dirty="0" altLang="en-US"/>
          </a:p>
        </p:txBody>
      </p:sp>
      <p:sp>
        <p:nvSpPr>
          <p:cNvPr id="30" name="Text 25"/>
          <p:cNvSpPr txBox="1"/>
          <p:nvPr/>
        </p:nvSpPr>
        <p:spPr>
          <a:xfrm>
            <a:off x="6766560" y="5047488"/>
            <a:ext cx="1371600" cy="685800"/>
          </a:xfrm>
          <a:prstGeom prst="rect">
            <a:avLst/>
          </a:prstGeom>
          <a:noFill/>
          <a:ln/>
        </p:spPr>
        <p:txBody>
          <a:bodyPr wrap="square" lIns="0" tIns="0" rIns="0" bIns="0" rtlCol="0" anchor="ctr"/>
          <a:lstStyle/>
          <a:p>
            <a:pPr marL="0" indent="0" eaLnBrk="0">
              <a:buNone/>
            </a:pPr>
            <a:r>
              <a:rPr lang="ko-KR" sz="1800" b="1" dirty="0" altLang="en-US">
                <a:solidFill>
                  <a:schemeClr val="accent5"/>
                </a:solidFill>
              </a:rPr>
              <a:t>+0.5</a:t>
            </a:r>
            <a:endParaRPr lang="ko-KR" sz="1800" dirty="0" altLang="en-US"/>
          </a:p>
        </p:txBody>
      </p:sp>
      <p:sp>
        <p:nvSpPr>
          <p:cNvPr id="31" name="Text 26"/>
          <p:cNvSpPr txBox="1"/>
          <p:nvPr/>
        </p:nvSpPr>
        <p:spPr>
          <a:xfrm>
            <a:off x="8229600" y="5047488"/>
            <a:ext cx="3291840" cy="685800"/>
          </a:xfrm>
          <a:prstGeom prst="rect">
            <a:avLst/>
          </a:prstGeom>
          <a:noFill/>
          <a:ln/>
        </p:spPr>
        <p:txBody>
          <a:bodyPr wrap="square" lIns="0" tIns="0" rIns="0" bIns="0" rtlCol="0" anchor="ctr"/>
          <a:lstStyle/>
          <a:p>
            <a:pPr marL="0" indent="0" eaLnBrk="0">
              <a:buNone/>
            </a:pPr>
            <a:r>
              <a:rPr lang="ko-KR" sz="1400" dirty="0" altLang="en-US">
                <a:solidFill>
                  <a:schemeClr val="tx1"/>
                </a:solidFill>
              </a:rPr>
              <a:t>기본 배치(70:30) 근접 보조</a:t>
            </a:r>
            <a:endParaRPr lang="ko-KR" sz="1400" dirty="0" altLang="en-US"/>
          </a:p>
        </p:txBody>
      </p:sp>
      <p:sp>
        <p:nvSpPr>
          <p:cNvPr id="32" name="Text 27"/>
          <p:cNvSpPr txBox="1"/>
          <p:nvPr/>
        </p:nvSpPr>
        <p:spPr>
          <a:xfrm>
            <a:off x="6583680" y="5897880"/>
            <a:ext cx="5029200" cy="457200"/>
          </a:xfrm>
          <a:prstGeom prst="rect">
            <a:avLst/>
          </a:prstGeom>
          <a:noFill/>
          <a:ln/>
        </p:spPr>
        <p:txBody>
          <a:bodyPr wrap="square" lIns="0" tIns="0" rIns="0" bIns="0" rtlCol="0" anchor="t"/>
          <a:lstStyle/>
          <a:p>
            <a:pPr marL="0" indent="0" eaLnBrk="0">
              <a:buNone/>
            </a:pPr>
            <a:r>
              <a:rPr lang="ko-KR" sz="1200" dirty="0" altLang="en-US">
                <a:solidFill>
                  <a:schemeClr val="accent4"/>
                </a:solidFill>
              </a:rPr>
              <a:t>승객 서비스가 더 좋아지면 70:30에서 벗어나도 된다 (보조 보상일 뿐)</a:t>
            </a:r>
            <a:endParaRPr lang="ko-KR" sz="1200" dirty="0" altLang="en-US"/>
          </a:p>
        </p:txBody>
      </p:sp>
      <p:sp>
        <p:nvSpPr>
          <p:cNvPr id="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실험 설계 · 배치 전략 비교 (RL vs 고정 배치)</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7222213" y="6297473"/>
            <a:ext cx="784555" cy="362102"/>
          </a:xfrm>
          <a:prstGeom prst="rect">
            <a:avLst/>
          </a:prstGeom>
        </p:spPr>
      </p:pic>
      <p:sp>
        <p:nvSpPr>
          <p:cNvPr id="6" name="Shape 1"/>
          <p:cNvSpPr/>
          <p:nvPr/>
        </p:nvSpPr>
        <p:spPr>
          <a:xfrm>
            <a:off x="3840480" y="1554480"/>
            <a:ext cx="2212848" cy="566928"/>
          </a:xfrm>
          <a:prstGeom prst="rect">
            <a:avLst/>
          </a:prstGeom>
          <a:noFill/>
          <a:ln w="12700">
            <a:noFill/>
            <a:prstDash val="solid"/>
          </a:ln>
        </p:spPr>
      </p:sp>
      <p:sp>
        <p:nvSpPr>
          <p:cNvPr id="7" name="Text 2"/>
          <p:cNvSpPr txBox="1"/>
          <p:nvPr/>
        </p:nvSpPr>
        <p:spPr>
          <a:xfrm>
            <a:off x="3840480" y="1554480"/>
            <a:ext cx="2212848" cy="566928"/>
          </a:xfrm>
          <a:prstGeom prst="rect">
            <a:avLst/>
          </a:prstGeom>
          <a:noFill/>
          <a:ln/>
        </p:spPr>
        <p:txBody>
          <a:bodyPr wrap="square" lIns="0" tIns="0" rIns="0" bIns="0" rtlCol="0" anchor="ctr"/>
          <a:lstStyle/>
          <a:p>
            <a:pPr marL="0" indent="0" algn="ctr" eaLnBrk="0">
              <a:buNone/>
            </a:pPr>
            <a:r>
              <a:rPr lang="ko-KR" sz="1400" b="1" dirty="0" altLang="en-US">
                <a:solidFill>
                  <a:schemeClr val="tx1"/>
                </a:solidFill>
              </a:rPr>
              <a:t>custom_greedy</a:t>
            </a:r>
            <a:endParaRPr lang="ko-KR" sz="1400" dirty="0" altLang="en-US"/>
          </a:p>
        </p:txBody>
      </p:sp>
      <p:sp>
        <p:nvSpPr>
          <p:cNvPr id="8" name="Shape 3"/>
          <p:cNvSpPr/>
          <p:nvPr/>
        </p:nvSpPr>
        <p:spPr>
          <a:xfrm>
            <a:off x="6126480" y="1554480"/>
            <a:ext cx="2212848" cy="566928"/>
          </a:xfrm>
          <a:prstGeom prst="rect">
            <a:avLst/>
          </a:prstGeom>
          <a:noFill/>
          <a:ln w="12700">
            <a:noFill/>
            <a:prstDash val="solid"/>
          </a:ln>
        </p:spPr>
      </p:sp>
      <p:sp>
        <p:nvSpPr>
          <p:cNvPr id="9" name="Text 4"/>
          <p:cNvSpPr txBox="1"/>
          <p:nvPr/>
        </p:nvSpPr>
        <p:spPr>
          <a:xfrm>
            <a:off x="6126480" y="1554480"/>
            <a:ext cx="2212848" cy="566928"/>
          </a:xfrm>
          <a:prstGeom prst="rect">
            <a:avLst/>
          </a:prstGeom>
          <a:noFill/>
          <a:ln/>
        </p:spPr>
        <p:txBody>
          <a:bodyPr wrap="square" lIns="0" tIns="0" rIns="0" bIns="0" rtlCol="0" anchor="ctr"/>
          <a:lstStyle/>
          <a:p>
            <a:pPr marL="0" indent="0" algn="ctr" eaLnBrk="0">
              <a:buNone/>
            </a:pPr>
            <a:r>
              <a:rPr lang="ko-KR" sz="1400" b="1" dirty="0" altLang="en-US">
                <a:solidFill>
                  <a:schemeClr val="tx1"/>
                </a:solidFill>
              </a:rPr>
              <a:t>hungarian</a:t>
            </a:r>
            <a:endParaRPr lang="ko-KR" sz="1400" dirty="0" altLang="en-US"/>
          </a:p>
        </p:txBody>
      </p:sp>
      <p:sp>
        <p:nvSpPr>
          <p:cNvPr id="10" name="Shape 5"/>
          <p:cNvSpPr/>
          <p:nvPr/>
        </p:nvSpPr>
        <p:spPr>
          <a:xfrm>
            <a:off x="548640" y="2194560"/>
            <a:ext cx="3218688" cy="1207008"/>
          </a:xfrm>
          <a:prstGeom prst="rect">
            <a:avLst/>
          </a:prstGeom>
          <a:solidFill>
            <a:schemeClr val="bg2"/>
          </a:solidFill>
          <a:ln w="12700">
            <a:noFill/>
            <a:prstDash val="solid"/>
          </a:ln>
        </p:spPr>
      </p:sp>
      <p:sp>
        <p:nvSpPr>
          <p:cNvPr id="11" name="Text 6"/>
          <p:cNvSpPr txBox="1"/>
          <p:nvPr/>
        </p:nvSpPr>
        <p:spPr>
          <a:xfrm>
            <a:off x="548640" y="2194560"/>
            <a:ext cx="3218688" cy="1207008"/>
          </a:xfrm>
          <a:prstGeom prst="rect">
            <a:avLst/>
          </a:prstGeom>
          <a:noFill/>
          <a:ln/>
        </p:spPr>
        <p:txBody>
          <a:bodyPr wrap="square" lIns="0" tIns="0" rIns="0" bIns="0" rtlCol="0" anchor="ctr"/>
          <a:lstStyle/>
          <a:p>
            <a:pPr marL="0" indent="0" algn="ctr" eaLnBrk="0">
              <a:buNone/>
            </a:pPr>
            <a:r>
              <a:rPr lang="ko-KR" sz="1400" b="1" dirty="0" altLang="en-US">
                <a:solidFill>
                  <a:schemeClr val="tx1"/>
                </a:solidFill>
              </a:rPr>
              <a:t>prepositioned · Baseline</a:t>
            </a:r>
            <a:endParaRPr lang="ko-KR" sz="1400" dirty="0" altLang="en-US"/>
          </a:p>
          <a:p>
            <a:pPr marL="0" indent="0" algn="ctr" eaLnBrk="0">
              <a:buNone/>
            </a:pPr>
            <a:r>
              <a:rPr lang="ko-KR" sz="1400" b="1" dirty="0" altLang="en-US">
                <a:solidFill>
                  <a:schemeClr val="tx1"/>
                </a:solidFill>
              </a:rPr>
              <a:t>(시간대별 핫스팟 사전 배치)</a:t>
            </a:r>
            <a:endParaRPr lang="ko-KR" sz="1400" dirty="0" altLang="en-US"/>
          </a:p>
        </p:txBody>
      </p:sp>
      <p:sp>
        <p:nvSpPr>
          <p:cNvPr id="12" name="Shape 7"/>
          <p:cNvSpPr/>
          <p:nvPr/>
        </p:nvSpPr>
        <p:spPr>
          <a:xfrm>
            <a:off x="3840480" y="2194560"/>
            <a:ext cx="2212848" cy="1207008"/>
          </a:xfrm>
          <a:prstGeom prst="rect">
            <a:avLst/>
          </a:prstGeom>
          <a:solidFill>
            <a:srgbClr val="FFFFFF"/>
          </a:solidFill>
          <a:ln w="12700">
            <a:solidFill>
              <a:srgbClr val="E1E5EE"/>
            </a:solidFill>
            <a:prstDash val="solid"/>
          </a:ln>
        </p:spPr>
      </p:sp>
      <p:sp>
        <p:nvSpPr>
          <p:cNvPr id="13" name="Text 8"/>
          <p:cNvSpPr txBox="1"/>
          <p:nvPr/>
        </p:nvSpPr>
        <p:spPr>
          <a:xfrm>
            <a:off x="3840480" y="2194560"/>
            <a:ext cx="2212848" cy="1207008"/>
          </a:xfrm>
          <a:prstGeom prst="rect">
            <a:avLst/>
          </a:prstGeom>
          <a:noFill/>
          <a:ln/>
        </p:spPr>
        <p:txBody>
          <a:bodyPr wrap="square" lIns="0" tIns="0" rIns="0" bIns="0" rtlCol="0" anchor="ctr"/>
          <a:lstStyle/>
          <a:p>
            <a:pPr marL="0" indent="0" algn="ctr" eaLnBrk="0">
              <a:buNone/>
            </a:pPr>
            <a:r>
              <a:rPr lang="ko-KR" sz="2000" b="1" dirty="0" altLang="en-US">
                <a:solidFill>
                  <a:schemeClr val="accent4"/>
                </a:solidFill>
              </a:rPr>
              <a:t>④</a:t>
            </a:r>
            <a:endParaRPr lang="ko-KR" sz="2000" dirty="0" altLang="en-US"/>
          </a:p>
        </p:txBody>
      </p:sp>
      <p:sp>
        <p:nvSpPr>
          <p:cNvPr id="14" name="Shape 9"/>
          <p:cNvSpPr/>
          <p:nvPr/>
        </p:nvSpPr>
        <p:spPr>
          <a:xfrm>
            <a:off x="6126480" y="2194560"/>
            <a:ext cx="2212848" cy="1207008"/>
          </a:xfrm>
          <a:prstGeom prst="rect">
            <a:avLst/>
          </a:prstGeom>
          <a:solidFill>
            <a:srgbClr val="FFFFFF"/>
          </a:solidFill>
          <a:ln w="12700">
            <a:solidFill>
              <a:srgbClr val="E1E5EE"/>
            </a:solidFill>
            <a:prstDash val="solid"/>
          </a:ln>
        </p:spPr>
      </p:sp>
      <p:sp>
        <p:nvSpPr>
          <p:cNvPr id="15" name="Text 10"/>
          <p:cNvSpPr txBox="1"/>
          <p:nvPr/>
        </p:nvSpPr>
        <p:spPr>
          <a:xfrm>
            <a:off x="6126480" y="2194560"/>
            <a:ext cx="2212848" cy="1207008"/>
          </a:xfrm>
          <a:prstGeom prst="rect">
            <a:avLst/>
          </a:prstGeom>
          <a:noFill/>
          <a:ln/>
        </p:spPr>
        <p:txBody>
          <a:bodyPr wrap="square" lIns="0" tIns="0" rIns="0" bIns="0" rtlCol="0" anchor="ctr"/>
          <a:lstStyle/>
          <a:p>
            <a:pPr marL="0" indent="0" algn="ctr" eaLnBrk="0">
              <a:buNone/>
            </a:pPr>
            <a:r>
              <a:rPr lang="ko-KR" sz="2000" b="1" dirty="0" altLang="en-US">
                <a:solidFill>
                  <a:schemeClr val="accent4"/>
                </a:solidFill>
              </a:rPr>
              <a:t>②</a:t>
            </a:r>
            <a:endParaRPr lang="ko-KR" sz="2000" dirty="0" altLang="en-US"/>
          </a:p>
        </p:txBody>
      </p:sp>
      <p:sp>
        <p:nvSpPr>
          <p:cNvPr id="16" name="Shape 11"/>
          <p:cNvSpPr/>
          <p:nvPr/>
        </p:nvSpPr>
        <p:spPr>
          <a:xfrm>
            <a:off x="548640" y="3474720"/>
            <a:ext cx="3218688" cy="1207008"/>
          </a:xfrm>
          <a:prstGeom prst="rect">
            <a:avLst/>
          </a:prstGeom>
          <a:solidFill>
            <a:schemeClr val="bg2"/>
          </a:solidFill>
          <a:ln w="12700">
            <a:noFill/>
            <a:prstDash val="solid"/>
          </a:ln>
        </p:spPr>
      </p:sp>
      <p:sp>
        <p:nvSpPr>
          <p:cNvPr id="17" name="Text 12"/>
          <p:cNvSpPr txBox="1"/>
          <p:nvPr/>
        </p:nvSpPr>
        <p:spPr>
          <a:xfrm>
            <a:off x="548640" y="3474720"/>
            <a:ext cx="3218688" cy="1207008"/>
          </a:xfrm>
          <a:prstGeom prst="rect">
            <a:avLst/>
          </a:prstGeom>
          <a:noFill/>
          <a:ln/>
        </p:spPr>
        <p:txBody>
          <a:bodyPr wrap="square" lIns="0" tIns="0" rIns="0" bIns="0" rtlCol="0" anchor="ctr"/>
          <a:lstStyle/>
          <a:p>
            <a:pPr marL="0" indent="0" algn="ctr" eaLnBrk="0">
              <a:buNone/>
            </a:pPr>
            <a:r>
              <a:rPr lang="ko-KR" sz="1400" b="1" dirty="0" altLang="en-US">
                <a:solidFill>
                  <a:schemeClr val="tx1"/>
                </a:solidFill>
              </a:rPr>
              <a:t>rl_prepositioned · 제안</a:t>
            </a:r>
            <a:endParaRPr lang="ko-KR" sz="1400" dirty="0" altLang="en-US"/>
          </a:p>
          <a:p>
            <a:pPr marL="0" indent="0" algn="ctr" eaLnBrk="0">
              <a:buNone/>
            </a:pPr>
            <a:r>
              <a:rPr lang="ko-KR" sz="1400" b="1" dirty="0" altLang="en-US">
                <a:solidFill>
                  <a:schemeClr val="tx1"/>
                </a:solidFill>
              </a:rPr>
              <a:t>(PPO 재배치)</a:t>
            </a:r>
            <a:endParaRPr lang="ko-KR" sz="1400" dirty="0" altLang="en-US"/>
          </a:p>
        </p:txBody>
      </p:sp>
      <p:sp>
        <p:nvSpPr>
          <p:cNvPr id="18" name="Shape 13"/>
          <p:cNvSpPr/>
          <p:nvPr/>
        </p:nvSpPr>
        <p:spPr>
          <a:xfrm>
            <a:off x="3840480" y="3474720"/>
            <a:ext cx="2212848" cy="1207008"/>
          </a:xfrm>
          <a:prstGeom prst="rect">
            <a:avLst/>
          </a:prstGeom>
          <a:solidFill>
            <a:srgbClr val="FFFFFF"/>
          </a:solidFill>
          <a:ln w="12700">
            <a:solidFill>
              <a:srgbClr val="E1E5EE"/>
            </a:solidFill>
            <a:prstDash val="solid"/>
          </a:ln>
        </p:spPr>
      </p:sp>
      <p:sp>
        <p:nvSpPr>
          <p:cNvPr id="19" name="Text 14"/>
          <p:cNvSpPr txBox="1"/>
          <p:nvPr/>
        </p:nvSpPr>
        <p:spPr>
          <a:xfrm>
            <a:off x="3840480" y="3474720"/>
            <a:ext cx="2212848" cy="1207008"/>
          </a:xfrm>
          <a:prstGeom prst="rect">
            <a:avLst/>
          </a:prstGeom>
          <a:noFill/>
          <a:ln/>
        </p:spPr>
        <p:txBody>
          <a:bodyPr wrap="square" lIns="0" tIns="0" rIns="0" bIns="0" rtlCol="0" anchor="ctr"/>
          <a:lstStyle/>
          <a:p>
            <a:pPr marL="0" indent="0" algn="ctr" eaLnBrk="0">
              <a:buNone/>
            </a:pPr>
            <a:r>
              <a:rPr lang="ko-KR" sz="2000" b="1" dirty="0" altLang="en-US">
                <a:solidFill>
                  <a:schemeClr val="accent4"/>
                </a:solidFill>
              </a:rPr>
              <a:t>③</a:t>
            </a:r>
            <a:endParaRPr lang="ko-KR" sz="2000" dirty="0" altLang="en-US"/>
          </a:p>
        </p:txBody>
      </p:sp>
      <p:sp>
        <p:nvSpPr>
          <p:cNvPr id="20" name="Shape 15"/>
          <p:cNvSpPr/>
          <p:nvPr/>
        </p:nvSpPr>
        <p:spPr>
          <a:xfrm>
            <a:off x="6126480" y="3474720"/>
            <a:ext cx="2212848" cy="1207008"/>
          </a:xfrm>
          <a:prstGeom prst="rect">
            <a:avLst/>
          </a:prstGeom>
          <a:solidFill>
            <a:srgbClr val="FFF4CC"/>
          </a:solidFill>
          <a:ln w="25400">
            <a:solidFill>
              <a:schemeClr val="accent1"/>
            </a:solidFill>
            <a:prstDash val="solid"/>
          </a:ln>
        </p:spPr>
      </p:sp>
      <p:sp>
        <p:nvSpPr>
          <p:cNvPr id="21" name="Text 16"/>
          <p:cNvSpPr txBox="1"/>
          <p:nvPr/>
        </p:nvSpPr>
        <p:spPr>
          <a:xfrm>
            <a:off x="6126480" y="3474720"/>
            <a:ext cx="2212848" cy="1207008"/>
          </a:xfrm>
          <a:prstGeom prst="rect">
            <a:avLst/>
          </a:prstGeom>
          <a:noFill/>
          <a:ln/>
        </p:spPr>
        <p:txBody>
          <a:bodyPr wrap="square" lIns="0" tIns="0" rIns="0" bIns="0" rtlCol="0" anchor="ctr"/>
          <a:lstStyle/>
          <a:p>
            <a:pPr marL="0" indent="0" algn="ctr" eaLnBrk="0">
              <a:buNone/>
            </a:pPr>
            <a:r>
              <a:rPr lang="ko-KR" sz="2000" b="1" dirty="0" altLang="en-US">
                <a:solidFill>
                  <a:schemeClr val="tx1"/>
                </a:solidFill>
              </a:rPr>
              <a:t>① 제안</a:t>
            </a:r>
            <a:endParaRPr lang="ko-KR" sz="2000" dirty="0" altLang="en-US"/>
          </a:p>
        </p:txBody>
      </p:sp>
      <p:sp>
        <p:nvSpPr>
          <p:cNvPr id="22" name="Text 17"/>
          <p:cNvSpPr txBox="1"/>
          <p:nvPr/>
        </p:nvSpPr>
        <p:spPr>
          <a:xfrm>
            <a:off x="8778240" y="1554480"/>
            <a:ext cx="2743200" cy="365760"/>
          </a:xfrm>
          <a:prstGeom prst="rect">
            <a:avLst/>
          </a:prstGeom>
          <a:noFill/>
          <a:ln/>
        </p:spPr>
        <p:txBody>
          <a:bodyPr wrap="square" lIns="0" tIns="0" rIns="0" bIns="0" rtlCol="0" anchor="t"/>
          <a:lstStyle/>
          <a:p>
            <a:pPr marL="0" indent="0" eaLnBrk="0">
              <a:buNone/>
            </a:pPr>
            <a:r>
              <a:rPr lang="ko-KR" sz="1800" b="1" dirty="0" altLang="en-US">
                <a:solidFill>
                  <a:schemeClr val="tx1"/>
                </a:solidFill>
              </a:rPr>
              <a:t>공통</a:t>
            </a:r>
            <a:endParaRPr lang="ko-KR" sz="1800" dirty="0" altLang="en-US"/>
          </a:p>
        </p:txBody>
      </p:sp>
      <p:sp>
        <p:nvSpPr>
          <p:cNvPr id="23" name="Text 18"/>
          <p:cNvSpPr txBox="1"/>
          <p:nvPr/>
        </p:nvSpPr>
        <p:spPr>
          <a:xfrm>
            <a:off x="8778240" y="2011680"/>
            <a:ext cx="2862072" cy="3474720"/>
          </a:xfrm>
          <a:prstGeom prst="rect">
            <a:avLst/>
          </a:prstGeom>
          <a:noFill/>
          <a:ln/>
        </p:spPr>
        <p:txBody>
          <a:bodyPr wrap="square" lIns="0" tIns="0" rIns="0" bIns="0" rtlCol="0" anchor="t"/>
          <a:lstStyle/>
          <a:p>
            <a:pPr marL="342900" indent="-342900" eaLnBrk="0">
              <a:spcAft>
                <a:spcPts val="600"/>
              </a:spcAft>
              <a:buSzPct val="100000"/>
              <a:buChar char="•"/>
            </a:pPr>
            <a:r>
              <a:rPr lang="ko-KR" sz="1400" dirty="0" altLang="en-US">
                <a:solidFill>
                  <a:schemeClr val="tx1"/>
                </a:solidFill>
              </a:rPr>
              <a:t>같은 지도 · 택시 50대 · 하루 호출 약 6천 건</a:t>
            </a:r>
            <a:endParaRPr lang="ko-KR" sz="1400" dirty="0" altLang="en-US"/>
          </a:p>
          <a:p>
            <a:pPr marL="342900" indent="-342900" eaLnBrk="0">
              <a:spcAft>
                <a:spcPts val="600"/>
              </a:spcAft>
              <a:buSzPct val="100000"/>
              <a:buChar char="•"/>
            </a:pPr>
            <a:r>
              <a:rPr lang="ko-KR" sz="1400" dirty="0" altLang="en-US">
                <a:solidFill>
                  <a:schemeClr val="tx1"/>
                </a:solidFill>
              </a:rPr>
              <a:t>비교 변수는 배치 전략, 배차는 헝가리안 고정</a:t>
            </a:r>
            <a:endParaRPr lang="ko-KR" sz="1400" dirty="0" altLang="en-US"/>
          </a:p>
          <a:p>
            <a:pPr marL="342900" indent="-342900" eaLnBrk="0">
              <a:spcAft>
                <a:spcPts val="600"/>
              </a:spcAft>
              <a:buSzPct val="100000"/>
              <a:buChar char="•"/>
            </a:pPr>
            <a:r>
              <a:rPr lang="ko-KR" sz="1400" dirty="0" altLang="en-US">
                <a:solidFill>
                  <a:schemeClr val="tx1"/>
                </a:solidFill>
              </a:rPr>
              <a:t>평균 대기 = (탑승 대기합 + 타임아웃×500초) ÷ (탑승+타임아웃)</a:t>
            </a:r>
            <a:endParaRPr lang="ko-KR" sz="1400" dirty="0" altLang="en-US"/>
          </a:p>
          <a:p>
            <a:pPr marL="342900" indent="-342900" eaLnBrk="0">
              <a:spcAft>
                <a:spcPts val="600"/>
              </a:spcAft>
              <a:buSzPct val="100000"/>
              <a:buChar char="•"/>
            </a:pPr>
            <a:r>
              <a:rPr lang="ko-KR" sz="1400" dirty="0" altLang="en-US">
                <a:solidFill>
                  <a:schemeClr val="tx1"/>
                </a:solidFill>
              </a:rPr>
              <a:t>휴일·주말 3일 + 평일 1일 반복 비교</a:t>
            </a:r>
            <a:endParaRPr lang="ko-KR" sz="1400" dirty="0" altLang="en-US"/>
          </a:p>
        </p:txBody>
      </p:sp>
      <p:sp>
        <p:nvSpPr>
          <p:cNvPr id="24" name="Text 19"/>
          <p:cNvSpPr txBox="1"/>
          <p:nvPr/>
        </p:nvSpPr>
        <p:spPr>
          <a:xfrm>
            <a:off x="548640" y="5120640"/>
            <a:ext cx="11064240" cy="731520"/>
          </a:xfrm>
          <a:prstGeom prst="rect">
            <a:avLst/>
          </a:prstGeom>
          <a:noFill/>
          <a:ln/>
        </p:spPr>
        <p:txBody>
          <a:bodyPr wrap="square" lIns="0" tIns="0" rIns="0" bIns="0" rtlCol="0" anchor="t"/>
          <a:lstStyle/>
          <a:p>
            <a:pPr marL="0" indent="0" eaLnBrk="0">
              <a:buNone/>
            </a:pPr>
            <a:r>
              <a:rPr lang="ko-KR" sz="1300" dirty="0" altLang="en-US">
                <a:solidFill>
                  <a:schemeClr val="accent4"/>
                </a:solidFill>
              </a:rPr>
              <a:t>표의 숫자는 10/9 휴일 로그 기준 순위(①이 1위). 시간대별 분석(13번)에 쓴 로그 4개는 모두 휴일·주말이다.</a:t>
            </a:r>
            <a:endParaRPr lang="ko-KR" sz="1300" dirty="0" altLang="en-US"/>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11</a:t>
            </a:fld>
            <a:endParaRPr lang="ko-KR" altLang="en-US"/>
          </a:p>
        </p:txBody>
      </p:sp>
      <p:cxnSp>
        <p:nvCxnSpPr>
          <p:cNvPr id="26" name="Connector 25"/>
          <p:cNvCxnSpPr/>
          <p:nvPr/>
        </p:nvCxnSpPr>
        <p:spPr>
          <a:xfrm>
            <a:off x="3840480" y="2121408"/>
            <a:ext cx="449884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cxnSp>
        <p:nvCxnSpPr>
          <p:cNvPr id="28" name="Connector 27"/>
          <p:cNvCxnSpPr/>
          <p:nvPr/>
        </p:nvCxnSpPr>
        <p:spPr>
          <a:xfrm>
            <a:off x="7909560" y="4480560"/>
            <a:ext cx="347472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909560" y="2926080"/>
            <a:ext cx="347472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909560" y="1371600"/>
            <a:ext cx="347472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1차 결과 · RL 재배치가 휴일 3일 모두 우세</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7963721" y="6297473"/>
            <a:ext cx="784555" cy="362102"/>
          </a:xfrm>
          <a:prstGeom prst="rect">
            <a:avLst/>
          </a:prstGeom>
        </p:spPr>
      </p:pic>
      <p:graphicFrame>
        <p:nvGraphicFramePr>
          <p:cNvPr id="6" name="Chart 0"/>
          <p:cNvGraphicFramePr/>
          <p:nvPr/>
        </p:nvGraphicFramePr>
        <p:xfrm>
          <a:off x="548640" y="1371600"/>
          <a:ext cx="6766560" cy="429768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 1"/>
          <p:cNvSpPr txBox="1"/>
          <p:nvPr/>
        </p:nvSpPr>
        <p:spPr>
          <a:xfrm>
            <a:off x="548640" y="5760720"/>
            <a:ext cx="6766560" cy="320040"/>
          </a:xfrm>
          <a:prstGeom prst="rect">
            <a:avLst/>
          </a:prstGeom>
          <a:noFill/>
          <a:ln/>
        </p:spPr>
        <p:txBody>
          <a:bodyPr wrap="square" lIns="0" tIns="0" rIns="0" bIns="0" rtlCol="0" anchor="t"/>
          <a:lstStyle/>
          <a:p>
            <a:pPr marL="0" indent="0" eaLnBrk="0">
              <a:buNone/>
            </a:pPr>
            <a:r>
              <a:rPr lang="ko-KR" sz="1200" dirty="0" altLang="en-US">
                <a:solidFill>
                  <a:schemeClr val="accent4"/>
                </a:solidFill>
              </a:rPr>
              <a:t>※ 헝가리안 배차 고정 · 평일은 1일치 · 원인(수요 포화 추정)은 검증 예정 · 10/9만 이전 모델(100,352 step), 나머지는 51,200 step 모델</a:t>
            </a:r>
            <a:endParaRPr lang="ko-KR" sz="1200" dirty="0" altLang="en-US"/>
          </a:p>
        </p:txBody>
      </p:sp>
      <p:sp>
        <p:nvSpPr>
          <p:cNvPr id="9" name="Text 3"/>
          <p:cNvSpPr txBox="1"/>
          <p:nvPr/>
        </p:nvSpPr>
        <p:spPr>
          <a:xfrm>
            <a:off x="7909560" y="1508760"/>
            <a:ext cx="1783080" cy="1097280"/>
          </a:xfrm>
          <a:prstGeom prst="rect">
            <a:avLst/>
          </a:prstGeom>
          <a:noFill/>
          <a:ln/>
        </p:spPr>
        <p:txBody>
          <a:bodyPr wrap="none" lIns="0" tIns="0" rIns="0" bIns="0" rtlCol="0" anchor="ctr"/>
          <a:lstStyle/>
          <a:p>
            <a:pPr marL="0" indent="0" eaLnBrk="0">
              <a:buNone/>
            </a:pPr>
            <a:r>
              <a:rPr lang="ko-KR" sz="2600" b="1" dirty="0" altLang="en-US">
                <a:solidFill>
                  <a:schemeClr val="accent3"/>
                </a:solidFill>
              </a:rPr>
              <a:t>−11~15%</a:t>
            </a:r>
            <a:endParaRPr lang="ko-KR" sz="3200" dirty="0" altLang="en-US"/>
          </a:p>
        </p:txBody>
      </p:sp>
      <p:sp>
        <p:nvSpPr>
          <p:cNvPr id="10" name="Text 4"/>
          <p:cNvSpPr txBox="1"/>
          <p:nvPr/>
        </p:nvSpPr>
        <p:spPr>
          <a:xfrm>
            <a:off x="9738360" y="1508760"/>
            <a:ext cx="1783080" cy="1097280"/>
          </a:xfrm>
          <a:prstGeom prst="rect">
            <a:avLst/>
          </a:prstGeom>
          <a:noFill/>
          <a:ln/>
        </p:spPr>
        <p:txBody>
          <a:bodyPr wrap="square" lIns="0" tIns="0" rIns="0" bIns="0" rtlCol="0" anchor="ctr"/>
          <a:lstStyle/>
          <a:p>
            <a:pPr marL="0" indent="0" eaLnBrk="0">
              <a:buNone/>
            </a:pPr>
            <a:r>
              <a:rPr lang="ko-KR" sz="1300" dirty="0" altLang="en-US">
                <a:solidFill>
                  <a:schemeClr val="accent4"/>
                </a:solidFill>
              </a:rPr>
              <a:t>평균 대기 감소</a:t>
            </a:r>
            <a:endParaRPr lang="ko-KR" sz="1300" dirty="0" altLang="en-US"/>
          </a:p>
          <a:p>
            <a:pPr marL="0" indent="0" eaLnBrk="0">
              <a:buNone/>
            </a:pPr>
            <a:r>
              <a:rPr lang="ko-KR" sz="1300" dirty="0" altLang="en-US">
                <a:solidFill>
                  <a:schemeClr val="accent4"/>
                </a:solidFill>
              </a:rPr>
              <a:t>(휴일 3일, 고정 배치 대비)</a:t>
            </a:r>
            <a:endParaRPr lang="ko-KR" sz="1300" dirty="0" altLang="en-US"/>
          </a:p>
        </p:txBody>
      </p:sp>
      <p:sp>
        <p:nvSpPr>
          <p:cNvPr id="12" name="Text 6"/>
          <p:cNvSpPr txBox="1"/>
          <p:nvPr/>
        </p:nvSpPr>
        <p:spPr>
          <a:xfrm>
            <a:off x="7909560" y="3063240"/>
            <a:ext cx="1783080" cy="1097280"/>
          </a:xfrm>
          <a:prstGeom prst="rect">
            <a:avLst/>
          </a:prstGeom>
          <a:noFill/>
          <a:ln/>
        </p:spPr>
        <p:txBody>
          <a:bodyPr wrap="none" lIns="0" tIns="0" rIns="0" bIns="0" rtlCol="0" anchor="ctr"/>
          <a:lstStyle/>
          <a:p>
            <a:pPr marL="0" indent="0" eaLnBrk="0">
              <a:buNone/>
            </a:pPr>
            <a:r>
              <a:rPr lang="ko-KR" sz="2600" b="1" dirty="0" altLang="en-US">
                <a:solidFill>
                  <a:schemeClr val="accent3"/>
                </a:solidFill>
              </a:rPr>
              <a:t>−32~41%</a:t>
            </a:r>
            <a:endParaRPr lang="ko-KR" sz="3200" dirty="0" altLang="en-US"/>
          </a:p>
        </p:txBody>
      </p:sp>
      <p:sp>
        <p:nvSpPr>
          <p:cNvPr id="13" name="Text 7"/>
          <p:cNvSpPr txBox="1"/>
          <p:nvPr/>
        </p:nvSpPr>
        <p:spPr>
          <a:xfrm>
            <a:off x="9738360" y="3063240"/>
            <a:ext cx="1783080" cy="1097280"/>
          </a:xfrm>
          <a:prstGeom prst="rect">
            <a:avLst/>
          </a:prstGeom>
          <a:noFill/>
          <a:ln/>
        </p:spPr>
        <p:txBody>
          <a:bodyPr wrap="square" lIns="0" tIns="0" rIns="0" bIns="0" rtlCol="0" anchor="ctr"/>
          <a:lstStyle/>
          <a:p>
            <a:pPr marL="0" indent="0" eaLnBrk="0">
              <a:buNone/>
            </a:pPr>
            <a:r>
              <a:rPr lang="ko-KR" sz="1300" dirty="0" altLang="en-US">
                <a:solidFill>
                  <a:schemeClr val="accent4"/>
                </a:solidFill>
              </a:rPr>
              <a:t>타임아웃 건수 감소</a:t>
            </a:r>
            <a:endParaRPr lang="ko-KR" sz="1300" dirty="0" altLang="en-US"/>
          </a:p>
          <a:p>
            <a:pPr marL="0" indent="0" eaLnBrk="0">
              <a:buNone/>
            </a:pPr>
            <a:r>
              <a:rPr lang="ko-KR" sz="1300" dirty="0" altLang="en-US">
                <a:solidFill>
                  <a:schemeClr val="accent4"/>
                </a:solidFill>
              </a:rPr>
              <a:t>(휴일 3일)</a:t>
            </a:r>
            <a:endParaRPr lang="ko-KR" sz="1300" dirty="0" altLang="en-US"/>
          </a:p>
        </p:txBody>
      </p:sp>
      <p:sp>
        <p:nvSpPr>
          <p:cNvPr id="15" name="Text 9"/>
          <p:cNvSpPr txBox="1"/>
          <p:nvPr/>
        </p:nvSpPr>
        <p:spPr>
          <a:xfrm>
            <a:off x="7909560" y="4617720"/>
            <a:ext cx="1783080" cy="1097280"/>
          </a:xfrm>
          <a:prstGeom prst="rect">
            <a:avLst/>
          </a:prstGeom>
          <a:noFill/>
          <a:ln/>
        </p:spPr>
        <p:txBody>
          <a:bodyPr wrap="none" lIns="0" tIns="0" rIns="0" bIns="0" rtlCol="0" anchor="ctr"/>
          <a:lstStyle/>
          <a:p>
            <a:pPr marL="0" indent="0" eaLnBrk="0">
              <a:buNone/>
            </a:pPr>
            <a:r>
              <a:rPr lang="ko-KR" sz="2600" b="1" dirty="0" altLang="en-US">
                <a:solidFill>
                  <a:schemeClr val="accent3"/>
                </a:solidFill>
              </a:rPr>
              <a:t>−0.4%</a:t>
            </a:r>
            <a:endParaRPr lang="ko-KR" sz="3200" dirty="0" altLang="en-US"/>
          </a:p>
        </p:txBody>
      </p:sp>
      <p:sp>
        <p:nvSpPr>
          <p:cNvPr id="16" name="Text 10"/>
          <p:cNvSpPr txBox="1"/>
          <p:nvPr/>
        </p:nvSpPr>
        <p:spPr>
          <a:xfrm>
            <a:off x="9738360" y="4617720"/>
            <a:ext cx="1783080" cy="1097280"/>
          </a:xfrm>
          <a:prstGeom prst="rect">
            <a:avLst/>
          </a:prstGeom>
          <a:noFill/>
          <a:ln/>
        </p:spPr>
        <p:txBody>
          <a:bodyPr wrap="square" lIns="0" tIns="0" rIns="0" bIns="0" rtlCol="0" anchor="ctr"/>
          <a:lstStyle/>
          <a:p>
            <a:pPr marL="0" indent="0" eaLnBrk="0">
              <a:buNone/>
            </a:pPr>
            <a:r>
              <a:rPr lang="ko-KR" sz="1300" dirty="0" altLang="en-US">
                <a:solidFill>
                  <a:schemeClr val="accent4"/>
                </a:solidFill>
              </a:rPr>
              <a:t>평일(9/23)은 개선 미미</a:t>
            </a:r>
            <a:endParaRPr lang="ko-KR" sz="1300" dirty="0" altLang="en-US"/>
          </a:p>
          <a:p>
            <a:pPr marL="0" indent="0" eaLnBrk="0">
              <a:buNone/>
            </a:pPr>
            <a:r>
              <a:rPr lang="ko-KR" sz="1300" dirty="0" altLang="en-US">
                <a:solidFill>
                  <a:schemeClr val="accent4"/>
                </a:solidFill>
              </a:rPr>
              <a:t>(타임아웃 26%)</a:t>
            </a:r>
            <a:endParaRPr lang="ko-KR" sz="1300" dirty="0" altLang="en-US"/>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cxnSp>
        <p:nvCxnSpPr>
          <p:cNvPr id="26" name="Connector 25"/>
          <p:cNvCxnSpPr/>
          <p:nvPr/>
        </p:nvCxnSpPr>
        <p:spPr>
          <a:xfrm>
            <a:off x="8686800" y="1371600"/>
            <a:ext cx="2651759"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1차 결과 · 타임아웃은 점심·저녁 피크에 몰린다</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8705229" y="6297473"/>
            <a:ext cx="784555" cy="362102"/>
          </a:xfrm>
          <a:prstGeom prst="rect">
            <a:avLst/>
          </a:prstGeom>
        </p:spPr>
      </p:pic>
      <p:graphicFrame>
        <p:nvGraphicFramePr>
          <p:cNvPr id="6" name="Chart 0"/>
          <p:cNvGraphicFramePr/>
          <p:nvPr/>
        </p:nvGraphicFramePr>
        <p:xfrm>
          <a:off x="548640" y="1371600"/>
          <a:ext cx="7498080" cy="4572000"/>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 2"/>
          <p:cNvSpPr txBox="1"/>
          <p:nvPr/>
        </p:nvSpPr>
        <p:spPr>
          <a:xfrm>
            <a:off x="8686800" y="1600200"/>
            <a:ext cx="2743200" cy="365760"/>
          </a:xfrm>
          <a:prstGeom prst="rect">
            <a:avLst/>
          </a:prstGeom>
          <a:noFill/>
          <a:ln/>
        </p:spPr>
        <p:txBody>
          <a:bodyPr wrap="square" lIns="0" tIns="0" rIns="0" bIns="0" rtlCol="0" anchor="t"/>
          <a:lstStyle/>
          <a:p>
            <a:pPr marL="0" indent="0" eaLnBrk="0">
              <a:buNone/>
            </a:pPr>
            <a:r>
              <a:rPr lang="ko-KR" sz="1800" b="1" dirty="0" altLang="en-US">
                <a:solidFill>
                  <a:schemeClr val="tx1"/>
                </a:solidFill>
              </a:rPr>
              <a:t>읽는 법</a:t>
            </a:r>
            <a:endParaRPr lang="ko-KR" sz="1800" dirty="0" altLang="en-US"/>
          </a:p>
        </p:txBody>
      </p:sp>
      <p:sp>
        <p:nvSpPr>
          <p:cNvPr id="9" name="Text 3"/>
          <p:cNvSpPr txBox="1"/>
          <p:nvPr/>
        </p:nvSpPr>
        <p:spPr>
          <a:xfrm>
            <a:off x="8686800" y="2103120"/>
            <a:ext cx="2743200" cy="3657600"/>
          </a:xfrm>
          <a:prstGeom prst="rect">
            <a:avLst/>
          </a:prstGeom>
          <a:noFill/>
          <a:ln/>
        </p:spPr>
        <p:txBody>
          <a:bodyPr wrap="square" lIns="0" tIns="0" rIns="0" bIns="0" rtlCol="0" anchor="t"/>
          <a:lstStyle/>
          <a:p>
            <a:pPr marL="342900" indent="-342900" eaLnBrk="0">
              <a:spcAft>
                <a:spcPts val="600"/>
              </a:spcAft>
              <a:buSzPct val="100000"/>
              <a:buChar char="•"/>
            </a:pPr>
            <a:r>
              <a:rPr lang="ko-KR" sz="1500" dirty="0" altLang="en-US">
                <a:solidFill>
                  <a:schemeClr val="tx1"/>
                </a:solidFill>
              </a:rPr>
              <a:t>13시(점심)와 18~21시(퇴근·저녁)에 타임아웃의 약 90%가 발생</a:t>
            </a:r>
            <a:endParaRPr lang="ko-KR" sz="1500" dirty="0" altLang="en-US"/>
          </a:p>
          <a:p>
            <a:pPr marL="342900" indent="-342900" eaLnBrk="0">
              <a:spcAft>
                <a:spcPts val="600"/>
              </a:spcAft>
              <a:buSzPct val="100000"/>
              <a:buChar char="•"/>
            </a:pPr>
            <a:r>
              <a:rPr lang="ko-KR" sz="1500" dirty="0" altLang="en-US">
                <a:solidFill>
                  <a:schemeClr val="tx1"/>
                </a:solidFill>
              </a:rPr>
              <a:t>태운 승객의 평균 대기도 이 시간대가 140초대로 가장 길다 (다른 시간대 96~123초)</a:t>
            </a:r>
            <a:endParaRPr lang="ko-KR" sz="1500" dirty="0" altLang="en-US"/>
          </a:p>
          <a:p>
            <a:pPr marL="342900" indent="-342900" eaLnBrk="0">
              <a:spcAft>
                <a:spcPts val="600"/>
              </a:spcAft>
              <a:buSzPct val="100000"/>
              <a:buChar char="•"/>
            </a:pPr>
            <a:r>
              <a:rPr lang="ko-KR" sz="1500" dirty="0" altLang="en-US">
                <a:solidFill>
                  <a:schemeClr val="tx1"/>
                </a:solidFill>
              </a:rPr>
              <a:t>개선 여지는 피크 직전에 택시를 미리 배치하는 쪽</a:t>
            </a:r>
            <a:endParaRPr lang="ko-KR" sz="1500" dirty="0" altLang="en-US"/>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cxnSp>
        <p:nvCxnSpPr>
          <p:cNvPr id="47" name="Connector 46"/>
          <p:cNvCxnSpPr/>
          <p:nvPr/>
        </p:nvCxnSpPr>
        <p:spPr>
          <a:xfrm>
            <a:off x="8321040" y="3840480"/>
            <a:ext cx="297180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72000" y="3840480"/>
            <a:ext cx="297180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22960" y="3840480"/>
            <a:ext cx="297180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321040" y="1417320"/>
            <a:ext cx="297180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572000" y="1417320"/>
            <a:ext cx="297180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22960" y="1417320"/>
            <a:ext cx="297180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트러블슈팅</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9446737" y="6297473"/>
            <a:ext cx="784555" cy="362102"/>
          </a:xfrm>
          <a:prstGeom prst="rect">
            <a:avLst/>
          </a:prstGeom>
        </p:spPr>
      </p:pic>
      <p:sp>
        <p:nvSpPr>
          <p:cNvPr id="7" name="Text 2"/>
          <p:cNvSpPr txBox="1"/>
          <p:nvPr/>
        </p:nvSpPr>
        <p:spPr>
          <a:xfrm>
            <a:off x="822960" y="1600200"/>
            <a:ext cx="3017520" cy="411480"/>
          </a:xfrm>
          <a:prstGeom prst="rect">
            <a:avLst/>
          </a:prstGeom>
          <a:noFill/>
          <a:ln/>
        </p:spPr>
        <p:txBody>
          <a:bodyPr wrap="square" lIns="0" tIns="0" rIns="0" bIns="0" rtlCol="0" anchor="t"/>
          <a:lstStyle/>
          <a:p>
            <a:pPr marL="0" indent="0" eaLnBrk="0">
              <a:buNone/>
            </a:pPr>
            <a:r>
              <a:rPr lang="ko-KR" sz="1700" b="1" dirty="0" altLang="en-US">
                <a:solidFill>
                  <a:schemeClr val="tx1"/>
                </a:solidFill>
              </a:rPr>
              <a:t>지도 변환 실패</a:t>
            </a:r>
            <a:endParaRPr lang="ko-KR" sz="1700" dirty="0" altLang="en-US"/>
          </a:p>
        </p:txBody>
      </p:sp>
      <p:sp>
        <p:nvSpPr>
          <p:cNvPr id="8" name="Text 3"/>
          <p:cNvSpPr txBox="1"/>
          <p:nvPr/>
        </p:nvSpPr>
        <p:spPr>
          <a:xfrm>
            <a:off x="822960" y="219456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3"/>
                </a:solidFill>
              </a:rPr>
              <a:t>문제</a:t>
            </a:r>
            <a:endParaRPr lang="ko-KR" sz="1200" dirty="0" altLang="en-US"/>
          </a:p>
        </p:txBody>
      </p:sp>
      <p:sp>
        <p:nvSpPr>
          <p:cNvPr id="9" name="Text 4"/>
          <p:cNvSpPr txBox="1"/>
          <p:nvPr/>
        </p:nvSpPr>
        <p:spPr>
          <a:xfrm>
            <a:off x="1463040" y="2148840"/>
            <a:ext cx="2468880" cy="548640"/>
          </a:xfrm>
          <a:prstGeom prst="rect">
            <a:avLst/>
          </a:prstGeom>
          <a:noFill/>
          <a:ln/>
        </p:spPr>
        <p:txBody>
          <a:bodyPr wrap="square" lIns="0" tIns="0" rIns="0" bIns="0" rtlCol="0" anchor="t"/>
          <a:lstStyle/>
          <a:p>
            <a:pPr marL="0" indent="0" eaLnBrk="0">
              <a:buNone/>
            </a:pPr>
            <a:r>
              <a:rPr lang="ko-KR" sz="1300" dirty="0" altLang="en-US">
                <a:solidFill>
                  <a:schemeClr val="tx1"/>
                </a:solidFill>
              </a:rPr>
              <a:t>netconvert가 OSM에서 자주 중단</a:t>
            </a:r>
            <a:endParaRPr lang="ko-KR" sz="1300" dirty="0" altLang="en-US"/>
          </a:p>
        </p:txBody>
      </p:sp>
      <p:sp>
        <p:nvSpPr>
          <p:cNvPr id="10" name="Text 5"/>
          <p:cNvSpPr txBox="1"/>
          <p:nvPr/>
        </p:nvSpPr>
        <p:spPr>
          <a:xfrm>
            <a:off x="822960" y="288036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2"/>
                </a:solidFill>
              </a:rPr>
              <a:t>해결</a:t>
            </a:r>
            <a:endParaRPr lang="ko-KR" sz="1200" dirty="0" altLang="en-US"/>
          </a:p>
        </p:txBody>
      </p:sp>
      <p:sp>
        <p:nvSpPr>
          <p:cNvPr id="11" name="Text 6"/>
          <p:cNvSpPr txBox="1"/>
          <p:nvPr/>
        </p:nvSpPr>
        <p:spPr>
          <a:xfrm>
            <a:off x="1463040" y="2834640"/>
            <a:ext cx="2468880" cy="640080"/>
          </a:xfrm>
          <a:prstGeom prst="rect">
            <a:avLst/>
          </a:prstGeom>
          <a:noFill/>
          <a:ln/>
        </p:spPr>
        <p:txBody>
          <a:bodyPr wrap="square" lIns="0" tIns="0" rIns="0" bIns="0" rtlCol="0" anchor="t"/>
          <a:lstStyle/>
          <a:p>
            <a:pPr marL="0" indent="0" eaLnBrk="0">
              <a:buNone/>
            </a:pPr>
            <a:r>
              <a:rPr lang="ko-KR" sz="1300" dirty="0" altLang="en-US">
                <a:solidFill>
                  <a:schemeClr val="tx1"/>
                </a:solidFill>
              </a:rPr>
              <a:t>3단계 폴백 + 경고 분류기</a:t>
            </a:r>
            <a:endParaRPr lang="ko-KR" sz="1300" dirty="0" altLang="en-US"/>
          </a:p>
        </p:txBody>
      </p:sp>
      <p:sp>
        <p:nvSpPr>
          <p:cNvPr id="13" name="Text 8"/>
          <p:cNvSpPr txBox="1"/>
          <p:nvPr/>
        </p:nvSpPr>
        <p:spPr>
          <a:xfrm>
            <a:off x="4572000" y="1600200"/>
            <a:ext cx="3017520" cy="411480"/>
          </a:xfrm>
          <a:prstGeom prst="rect">
            <a:avLst/>
          </a:prstGeom>
          <a:noFill/>
          <a:ln/>
        </p:spPr>
        <p:txBody>
          <a:bodyPr wrap="square" lIns="0" tIns="0" rIns="0" bIns="0" rtlCol="0" anchor="t"/>
          <a:lstStyle/>
          <a:p>
            <a:pPr marL="0" indent="0" eaLnBrk="0">
              <a:buNone/>
            </a:pPr>
            <a:r>
              <a:rPr lang="ko-KR" sz="1700" b="1" dirty="0" altLang="en-US">
                <a:solidFill>
                  <a:schemeClr val="tx1"/>
                </a:solidFill>
              </a:rPr>
              <a:t>고립 도로 크래시</a:t>
            </a:r>
            <a:endParaRPr lang="ko-KR" sz="1700" dirty="0" altLang="en-US"/>
          </a:p>
        </p:txBody>
      </p:sp>
      <p:sp>
        <p:nvSpPr>
          <p:cNvPr id="14" name="Text 9"/>
          <p:cNvSpPr txBox="1"/>
          <p:nvPr/>
        </p:nvSpPr>
        <p:spPr>
          <a:xfrm>
            <a:off x="4572000" y="219456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3"/>
                </a:solidFill>
              </a:rPr>
              <a:t>문제</a:t>
            </a:r>
            <a:endParaRPr lang="ko-KR" sz="1200" dirty="0" altLang="en-US"/>
          </a:p>
        </p:txBody>
      </p:sp>
      <p:sp>
        <p:nvSpPr>
          <p:cNvPr id="15" name="Text 10"/>
          <p:cNvSpPr txBox="1"/>
          <p:nvPr/>
        </p:nvSpPr>
        <p:spPr>
          <a:xfrm>
            <a:off x="5212080" y="2148840"/>
            <a:ext cx="2468880" cy="548640"/>
          </a:xfrm>
          <a:prstGeom prst="rect">
            <a:avLst/>
          </a:prstGeom>
          <a:noFill/>
          <a:ln/>
        </p:spPr>
        <p:txBody>
          <a:bodyPr wrap="square" lIns="0" tIns="0" rIns="0" bIns="0" rtlCol="0" anchor="t"/>
          <a:lstStyle/>
          <a:p>
            <a:pPr marL="0" indent="0" eaLnBrk="0">
              <a:buNone/>
            </a:pPr>
            <a:r>
              <a:rPr lang="ko-KR" sz="1300" dirty="0" altLang="en-US">
                <a:solidFill>
                  <a:schemeClr val="tx1"/>
                </a:solidFill>
              </a:rPr>
              <a:t>경로 없음 → SUMO 비정상 종료</a:t>
            </a:r>
            <a:endParaRPr lang="ko-KR" sz="1300" dirty="0" altLang="en-US"/>
          </a:p>
        </p:txBody>
      </p:sp>
      <p:sp>
        <p:nvSpPr>
          <p:cNvPr id="16" name="Text 11"/>
          <p:cNvSpPr txBox="1"/>
          <p:nvPr/>
        </p:nvSpPr>
        <p:spPr>
          <a:xfrm>
            <a:off x="4572000" y="288036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2"/>
                </a:solidFill>
              </a:rPr>
              <a:t>해결</a:t>
            </a:r>
            <a:endParaRPr lang="ko-KR" sz="1200" dirty="0" altLang="en-US"/>
          </a:p>
        </p:txBody>
      </p:sp>
      <p:sp>
        <p:nvSpPr>
          <p:cNvPr id="17" name="Text 12"/>
          <p:cNvSpPr txBox="1"/>
          <p:nvPr/>
        </p:nvSpPr>
        <p:spPr>
          <a:xfrm>
            <a:off x="5212080" y="2834640"/>
            <a:ext cx="2468880" cy="640080"/>
          </a:xfrm>
          <a:prstGeom prst="rect">
            <a:avLst/>
          </a:prstGeom>
          <a:noFill/>
          <a:ln/>
        </p:spPr>
        <p:txBody>
          <a:bodyPr wrap="square" lIns="0" tIns="0" rIns="0" bIns="0" rtlCol="0" anchor="t"/>
          <a:lstStyle/>
          <a:p>
            <a:pPr marL="0" indent="0" eaLnBrk="0">
              <a:buNone/>
            </a:pPr>
            <a:r>
              <a:rPr lang="ko-KR" sz="1300" dirty="0" altLang="en-US">
                <a:solidFill>
                  <a:schemeClr val="tx1"/>
                </a:solidFill>
              </a:rPr>
              <a:t>강결합 컴포넌트만 남김</a:t>
            </a:r>
            <a:endParaRPr lang="ko-KR" sz="1300" dirty="0" altLang="en-US"/>
          </a:p>
        </p:txBody>
      </p:sp>
      <p:sp>
        <p:nvSpPr>
          <p:cNvPr id="19" name="Text 14"/>
          <p:cNvSpPr txBox="1"/>
          <p:nvPr/>
        </p:nvSpPr>
        <p:spPr>
          <a:xfrm>
            <a:off x="8321040" y="1600200"/>
            <a:ext cx="3017520" cy="411480"/>
          </a:xfrm>
          <a:prstGeom prst="rect">
            <a:avLst/>
          </a:prstGeom>
          <a:noFill/>
          <a:ln/>
        </p:spPr>
        <p:txBody>
          <a:bodyPr wrap="square" lIns="0" tIns="0" rIns="0" bIns="0" rtlCol="0" anchor="t"/>
          <a:lstStyle/>
          <a:p>
            <a:pPr marL="0" indent="0" eaLnBrk="0">
              <a:buNone/>
            </a:pPr>
            <a:r>
              <a:rPr lang="ko-KR" sz="1700" b="1" dirty="0" altLang="en-US">
                <a:solidFill>
                  <a:schemeClr val="tx1"/>
                </a:solidFill>
              </a:rPr>
              <a:t>택시 사라짐</a:t>
            </a:r>
            <a:endParaRPr lang="ko-KR" sz="1700" dirty="0" altLang="en-US"/>
          </a:p>
        </p:txBody>
      </p:sp>
      <p:sp>
        <p:nvSpPr>
          <p:cNvPr id="20" name="Text 15"/>
          <p:cNvSpPr txBox="1"/>
          <p:nvPr/>
        </p:nvSpPr>
        <p:spPr>
          <a:xfrm>
            <a:off x="8321040" y="219456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3"/>
                </a:solidFill>
              </a:rPr>
              <a:t>문제</a:t>
            </a:r>
            <a:endParaRPr lang="ko-KR" sz="1200" dirty="0" altLang="en-US"/>
          </a:p>
        </p:txBody>
      </p:sp>
      <p:sp>
        <p:nvSpPr>
          <p:cNvPr id="21" name="Text 16"/>
          <p:cNvSpPr txBox="1"/>
          <p:nvPr/>
        </p:nvSpPr>
        <p:spPr>
          <a:xfrm>
            <a:off x="8961120" y="2148840"/>
            <a:ext cx="2468880" cy="548640"/>
          </a:xfrm>
          <a:prstGeom prst="rect">
            <a:avLst/>
          </a:prstGeom>
          <a:noFill/>
          <a:ln/>
        </p:spPr>
        <p:txBody>
          <a:bodyPr wrap="square" lIns="0" tIns="0" rIns="0" bIns="0" rtlCol="0" anchor="t"/>
          <a:lstStyle/>
          <a:p>
            <a:pPr marL="0" indent="0" eaLnBrk="0">
              <a:buNone/>
            </a:pPr>
            <a:r>
              <a:rPr lang="ko-KR" sz="1300" dirty="0" altLang="en-US">
                <a:solidFill>
                  <a:schemeClr val="tx1"/>
                </a:solidFill>
              </a:rPr>
              <a:t>경계 도로에서 택시 소멸</a:t>
            </a:r>
            <a:endParaRPr lang="ko-KR" sz="1300" dirty="0" altLang="en-US"/>
          </a:p>
        </p:txBody>
      </p:sp>
      <p:sp>
        <p:nvSpPr>
          <p:cNvPr id="22" name="Text 17"/>
          <p:cNvSpPr txBox="1"/>
          <p:nvPr/>
        </p:nvSpPr>
        <p:spPr>
          <a:xfrm>
            <a:off x="8321040" y="288036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2"/>
                </a:solidFill>
              </a:rPr>
              <a:t>해결</a:t>
            </a:r>
            <a:endParaRPr lang="ko-KR" sz="1200" dirty="0" altLang="en-US"/>
          </a:p>
        </p:txBody>
      </p:sp>
      <p:sp>
        <p:nvSpPr>
          <p:cNvPr id="23" name="Text 18"/>
          <p:cNvSpPr txBox="1"/>
          <p:nvPr/>
        </p:nvSpPr>
        <p:spPr>
          <a:xfrm>
            <a:off x="8961120" y="2834640"/>
            <a:ext cx="2468880" cy="640080"/>
          </a:xfrm>
          <a:prstGeom prst="rect">
            <a:avLst/>
          </a:prstGeom>
          <a:noFill/>
          <a:ln/>
        </p:spPr>
        <p:txBody>
          <a:bodyPr wrap="square" lIns="0" tIns="0" rIns="0" bIns="0" rtlCol="0" anchor="t"/>
          <a:lstStyle/>
          <a:p>
            <a:pPr marL="0" indent="0" eaLnBrk="0">
              <a:buNone/>
            </a:pPr>
            <a:r>
              <a:rPr lang="ko-KR" sz="1300" dirty="0" altLang="en-US">
                <a:solidFill>
                  <a:schemeClr val="tx1"/>
                </a:solidFill>
              </a:rPr>
              <a:t>경계 edge 보충 로직</a:t>
            </a:r>
            <a:endParaRPr lang="ko-KR" sz="1300" dirty="0" altLang="en-US"/>
          </a:p>
        </p:txBody>
      </p:sp>
      <p:sp>
        <p:nvSpPr>
          <p:cNvPr id="25" name="Text 20"/>
          <p:cNvSpPr txBox="1"/>
          <p:nvPr/>
        </p:nvSpPr>
        <p:spPr>
          <a:xfrm>
            <a:off x="822960" y="4023360"/>
            <a:ext cx="3017520" cy="411480"/>
          </a:xfrm>
          <a:prstGeom prst="rect">
            <a:avLst/>
          </a:prstGeom>
          <a:noFill/>
          <a:ln/>
        </p:spPr>
        <p:txBody>
          <a:bodyPr wrap="square" lIns="0" tIns="0" rIns="0" bIns="0" rtlCol="0" anchor="t"/>
          <a:lstStyle/>
          <a:p>
            <a:pPr marL="0" indent="0" eaLnBrk="0">
              <a:buNone/>
            </a:pPr>
            <a:r>
              <a:rPr lang="ko-KR" sz="1700" b="1" dirty="0" altLang="en-US">
                <a:solidFill>
                  <a:schemeClr val="tx1"/>
                </a:solidFill>
              </a:rPr>
              <a:t>로그 중복 집계</a:t>
            </a:r>
            <a:endParaRPr lang="ko-KR" sz="1700" dirty="0" altLang="en-US"/>
          </a:p>
        </p:txBody>
      </p:sp>
      <p:sp>
        <p:nvSpPr>
          <p:cNvPr id="26" name="Text 21"/>
          <p:cNvSpPr txBox="1"/>
          <p:nvPr/>
        </p:nvSpPr>
        <p:spPr>
          <a:xfrm>
            <a:off x="822960" y="461772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3"/>
                </a:solidFill>
              </a:rPr>
              <a:t>문제</a:t>
            </a:r>
            <a:endParaRPr lang="ko-KR" sz="1200" dirty="0" altLang="en-US"/>
          </a:p>
        </p:txBody>
      </p:sp>
      <p:sp>
        <p:nvSpPr>
          <p:cNvPr id="27" name="Text 22"/>
          <p:cNvSpPr txBox="1"/>
          <p:nvPr/>
        </p:nvSpPr>
        <p:spPr>
          <a:xfrm>
            <a:off x="1463040" y="4572000"/>
            <a:ext cx="2468880" cy="548640"/>
          </a:xfrm>
          <a:prstGeom prst="rect">
            <a:avLst/>
          </a:prstGeom>
          <a:noFill/>
          <a:ln/>
        </p:spPr>
        <p:txBody>
          <a:bodyPr wrap="square" lIns="0" tIns="0" rIns="0" bIns="0" rtlCol="0" anchor="t"/>
          <a:lstStyle/>
          <a:p>
            <a:pPr marL="0" indent="0" eaLnBrk="0">
              <a:buNone/>
            </a:pPr>
            <a:r>
              <a:rPr lang="ko-KR" sz="1300" dirty="0" altLang="en-US">
                <a:solidFill>
                  <a:schemeClr val="tx1"/>
                </a:solidFill>
              </a:rPr>
              <a:t>같은 승객이 학습에 2번 반영</a:t>
            </a:r>
            <a:endParaRPr lang="ko-KR" sz="1300" dirty="0" altLang="en-US"/>
          </a:p>
        </p:txBody>
      </p:sp>
      <p:sp>
        <p:nvSpPr>
          <p:cNvPr id="28" name="Text 23"/>
          <p:cNvSpPr txBox="1"/>
          <p:nvPr/>
        </p:nvSpPr>
        <p:spPr>
          <a:xfrm>
            <a:off x="822960" y="530352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2"/>
                </a:solidFill>
              </a:rPr>
              <a:t>해결</a:t>
            </a:r>
            <a:endParaRPr lang="ko-KR" sz="1200" dirty="0" altLang="en-US"/>
          </a:p>
        </p:txBody>
      </p:sp>
      <p:sp>
        <p:nvSpPr>
          <p:cNvPr id="29" name="Text 24"/>
          <p:cNvSpPr txBox="1"/>
          <p:nvPr/>
        </p:nvSpPr>
        <p:spPr>
          <a:xfrm>
            <a:off x="1463040" y="5257800"/>
            <a:ext cx="2468880" cy="640080"/>
          </a:xfrm>
          <a:prstGeom prst="rect">
            <a:avLst/>
          </a:prstGeom>
          <a:noFill/>
          <a:ln/>
        </p:spPr>
        <p:txBody>
          <a:bodyPr wrap="square" lIns="0" tIns="0" rIns="0" bIns="0" rtlCol="0" anchor="t"/>
          <a:lstStyle/>
          <a:p>
            <a:pPr marL="0" indent="0" eaLnBrk="0">
              <a:buNone/>
            </a:pPr>
            <a:r>
              <a:rPr lang="ko-KR" sz="1300" dirty="0" altLang="en-US">
                <a:solidFill>
                  <a:schemeClr val="tx1"/>
                </a:solidFill>
              </a:rPr>
              <a:t>data/sim_logs 단일 소스로 통일</a:t>
            </a:r>
            <a:endParaRPr lang="ko-KR" sz="1300" dirty="0" altLang="en-US"/>
          </a:p>
        </p:txBody>
      </p:sp>
      <p:sp>
        <p:nvSpPr>
          <p:cNvPr id="31" name="Text 26"/>
          <p:cNvSpPr txBox="1"/>
          <p:nvPr/>
        </p:nvSpPr>
        <p:spPr>
          <a:xfrm>
            <a:off x="4572000" y="4023360"/>
            <a:ext cx="3017520" cy="411480"/>
          </a:xfrm>
          <a:prstGeom prst="rect">
            <a:avLst/>
          </a:prstGeom>
          <a:noFill/>
          <a:ln/>
        </p:spPr>
        <p:txBody>
          <a:bodyPr wrap="square" lIns="0" tIns="0" rIns="0" bIns="0" rtlCol="0" anchor="t"/>
          <a:lstStyle/>
          <a:p>
            <a:pPr marL="0" indent="0" eaLnBrk="0">
              <a:buNone/>
            </a:pPr>
            <a:r>
              <a:rPr lang="ko-KR" sz="1700" b="1" dirty="0" altLang="en-US">
                <a:solidFill>
                  <a:schemeClr val="tx1"/>
                </a:solidFill>
              </a:rPr>
              <a:t>학습-서빙 불일치</a:t>
            </a:r>
            <a:endParaRPr lang="ko-KR" sz="1700" dirty="0" altLang="en-US"/>
          </a:p>
        </p:txBody>
      </p:sp>
      <p:sp>
        <p:nvSpPr>
          <p:cNvPr id="32" name="Text 27"/>
          <p:cNvSpPr txBox="1"/>
          <p:nvPr/>
        </p:nvSpPr>
        <p:spPr>
          <a:xfrm>
            <a:off x="4572000" y="461772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3"/>
                </a:solidFill>
              </a:rPr>
              <a:t>문제</a:t>
            </a:r>
            <a:endParaRPr lang="ko-KR" sz="1200" dirty="0" altLang="en-US"/>
          </a:p>
        </p:txBody>
      </p:sp>
      <p:sp>
        <p:nvSpPr>
          <p:cNvPr id="33" name="Text 28"/>
          <p:cNvSpPr txBox="1"/>
          <p:nvPr/>
        </p:nvSpPr>
        <p:spPr>
          <a:xfrm>
            <a:off x="5212080" y="4572000"/>
            <a:ext cx="2468880" cy="548640"/>
          </a:xfrm>
          <a:prstGeom prst="rect">
            <a:avLst/>
          </a:prstGeom>
          <a:noFill/>
          <a:ln/>
        </p:spPr>
        <p:txBody>
          <a:bodyPr wrap="square" lIns="0" tIns="0" rIns="0" bIns="0" rtlCol="0" anchor="t"/>
          <a:lstStyle/>
          <a:p>
            <a:pPr marL="0" indent="0" eaLnBrk="0">
              <a:buNone/>
            </a:pPr>
            <a:r>
              <a:rPr lang="ko-KR" sz="1300" dirty="0" altLang="en-US">
                <a:solidFill>
                  <a:schemeClr val="tx1"/>
                </a:solidFill>
              </a:rPr>
              <a:t>예측 피처 구성이 학습과 달랐음</a:t>
            </a:r>
            <a:endParaRPr lang="ko-KR" sz="1300" dirty="0" altLang="en-US"/>
          </a:p>
        </p:txBody>
      </p:sp>
      <p:sp>
        <p:nvSpPr>
          <p:cNvPr id="34" name="Text 29"/>
          <p:cNvSpPr txBox="1"/>
          <p:nvPr/>
        </p:nvSpPr>
        <p:spPr>
          <a:xfrm>
            <a:off x="4572000" y="530352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2"/>
                </a:solidFill>
              </a:rPr>
              <a:t>해결</a:t>
            </a:r>
            <a:endParaRPr lang="ko-KR" sz="1200" dirty="0" altLang="en-US"/>
          </a:p>
        </p:txBody>
      </p:sp>
      <p:sp>
        <p:nvSpPr>
          <p:cNvPr id="35" name="Text 30"/>
          <p:cNvSpPr txBox="1"/>
          <p:nvPr/>
        </p:nvSpPr>
        <p:spPr>
          <a:xfrm>
            <a:off x="5212080" y="5257800"/>
            <a:ext cx="2468880" cy="640080"/>
          </a:xfrm>
          <a:prstGeom prst="rect">
            <a:avLst/>
          </a:prstGeom>
          <a:noFill/>
          <a:ln/>
        </p:spPr>
        <p:txBody>
          <a:bodyPr wrap="square" lIns="0" tIns="0" rIns="0" bIns="0" rtlCol="0" anchor="t"/>
          <a:lstStyle/>
          <a:p>
            <a:pPr marL="0" indent="0" eaLnBrk="0">
              <a:buNone/>
            </a:pPr>
            <a:r>
              <a:rPr lang="ko-KR" sz="1300" dirty="0" altLang="en-US">
                <a:solidFill>
                  <a:schemeClr val="tx1"/>
                </a:solidFill>
              </a:rPr>
              <a:t>Module 2 파이프라인으로 통합</a:t>
            </a:r>
            <a:endParaRPr lang="ko-KR" sz="1300" dirty="0" altLang="en-US"/>
          </a:p>
        </p:txBody>
      </p:sp>
      <p:sp>
        <p:nvSpPr>
          <p:cNvPr id="37" name="Text 32"/>
          <p:cNvSpPr txBox="1"/>
          <p:nvPr/>
        </p:nvSpPr>
        <p:spPr>
          <a:xfrm>
            <a:off x="8321040" y="4023360"/>
            <a:ext cx="3017520" cy="411480"/>
          </a:xfrm>
          <a:prstGeom prst="rect">
            <a:avLst/>
          </a:prstGeom>
          <a:noFill/>
          <a:ln/>
        </p:spPr>
        <p:txBody>
          <a:bodyPr wrap="square" lIns="0" tIns="0" rIns="0" bIns="0" rtlCol="0" anchor="t"/>
          <a:lstStyle/>
          <a:p>
            <a:pPr marL="0" indent="0" eaLnBrk="0">
              <a:buNone/>
            </a:pPr>
            <a:r>
              <a:rPr lang="ko-KR" sz="1700" b="1" dirty="0" altLang="en-US">
                <a:solidFill>
                  <a:schemeClr val="tx1"/>
                </a:solidFill>
              </a:rPr>
              <a:t>Mac 세그폴트</a:t>
            </a:r>
            <a:endParaRPr lang="ko-KR" sz="1700" dirty="0" altLang="en-US"/>
          </a:p>
        </p:txBody>
      </p:sp>
      <p:sp>
        <p:nvSpPr>
          <p:cNvPr id="38" name="Text 33"/>
          <p:cNvSpPr txBox="1"/>
          <p:nvPr/>
        </p:nvSpPr>
        <p:spPr>
          <a:xfrm>
            <a:off x="8321040" y="461772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3"/>
                </a:solidFill>
              </a:rPr>
              <a:t>문제</a:t>
            </a:r>
            <a:endParaRPr lang="ko-KR" sz="1200" dirty="0" altLang="en-US"/>
          </a:p>
        </p:txBody>
      </p:sp>
      <p:sp>
        <p:nvSpPr>
          <p:cNvPr id="39" name="Text 34"/>
          <p:cNvSpPr txBox="1"/>
          <p:nvPr/>
        </p:nvSpPr>
        <p:spPr>
          <a:xfrm>
            <a:off x="8961120" y="4572000"/>
            <a:ext cx="2468880" cy="548640"/>
          </a:xfrm>
          <a:prstGeom prst="rect">
            <a:avLst/>
          </a:prstGeom>
          <a:noFill/>
          <a:ln/>
        </p:spPr>
        <p:txBody>
          <a:bodyPr wrap="square" lIns="0" tIns="0" rIns="0" bIns="0" rtlCol="0" anchor="t"/>
          <a:lstStyle/>
          <a:p>
            <a:pPr marL="0" indent="0" eaLnBrk="0">
              <a:buNone/>
            </a:pPr>
            <a:r>
              <a:rPr lang="ko-KR" sz="1300" dirty="0" altLang="en-US">
                <a:solidFill>
                  <a:schemeClr val="tx1"/>
                </a:solidFill>
              </a:rPr>
              <a:t>XGBoost와 torch OpenMP 충돌</a:t>
            </a:r>
            <a:endParaRPr lang="ko-KR" sz="1300" dirty="0" altLang="en-US"/>
          </a:p>
        </p:txBody>
      </p:sp>
      <p:sp>
        <p:nvSpPr>
          <p:cNvPr id="40" name="Text 35"/>
          <p:cNvSpPr txBox="1"/>
          <p:nvPr/>
        </p:nvSpPr>
        <p:spPr>
          <a:xfrm>
            <a:off x="8321040" y="5303520"/>
            <a:ext cx="640080" cy="274320"/>
          </a:xfrm>
          <a:prstGeom prst="rect">
            <a:avLst/>
          </a:prstGeom>
          <a:noFill/>
          <a:ln/>
        </p:spPr>
        <p:txBody>
          <a:bodyPr wrap="square" lIns="0" tIns="0" rIns="0" bIns="0" rtlCol="0" anchor="t"/>
          <a:lstStyle/>
          <a:p>
            <a:pPr marL="0" indent="0" eaLnBrk="0">
              <a:buNone/>
            </a:pPr>
            <a:r>
              <a:rPr lang="ko-KR" sz="1200" b="1" dirty="0" altLang="en-US">
                <a:solidFill>
                  <a:schemeClr val="accent2"/>
                </a:solidFill>
              </a:rPr>
              <a:t>해결</a:t>
            </a:r>
            <a:endParaRPr lang="ko-KR" sz="1200" dirty="0" altLang="en-US"/>
          </a:p>
        </p:txBody>
      </p:sp>
      <p:sp>
        <p:nvSpPr>
          <p:cNvPr id="41" name="Text 36"/>
          <p:cNvSpPr txBox="1"/>
          <p:nvPr/>
        </p:nvSpPr>
        <p:spPr>
          <a:xfrm>
            <a:off x="8961120" y="5257800"/>
            <a:ext cx="2468880" cy="640080"/>
          </a:xfrm>
          <a:prstGeom prst="rect">
            <a:avLst/>
          </a:prstGeom>
          <a:noFill/>
          <a:ln/>
        </p:spPr>
        <p:txBody>
          <a:bodyPr wrap="square" lIns="0" tIns="0" rIns="0" bIns="0" rtlCol="0" anchor="t"/>
          <a:lstStyle/>
          <a:p>
            <a:pPr marL="0" indent="0" eaLnBrk="0">
              <a:buNone/>
            </a:pPr>
            <a:r>
              <a:rPr lang="ko-KR" sz="1300" dirty="0" altLang="en-US">
                <a:solidFill>
                  <a:schemeClr val="tx1"/>
                </a:solidFill>
              </a:rPr>
              <a:t>XGBoost n_jobs=1 고정</a:t>
            </a:r>
            <a:endParaRPr lang="ko-KR" sz="1300" dirty="0" altLang="en-US"/>
          </a:p>
        </p:txBody>
      </p:sp>
      <p:sp>
        <p:nvSpPr>
          <p:cNvPr id="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향후 계획</a:t>
            </a:r>
            <a:endParaRPr lang="ko-KR" sz="3000" dirty="0" altLang="en-US"/>
          </a:p>
        </p:txBody>
      </p:sp>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10188245" y="6297473"/>
            <a:ext cx="784555" cy="362102"/>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15</a:t>
            </a:fld>
            <a:endParaRPr lang="ko-KR" altLang="en-US"/>
          </a:p>
        </p:txBody>
      </p:sp>
      <p:cxnSp>
        <p:nvCxnSpPr>
          <p:cNvPr id="26" name="Connector 25"/>
          <p:cNvCxnSpPr/>
          <p:nvPr/>
        </p:nvCxnSpPr>
        <p:spPr>
          <a:xfrm>
            <a:off x="2308860" y="1572768"/>
            <a:ext cx="7498080" cy="0"/>
          </a:xfrm>
          <a:prstGeom prst="line">
            <a:avLst/>
          </a:prstGeom>
          <a:ln w="19050">
            <a:solidFill>
              <a:srgbClr val="E1E5EE"/>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2171700" y="1435608"/>
            <a:ext cx="274320" cy="274320"/>
          </a:xfrm>
          <a:prstGeom prst="ellipse">
            <a:avLst/>
          </a:prstGeom>
          <a:solidFill>
            <a:schemeClr val="accent1"/>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20740" y="1435608"/>
            <a:ext cx="274320" cy="274320"/>
          </a:xfrm>
          <a:prstGeom prst="ellipse">
            <a:avLst/>
          </a:prstGeom>
          <a:solidFill>
            <a:schemeClr val="accent5"/>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69780" y="1435608"/>
            <a:ext cx="274320" cy="274320"/>
          </a:xfrm>
          <a:prstGeom prst="ellipse">
            <a:avLst/>
          </a:prstGeom>
          <a:solidFill>
            <a:schemeClr val="accent2"/>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841247" y="2011680"/>
            <a:ext cx="2935225" cy="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41247" y="2322576"/>
            <a:ext cx="1700000" cy="402336"/>
          </a:xfrm>
          <a:prstGeom prst="roundRect">
            <a:avLst>
              <a:gd name="adj" fmla="val 50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7" y="2322576"/>
            <a:ext cx="1700000" cy="402336"/>
          </a:xfrm>
          <a:prstGeom prst="rect">
            <a:avLst/>
          </a:prstGeom>
          <a:noFill/>
        </p:spPr>
        <p:txBody>
          <a:bodyPr wrap="square" lIns="0" rIns="0" tIns="0" bIns="0" anchor="ctr">
            <a:spAutoFit/>
          </a:bodyPr>
          <a:lstStyle/>
          <a:p>
            <a:pPr algn="ctr" eaLnBrk="0"/>
            <a:r>
              <a:rPr sz="1300" b="1" lang="ko-KR" altLang="en-US">
                <a:solidFill>
                  <a:srgbClr val="16213A"/>
                </a:solidFill>
                <a:latin typeface="Malgun Gothic"/>
                <a:ea typeface="Malgun Gothic"/>
              </a:rPr>
              <a:t>지금 ~ 10/22</a:t>
            </a:r>
          </a:p>
        </p:txBody>
      </p:sp>
      <p:sp>
        <p:nvSpPr>
          <p:cNvPr id="33" name="TextBox 32"/>
          <p:cNvSpPr txBox="1"/>
          <p:nvPr/>
        </p:nvSpPr>
        <p:spPr>
          <a:xfrm>
            <a:off x="841247" y="3035808"/>
            <a:ext cx="457200" cy="274320"/>
          </a:xfrm>
          <a:prstGeom prst="rect">
            <a:avLst/>
          </a:prstGeom>
          <a:noFill/>
        </p:spPr>
        <p:txBody>
          <a:bodyPr wrap="square" lIns="0" rIns="0" tIns="0" bIns="0" anchor="t">
            <a:spAutoFit/>
          </a:bodyPr>
          <a:lstStyle/>
          <a:p>
            <a:pPr algn="l" eaLnBrk="0"/>
            <a:r>
              <a:rPr sz="1200" b="1" lang="ko-KR" altLang="en-US">
                <a:solidFill>
                  <a:srgbClr val="C99600"/>
                </a:solidFill>
                <a:latin typeface="Malgun Gothic"/>
                <a:ea typeface="Malgun Gothic"/>
              </a:rPr>
              <a:t>01</a:t>
            </a:r>
          </a:p>
        </p:txBody>
      </p:sp>
      <p:sp>
        <p:nvSpPr>
          <p:cNvPr id="34" name="TextBox 33"/>
          <p:cNvSpPr txBox="1"/>
          <p:nvPr/>
        </p:nvSpPr>
        <p:spPr>
          <a:xfrm>
            <a:off x="1325880" y="3017520"/>
            <a:ext cx="2450592" cy="795528"/>
          </a:xfrm>
          <a:prstGeom prst="rect">
            <a:avLst/>
          </a:prstGeom>
          <a:noFill/>
        </p:spPr>
        <p:txBody>
          <a:bodyPr wrap="square" lIns="0" rIns="0" tIns="0" bIns="0" anchor="t">
            <a:spAutoFit/>
          </a:bodyPr>
          <a:lstStyle/>
          <a:p>
            <a:pPr algn="l" eaLnBrk="0"/>
            <a:r>
              <a:rPr sz="1500" b="0" lang="ko-KR" altLang="en-US">
                <a:solidFill>
                  <a:schemeClr val="tx1"/>
                </a:solidFill>
                <a:latin typeface="Malgun Gothic"/>
                <a:ea typeface="Malgun Gothic"/>
              </a:rPr>
              <a:t>평일 추가 개선 (포화 검증 · 택시 증차)</a:t>
            </a:r>
          </a:p>
        </p:txBody>
      </p:sp>
      <p:cxnSp>
        <p:nvCxnSpPr>
          <p:cNvPr id="35" name="Connector 34"/>
          <p:cNvCxnSpPr/>
          <p:nvPr/>
        </p:nvCxnSpPr>
        <p:spPr>
          <a:xfrm>
            <a:off x="841247" y="3840480"/>
            <a:ext cx="2935225" cy="0"/>
          </a:xfrm>
          <a:prstGeom prst="line">
            <a:avLst/>
          </a:prstGeom>
          <a:ln w="9525">
            <a:solidFill>
              <a:srgbClr val="ECEFF4"/>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41247" y="3968496"/>
            <a:ext cx="457200" cy="274320"/>
          </a:xfrm>
          <a:prstGeom prst="rect">
            <a:avLst/>
          </a:prstGeom>
          <a:noFill/>
        </p:spPr>
        <p:txBody>
          <a:bodyPr wrap="square" lIns="0" rIns="0" tIns="0" bIns="0" anchor="t">
            <a:spAutoFit/>
          </a:bodyPr>
          <a:lstStyle/>
          <a:p>
            <a:pPr algn="l" eaLnBrk="0"/>
            <a:r>
              <a:rPr sz="1200" b="1" lang="ko-KR" altLang="en-US">
                <a:solidFill>
                  <a:srgbClr val="C99600"/>
                </a:solidFill>
                <a:latin typeface="Malgun Gothic"/>
                <a:ea typeface="Malgun Gothic"/>
              </a:rPr>
              <a:t>02</a:t>
            </a:r>
          </a:p>
        </p:txBody>
      </p:sp>
      <p:sp>
        <p:nvSpPr>
          <p:cNvPr id="37" name="TextBox 36"/>
          <p:cNvSpPr txBox="1"/>
          <p:nvPr/>
        </p:nvSpPr>
        <p:spPr>
          <a:xfrm>
            <a:off x="1325880" y="3950208"/>
            <a:ext cx="2450592" cy="795528"/>
          </a:xfrm>
          <a:prstGeom prst="rect">
            <a:avLst/>
          </a:prstGeom>
          <a:noFill/>
        </p:spPr>
        <p:txBody>
          <a:bodyPr wrap="square" lIns="0" rIns="0" tIns="0" bIns="0" anchor="t">
            <a:spAutoFit/>
          </a:bodyPr>
          <a:lstStyle/>
          <a:p>
            <a:pPr algn="l" eaLnBrk="0"/>
            <a:r>
              <a:rPr sz="1500" b="0" lang="ko-KR" altLang="en-US">
                <a:solidFill>
                  <a:schemeClr val="tx1"/>
                </a:solidFill>
                <a:latin typeface="Malgun Gothic"/>
                <a:ea typeface="Malgun Gothic"/>
              </a:rPr>
              <a:t>공휴일 효과 반영 (회사↓ 주거↑ 음식점↑)</a:t>
            </a:r>
          </a:p>
        </p:txBody>
      </p:sp>
      <p:cxnSp>
        <p:nvCxnSpPr>
          <p:cNvPr id="38" name="Connector 37"/>
          <p:cNvCxnSpPr/>
          <p:nvPr/>
        </p:nvCxnSpPr>
        <p:spPr>
          <a:xfrm>
            <a:off x="841247" y="4773168"/>
            <a:ext cx="2935225" cy="0"/>
          </a:xfrm>
          <a:prstGeom prst="line">
            <a:avLst/>
          </a:prstGeom>
          <a:ln w="9525">
            <a:solidFill>
              <a:srgbClr val="ECEFF4"/>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41247" y="4901183"/>
            <a:ext cx="457200" cy="274320"/>
          </a:xfrm>
          <a:prstGeom prst="rect">
            <a:avLst/>
          </a:prstGeom>
          <a:noFill/>
        </p:spPr>
        <p:txBody>
          <a:bodyPr wrap="square" lIns="0" rIns="0" tIns="0" bIns="0" anchor="t">
            <a:spAutoFit/>
          </a:bodyPr>
          <a:lstStyle/>
          <a:p>
            <a:pPr algn="l" eaLnBrk="0"/>
            <a:r>
              <a:rPr sz="1200" b="1" lang="ko-KR" altLang="en-US">
                <a:solidFill>
                  <a:srgbClr val="C99600"/>
                </a:solidFill>
                <a:latin typeface="Malgun Gothic"/>
                <a:ea typeface="Malgun Gothic"/>
              </a:rPr>
              <a:t>03</a:t>
            </a:r>
          </a:p>
        </p:txBody>
      </p:sp>
      <p:sp>
        <p:nvSpPr>
          <p:cNvPr id="40" name="TextBox 39"/>
          <p:cNvSpPr txBox="1"/>
          <p:nvPr/>
        </p:nvSpPr>
        <p:spPr>
          <a:xfrm>
            <a:off x="1325880" y="4882896"/>
            <a:ext cx="2450592" cy="795528"/>
          </a:xfrm>
          <a:prstGeom prst="rect">
            <a:avLst/>
          </a:prstGeom>
          <a:noFill/>
        </p:spPr>
        <p:txBody>
          <a:bodyPr wrap="square" lIns="0" rIns="0" tIns="0" bIns="0" anchor="t">
            <a:spAutoFit/>
          </a:bodyPr>
          <a:lstStyle/>
          <a:p>
            <a:pPr algn="l" eaLnBrk="0"/>
            <a:r>
              <a:rPr sz="1500" b="0" lang="ko-KR" altLang="en-US">
                <a:solidFill>
                  <a:schemeClr val="tx1"/>
                </a:solidFill>
                <a:latin typeface="Malgun Gothic"/>
                <a:ea typeface="Malgun Gothic"/>
              </a:rPr>
              <a:t>예측 모델 성능 평가 정리</a:t>
            </a:r>
          </a:p>
        </p:txBody>
      </p:sp>
      <p:cxnSp>
        <p:nvCxnSpPr>
          <p:cNvPr id="41" name="Connector 40"/>
          <p:cNvCxnSpPr/>
          <p:nvPr/>
        </p:nvCxnSpPr>
        <p:spPr>
          <a:xfrm>
            <a:off x="4590288" y="2011680"/>
            <a:ext cx="2935224" cy="0"/>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590288" y="2322576"/>
            <a:ext cx="2400000" cy="402336"/>
          </a:xfrm>
          <a:prstGeom prst="roundRect">
            <a:avLst>
              <a:gd name="adj" fmla="val 50000"/>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90288" y="2322576"/>
            <a:ext cx="2400000" cy="402336"/>
          </a:xfrm>
          <a:prstGeom prst="rect">
            <a:avLst/>
          </a:prstGeom>
          <a:noFill/>
        </p:spPr>
        <p:txBody>
          <a:bodyPr wrap="square" lIns="0" rIns="0" tIns="0" bIns="0" anchor="ctr">
            <a:spAutoFit/>
          </a:bodyPr>
          <a:lstStyle/>
          <a:p>
            <a:pPr algn="ctr" eaLnBrk="0"/>
            <a:r>
              <a:rPr sz="1300" b="1" lang="ko-KR" altLang="en-US">
                <a:solidFill>
                  <a:srgbClr val="FFFFFF"/>
                </a:solidFill>
                <a:latin typeface="Malgun Gothic"/>
                <a:ea typeface="Malgun Gothic"/>
              </a:rPr>
              <a:t>10/22 이후 · 가장 큰 일</a:t>
            </a:r>
          </a:p>
        </p:txBody>
      </p:sp>
      <p:sp>
        <p:nvSpPr>
          <p:cNvPr id="44" name="TextBox 43"/>
          <p:cNvSpPr txBox="1"/>
          <p:nvPr/>
        </p:nvSpPr>
        <p:spPr>
          <a:xfrm>
            <a:off x="4590288" y="3035808"/>
            <a:ext cx="457200" cy="274320"/>
          </a:xfrm>
          <a:prstGeom prst="rect">
            <a:avLst/>
          </a:prstGeom>
          <a:noFill/>
        </p:spPr>
        <p:txBody>
          <a:bodyPr wrap="square" lIns="0" rIns="0" tIns="0" bIns="0" anchor="t">
            <a:spAutoFit/>
          </a:bodyPr>
          <a:lstStyle/>
          <a:p>
            <a:pPr algn="l" eaLnBrk="0"/>
            <a:r>
              <a:rPr sz="1200" b="1" lang="ko-KR" altLang="en-US">
                <a:solidFill>
                  <a:schemeClr val="accent5"/>
                </a:solidFill>
                <a:latin typeface="Malgun Gothic"/>
                <a:ea typeface="Malgun Gothic"/>
              </a:rPr>
              <a:t>01</a:t>
            </a:r>
          </a:p>
        </p:txBody>
      </p:sp>
      <p:sp>
        <p:nvSpPr>
          <p:cNvPr id="45" name="TextBox 44"/>
          <p:cNvSpPr txBox="1"/>
          <p:nvPr/>
        </p:nvSpPr>
        <p:spPr>
          <a:xfrm>
            <a:off x="5074920" y="3017520"/>
            <a:ext cx="2450592" cy="795528"/>
          </a:xfrm>
          <a:prstGeom prst="rect">
            <a:avLst/>
          </a:prstGeom>
          <a:noFill/>
        </p:spPr>
        <p:txBody>
          <a:bodyPr wrap="square" lIns="0" rIns="0" tIns="0" bIns="0" anchor="t">
            <a:spAutoFit/>
          </a:bodyPr>
          <a:lstStyle/>
          <a:p>
            <a:pPr algn="l" eaLnBrk="0"/>
            <a:r>
              <a:rPr sz="1500" b="0" lang="ko-KR" altLang="en-US">
                <a:solidFill>
                  <a:schemeClr val="tx1"/>
                </a:solidFill>
                <a:latin typeface="Malgun Gothic"/>
                <a:ea typeface="Malgun Gothic"/>
              </a:rPr>
              <a:t>Unity 연동 (송신화): 에셋 연결 · SUMO 구동</a:t>
            </a:r>
          </a:p>
        </p:txBody>
      </p:sp>
      <p:cxnSp>
        <p:nvCxnSpPr>
          <p:cNvPr id="46" name="Connector 45"/>
          <p:cNvCxnSpPr/>
          <p:nvPr/>
        </p:nvCxnSpPr>
        <p:spPr>
          <a:xfrm>
            <a:off x="4590288" y="3840480"/>
            <a:ext cx="2935224" cy="0"/>
          </a:xfrm>
          <a:prstGeom prst="line">
            <a:avLst/>
          </a:prstGeom>
          <a:ln w="9525">
            <a:solidFill>
              <a:srgbClr val="ECEFF4"/>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590288" y="3968496"/>
            <a:ext cx="457200" cy="274320"/>
          </a:xfrm>
          <a:prstGeom prst="rect">
            <a:avLst/>
          </a:prstGeom>
          <a:noFill/>
        </p:spPr>
        <p:txBody>
          <a:bodyPr wrap="square" lIns="0" rIns="0" tIns="0" bIns="0" anchor="t">
            <a:spAutoFit/>
          </a:bodyPr>
          <a:lstStyle/>
          <a:p>
            <a:pPr algn="l" eaLnBrk="0"/>
            <a:r>
              <a:rPr sz="1200" b="1" lang="ko-KR" altLang="en-US">
                <a:solidFill>
                  <a:schemeClr val="accent5"/>
                </a:solidFill>
                <a:latin typeface="Malgun Gothic"/>
                <a:ea typeface="Malgun Gothic"/>
              </a:rPr>
              <a:t>02</a:t>
            </a:r>
          </a:p>
        </p:txBody>
      </p:sp>
      <p:sp>
        <p:nvSpPr>
          <p:cNvPr id="48" name="TextBox 47"/>
          <p:cNvSpPr txBox="1"/>
          <p:nvPr/>
        </p:nvSpPr>
        <p:spPr>
          <a:xfrm>
            <a:off x="5074920" y="3950208"/>
            <a:ext cx="2450592" cy="795528"/>
          </a:xfrm>
          <a:prstGeom prst="rect">
            <a:avLst/>
          </a:prstGeom>
          <a:noFill/>
        </p:spPr>
        <p:txBody>
          <a:bodyPr wrap="square" lIns="0" rIns="0" tIns="0" bIns="0" anchor="t">
            <a:spAutoFit/>
          </a:bodyPr>
          <a:lstStyle/>
          <a:p>
            <a:pPr algn="l" eaLnBrk="0"/>
            <a:r>
              <a:rPr sz="1500" b="0" lang="ko-KR" altLang="en-US">
                <a:solidFill>
                  <a:schemeClr val="tx1"/>
                </a:solidFill>
                <a:latin typeface="Malgun Gothic"/>
                <a:ea typeface="Malgun Gothic"/>
              </a:rPr>
              <a:t>FETEX 개발 동시 착수 (헝가리안 능가가 목표)</a:t>
            </a:r>
          </a:p>
        </p:txBody>
      </p:sp>
      <p:cxnSp>
        <p:nvCxnSpPr>
          <p:cNvPr id="49" name="Connector 48"/>
          <p:cNvCxnSpPr/>
          <p:nvPr/>
        </p:nvCxnSpPr>
        <p:spPr>
          <a:xfrm>
            <a:off x="4590288" y="4773168"/>
            <a:ext cx="2935224" cy="0"/>
          </a:xfrm>
          <a:prstGeom prst="line">
            <a:avLst/>
          </a:prstGeom>
          <a:ln w="9525">
            <a:solidFill>
              <a:srgbClr val="ECEFF4"/>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590288" y="4901183"/>
            <a:ext cx="457200" cy="274320"/>
          </a:xfrm>
          <a:prstGeom prst="rect">
            <a:avLst/>
          </a:prstGeom>
          <a:noFill/>
        </p:spPr>
        <p:txBody>
          <a:bodyPr wrap="square" lIns="0" rIns="0" tIns="0" bIns="0" anchor="t">
            <a:spAutoFit/>
          </a:bodyPr>
          <a:lstStyle/>
          <a:p>
            <a:pPr algn="l" eaLnBrk="0"/>
            <a:r>
              <a:rPr sz="1200" b="1" lang="ko-KR" altLang="en-US">
                <a:solidFill>
                  <a:schemeClr val="accent5"/>
                </a:solidFill>
                <a:latin typeface="Malgun Gothic"/>
                <a:ea typeface="Malgun Gothic"/>
              </a:rPr>
              <a:t>03</a:t>
            </a:r>
          </a:p>
        </p:txBody>
      </p:sp>
      <p:sp>
        <p:nvSpPr>
          <p:cNvPr id="51" name="TextBox 50"/>
          <p:cNvSpPr txBox="1"/>
          <p:nvPr/>
        </p:nvSpPr>
        <p:spPr>
          <a:xfrm>
            <a:off x="5074920" y="4882896"/>
            <a:ext cx="2450592" cy="795528"/>
          </a:xfrm>
          <a:prstGeom prst="rect">
            <a:avLst/>
          </a:prstGeom>
          <a:noFill/>
        </p:spPr>
        <p:txBody>
          <a:bodyPr wrap="square" lIns="0" rIns="0" tIns="0" bIns="0" anchor="t">
            <a:spAutoFit/>
          </a:bodyPr>
          <a:lstStyle/>
          <a:p>
            <a:pPr algn="l" eaLnBrk="0"/>
            <a:r>
              <a:rPr sz="1500" b="0" lang="ko-KR" altLang="en-US">
                <a:solidFill>
                  <a:schemeClr val="tx1"/>
                </a:solidFill>
                <a:latin typeface="Malgun Gothic"/>
                <a:ea typeface="Malgun Gothic"/>
              </a:rPr>
              <a:t>미리 배치 전후를 화면으로 비교</a:t>
            </a:r>
          </a:p>
        </p:txBody>
      </p:sp>
      <p:cxnSp>
        <p:nvCxnSpPr>
          <p:cNvPr id="52" name="Connector 51"/>
          <p:cNvCxnSpPr/>
          <p:nvPr/>
        </p:nvCxnSpPr>
        <p:spPr>
          <a:xfrm>
            <a:off x="8339328" y="2011680"/>
            <a:ext cx="2935224"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339328" y="2322576"/>
            <a:ext cx="1100000" cy="402336"/>
          </a:xfrm>
          <a:prstGeom prst="roundRect">
            <a:avLst>
              <a:gd name="adj" fmla="val 50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39328" y="2322576"/>
            <a:ext cx="1100000" cy="402336"/>
          </a:xfrm>
          <a:prstGeom prst="rect">
            <a:avLst/>
          </a:prstGeom>
          <a:noFill/>
        </p:spPr>
        <p:txBody>
          <a:bodyPr wrap="square" lIns="0" rIns="0" tIns="0" bIns="0" anchor="ctr">
            <a:spAutoFit/>
          </a:bodyPr>
          <a:lstStyle/>
          <a:p>
            <a:pPr algn="ctr" eaLnBrk="0"/>
            <a:r>
              <a:rPr sz="1300" b="1" lang="ko-KR" altLang="en-US">
                <a:solidFill>
                  <a:srgbClr val="FFFFFF"/>
                </a:solidFill>
                <a:latin typeface="Malgun Gothic"/>
                <a:ea typeface="Malgun Gothic"/>
              </a:rPr>
              <a:t>그 이후</a:t>
            </a:r>
          </a:p>
        </p:txBody>
      </p:sp>
      <p:sp>
        <p:nvSpPr>
          <p:cNvPr id="55" name="TextBox 54"/>
          <p:cNvSpPr txBox="1"/>
          <p:nvPr/>
        </p:nvSpPr>
        <p:spPr>
          <a:xfrm>
            <a:off x="8339328" y="3035808"/>
            <a:ext cx="457200" cy="274320"/>
          </a:xfrm>
          <a:prstGeom prst="rect">
            <a:avLst/>
          </a:prstGeom>
          <a:noFill/>
        </p:spPr>
        <p:txBody>
          <a:bodyPr wrap="square" lIns="0" rIns="0" tIns="0" bIns="0" anchor="t">
            <a:spAutoFit/>
          </a:bodyPr>
          <a:lstStyle/>
          <a:p>
            <a:pPr algn="l" eaLnBrk="0"/>
            <a:r>
              <a:rPr sz="1200" b="1" lang="ko-KR" altLang="en-US">
                <a:solidFill>
                  <a:schemeClr val="accent2"/>
                </a:solidFill>
                <a:latin typeface="Malgun Gothic"/>
                <a:ea typeface="Malgun Gothic"/>
              </a:rPr>
              <a:t>01</a:t>
            </a:r>
          </a:p>
        </p:txBody>
      </p:sp>
      <p:sp>
        <p:nvSpPr>
          <p:cNvPr id="56" name="TextBox 55"/>
          <p:cNvSpPr txBox="1"/>
          <p:nvPr/>
        </p:nvSpPr>
        <p:spPr>
          <a:xfrm>
            <a:off x="8823960" y="3017520"/>
            <a:ext cx="2450592" cy="795528"/>
          </a:xfrm>
          <a:prstGeom prst="rect">
            <a:avLst/>
          </a:prstGeom>
          <a:noFill/>
        </p:spPr>
        <p:txBody>
          <a:bodyPr wrap="square" lIns="0" rIns="0" tIns="0" bIns="0" anchor="t">
            <a:spAutoFit/>
          </a:bodyPr>
          <a:lstStyle/>
          <a:p>
            <a:pPr algn="l" eaLnBrk="0"/>
            <a:r>
              <a:rPr sz="1500" b="0" lang="ko-KR" altLang="en-US">
                <a:solidFill>
                  <a:schemeClr val="tx1"/>
                </a:solidFill>
                <a:latin typeface="Malgun Gothic"/>
                <a:ea typeface="Malgun Gothic"/>
              </a:rPr>
              <a:t>평일 반복 실험</a:t>
            </a:r>
          </a:p>
        </p:txBody>
      </p:sp>
      <p:cxnSp>
        <p:nvCxnSpPr>
          <p:cNvPr id="57" name="Connector 56"/>
          <p:cNvCxnSpPr/>
          <p:nvPr/>
        </p:nvCxnSpPr>
        <p:spPr>
          <a:xfrm>
            <a:off x="8339328" y="3840480"/>
            <a:ext cx="2935224" cy="0"/>
          </a:xfrm>
          <a:prstGeom prst="line">
            <a:avLst/>
          </a:prstGeom>
          <a:ln w="9525">
            <a:solidFill>
              <a:srgbClr val="ECEFF4"/>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339328" y="3968496"/>
            <a:ext cx="457200" cy="274320"/>
          </a:xfrm>
          <a:prstGeom prst="rect">
            <a:avLst/>
          </a:prstGeom>
          <a:noFill/>
        </p:spPr>
        <p:txBody>
          <a:bodyPr wrap="square" lIns="0" rIns="0" tIns="0" bIns="0" anchor="t">
            <a:spAutoFit/>
          </a:bodyPr>
          <a:lstStyle/>
          <a:p>
            <a:pPr algn="l" eaLnBrk="0"/>
            <a:r>
              <a:rPr sz="1200" b="1" lang="ko-KR" altLang="en-US">
                <a:solidFill>
                  <a:schemeClr val="accent2"/>
                </a:solidFill>
                <a:latin typeface="Malgun Gothic"/>
                <a:ea typeface="Malgun Gothic"/>
              </a:rPr>
              <a:t>02</a:t>
            </a:r>
          </a:p>
        </p:txBody>
      </p:sp>
      <p:sp>
        <p:nvSpPr>
          <p:cNvPr id="59" name="TextBox 58"/>
          <p:cNvSpPr txBox="1"/>
          <p:nvPr/>
        </p:nvSpPr>
        <p:spPr>
          <a:xfrm>
            <a:off x="8823960" y="3950208"/>
            <a:ext cx="2450592" cy="795528"/>
          </a:xfrm>
          <a:prstGeom prst="rect">
            <a:avLst/>
          </a:prstGeom>
          <a:noFill/>
        </p:spPr>
        <p:txBody>
          <a:bodyPr wrap="square" lIns="0" rIns="0" tIns="0" bIns="0" anchor="t">
            <a:spAutoFit/>
          </a:bodyPr>
          <a:lstStyle/>
          <a:p>
            <a:pPr algn="l" eaLnBrk="0"/>
            <a:r>
              <a:rPr sz="1500" b="0" lang="ko-KR" altLang="en-US">
                <a:solidFill>
                  <a:schemeClr val="tx1"/>
                </a:solidFill>
                <a:latin typeface="Malgun Gothic"/>
                <a:ea typeface="Malgun Gothic"/>
              </a:rPr>
              <a:t>실데이터 확보 방안 검토</a:t>
            </a:r>
          </a:p>
        </p:txBody>
      </p:sp>
      <p:cxnSp>
        <p:nvCxnSpPr>
          <p:cNvPr id="60" name="Connector 59"/>
          <p:cNvCxnSpPr/>
          <p:nvPr/>
        </p:nvCxnSpPr>
        <p:spPr>
          <a:xfrm>
            <a:off x="8339328" y="4773168"/>
            <a:ext cx="2935224" cy="0"/>
          </a:xfrm>
          <a:prstGeom prst="line">
            <a:avLst/>
          </a:prstGeom>
          <a:ln w="9525">
            <a:solidFill>
              <a:srgbClr val="ECEFF4"/>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8339328" y="4901183"/>
            <a:ext cx="457200" cy="274320"/>
          </a:xfrm>
          <a:prstGeom prst="rect">
            <a:avLst/>
          </a:prstGeom>
          <a:noFill/>
        </p:spPr>
        <p:txBody>
          <a:bodyPr wrap="square" lIns="0" rIns="0" tIns="0" bIns="0" anchor="t">
            <a:spAutoFit/>
          </a:bodyPr>
          <a:lstStyle/>
          <a:p>
            <a:pPr algn="l" eaLnBrk="0"/>
            <a:r>
              <a:rPr sz="1200" b="1" lang="ko-KR" altLang="en-US">
                <a:solidFill>
                  <a:schemeClr val="accent2"/>
                </a:solidFill>
                <a:latin typeface="Malgun Gothic"/>
                <a:ea typeface="Malgun Gothic"/>
              </a:rPr>
              <a:t>03</a:t>
            </a:r>
          </a:p>
        </p:txBody>
      </p:sp>
      <p:sp>
        <p:nvSpPr>
          <p:cNvPr id="62" name="TextBox 61"/>
          <p:cNvSpPr txBox="1"/>
          <p:nvPr/>
        </p:nvSpPr>
        <p:spPr>
          <a:xfrm>
            <a:off x="8823960" y="4882896"/>
            <a:ext cx="2450592" cy="795528"/>
          </a:xfrm>
          <a:prstGeom prst="rect">
            <a:avLst/>
          </a:prstGeom>
          <a:noFill/>
        </p:spPr>
        <p:txBody>
          <a:bodyPr wrap="square" lIns="0" rIns="0" tIns="0" bIns="0" anchor="t">
            <a:spAutoFit/>
          </a:bodyPr>
          <a:lstStyle/>
          <a:p>
            <a:pPr algn="l" eaLnBrk="0"/>
            <a:r>
              <a:rPr sz="1500" b="0" lang="ko-KR" altLang="en-US">
                <a:solidFill>
                  <a:schemeClr val="tx1"/>
                </a:solidFill>
                <a:latin typeface="Malgun Gothic"/>
                <a:ea typeface="Malgun Gothic"/>
              </a:rPr>
              <a:t>README · 보고서 정리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 name="Text 0"/>
          <p:cNvSpPr>
            <a:spLocks noGrp="1"/>
          </p:cNvSpPr>
          <p:nvPr>
            <p:ph type="title" idx="100" hasCustomPrompt="1"/>
          </p:nvPr>
        </p:nvSpPr>
        <p:spPr>
          <a:xfrm>
            <a:off x="548640" y="320040"/>
            <a:ext cx="9418320" cy="822960"/>
          </a:xfrm>
          <a:prstGeom prst="rect">
            <a:avLst/>
          </a:prstGeom>
          <a:noFill/>
          <a:ln/>
        </p:spPr>
        <p:txBody>
          <a:bodyPr wrap="square" lIns="0" tIns="0" rIns="0" bIns="0" rtlCol="0" anchor="ctr"/>
          <a:lstStyle/>
          <a:p>
            <a:pPr marL="0" indent="0" algn="l" eaLnBrk="0">
              <a:buNone/>
            </a:pPr>
            <a:r>
              <a:rPr lang="ko-KR" sz="3000" b="1" dirty="0" altLang="en-US">
                <a:solidFill>
                  <a:schemeClr val="tx1"/>
                </a:solidFill>
                <a:latin typeface="Malgun Gothic" pitchFamily="34" charset="0"/>
                <a:ea typeface="Malgun Gothic" pitchFamily="34" charset="-122"/>
                <a:cs typeface="Malgun Gothic" pitchFamily="34" charset="-120"/>
              </a:rPr>
              <a:t>팀 역할 분담</a:t>
            </a:r>
            <a:endParaRPr lang="ko-KR" sz="3000" dirty="0" altLang="en-US"/>
          </a:p>
        </p:txBody>
      </p:sp>
      <p:pic>
        <p:nvPicPr>
          <p:cNvPr id="101" name="pixel road" descr="/tmp/claude-0/-home-claude/11347301-a108-554b-858c-c0553e507ab7/scratchpad/build/px/road_c.png"/>
          <p:cNvPicPr>
            <a:picLocks noChangeAspect="1"/>
          </p:cNvPicPr>
          <p:nvPr/>
        </p:nvPicPr>
        <p:blipFill>
          <a:blip r:embed="rId2"/>
          <a:stretch>
            <a:fillRect/>
          </a:stretch>
        </p:blipFill>
        <p:spPr>
          <a:xfrm>
            <a:off x="548640" y="6629400"/>
            <a:ext cx="10424160" cy="150876"/>
          </a:xfrm>
          <a:prstGeom prst="rect">
            <a:avLst/>
          </a:prstGeom>
        </p:spPr>
      </p:pic>
      <p:pic>
        <p:nvPicPr>
          <p:cNvPr id="102" name="pixel taxi" descr="/tmp/claude-0/-home-claude/11347301-a108-554b-858c-c0553e507ab7/scratchpad/build/px/taxi.png"/>
          <p:cNvPicPr>
            <a:picLocks noChangeAspect="1"/>
          </p:cNvPicPr>
          <p:nvPr/>
        </p:nvPicPr>
        <p:blipFill>
          <a:blip r:embed="rId3"/>
          <a:stretch>
            <a:fillRect/>
          </a:stretch>
        </p:blipFill>
        <p:spPr>
          <a:xfrm>
            <a:off x="10188245" y="6297473"/>
            <a:ext cx="784555" cy="362102"/>
          </a:xfrm>
          <a:prstGeom prst="rect">
            <a:avLst/>
          </a:prstGeom>
        </p:spPr>
      </p:pic>
      <p:sp>
        <p:nvSpPr>
          <p:cNvPr id="10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Malgun Gothic"/>
                <a:ea typeface="Malgun Gothic"/>
                <a:cs typeface="Malgun Gothic"/>
              </a:defRPr>
            </a:lvl1pPr>
          </a:lstStyle>
          <a:p>
            <a:pPr algn="l" eaLnBrk="0"/>
            <a:fld id="{F7021451-1387-4CA6-816F-3879F97B5CBC}" type="slidenum">
              <a:rPr lang="ko-KR" b="0" altLang="en-US"/>
              <a:t>15</a:t>
            </a:fld>
            <a:endParaRPr lang="ko-KR" altLang="en-US"/>
          </a:p>
        </p:txBody>
      </p:sp>
      <p:sp>
        <p:nvSpPr>
          <p:cNvPr id="104" name="Rectangle 103"/>
          <p:cNvSpPr/>
          <p:nvPr/>
        </p:nvSpPr>
        <p:spPr>
          <a:xfrm>
            <a:off x="548640" y="1463040"/>
            <a:ext cx="2057400" cy="4389120"/>
          </a:xfrm>
          <a:prstGeom prst="rect">
            <a:avLst/>
          </a:prstGeom>
          <a:solidFill>
            <a:srgbClr val="F5F7FA"/>
          </a:solidFill>
          <a:ln w="19050">
            <a:solidFill>
              <a:srgbClr val="E1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31"/>
          <p:cNvSpPr txBox="1"/>
          <p:nvPr/>
        </p:nvSpPr>
        <p:spPr>
          <a:xfrm>
            <a:off x="731520" y="1737360"/>
            <a:ext cx="1691640" cy="457200"/>
          </a:xfrm>
          <a:prstGeom prst="rect">
            <a:avLst/>
          </a:prstGeom>
          <a:noFill/>
        </p:spPr>
        <p:txBody>
          <a:bodyPr wrap="square" lIns="0" rIns="0" tIns="0" bIns="0" anchor="ctr">
            <a:spAutoFit/>
          </a:bodyPr>
          <a:lstStyle/>
          <a:p>
            <a:pPr algn="l" eaLnBrk="0"/>
            <a:r>
              <a:rPr sz="2000" b="1" lang="ko-KR" altLang="en-US">
                <a:solidFill>
                  <a:srgbClr val="16213A"/>
                </a:solidFill>
                <a:latin typeface="Malgun Gothic"/>
                <a:ea typeface="Malgun Gothic"/>
              </a:rPr>
              <a:t>김준성</a:t>
            </a:r>
          </a:p>
        </p:txBody>
      </p:sp>
      <p:sp>
        <p:nvSpPr>
          <p:cNvPr id="105" name="TextBox 32"/>
          <p:cNvSpPr txBox="1"/>
          <p:nvPr/>
        </p:nvSpPr>
        <p:spPr>
          <a:xfrm>
            <a:off x="731520" y="2331720"/>
            <a:ext cx="1691640" cy="274320"/>
          </a:xfrm>
          <a:prstGeom prst="rect">
            <a:avLst/>
          </a:prstGeom>
          <a:noFill/>
        </p:spPr>
        <p:txBody>
          <a:bodyPr wrap="square" lIns="0" rIns="0" tIns="0" bIns="0" anchor="t">
            <a:spAutoFit/>
          </a:bodyPr>
          <a:lstStyle/>
          <a:p>
            <a:pPr algn="l" eaLnBrk="0"/>
            <a:r>
              <a:rPr sz="1200" b="1" lang="ko-KR" altLang="en-US">
                <a:solidFill>
                  <a:srgbClr val="C99600"/>
                </a:solidFill>
                <a:latin typeface="Malgun Gothic"/>
                <a:ea typeface="Malgun Gothic"/>
              </a:rPr>
              <a:t>통합 · 강화학습</a:t>
            </a:r>
          </a:p>
        </p:txBody>
      </p:sp>
      <p:sp>
        <p:nvSpPr>
          <p:cNvPr id="106" name="TextBox 33"/>
          <p:cNvSpPr txBox="1"/>
          <p:nvPr/>
        </p:nvSpPr>
        <p:spPr>
          <a:xfrm>
            <a:off x="731520" y="2788920"/>
            <a:ext cx="1691640" cy="2743200"/>
          </a:xfrm>
          <a:prstGeom prst="rect">
            <a:avLst/>
          </a:prstGeom>
          <a:noFill/>
        </p:spPr>
        <p:txBody>
          <a:bodyPr wrap="square" lIns="0" rIns="0" tIns="0" bIns="0" anchor="t">
            <a:spAutoFit/>
          </a:bodyPr>
          <a:lstStyle/>
          <a:p>
            <a:pPr algn="l" eaLnBrk="0"/>
            <a:r>
              <a:rPr sz="1400" b="0" lang="ko-KR" altLang="en-US">
                <a:solidFill>
                  <a:schemeClr val="tx1"/>
                </a:solidFill>
                <a:latin typeface="Malgun Gothic"/>
                <a:ea typeface="Malgun Gothic"/>
              </a:rPr>
              <a:t>통합 및 강화학습 (RL 유휴택시 재배치)</a:t>
            </a:r>
          </a:p>
        </p:txBody>
      </p:sp>
      <p:sp>
        <p:nvSpPr>
          <p:cNvPr id="107" name="Rectangle 106"/>
          <p:cNvSpPr/>
          <p:nvPr/>
        </p:nvSpPr>
        <p:spPr>
          <a:xfrm>
            <a:off x="2788920" y="1463040"/>
            <a:ext cx="2057400" cy="4389120"/>
          </a:xfrm>
          <a:prstGeom prst="rect">
            <a:avLst/>
          </a:prstGeom>
          <a:solidFill>
            <a:srgbClr val="F5F7FA"/>
          </a:solidFill>
          <a:ln w="19050">
            <a:solidFill>
              <a:srgbClr val="E1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31"/>
          <p:cNvSpPr txBox="1"/>
          <p:nvPr/>
        </p:nvSpPr>
        <p:spPr>
          <a:xfrm>
            <a:off x="2971800" y="1737360"/>
            <a:ext cx="1691640" cy="457200"/>
          </a:xfrm>
          <a:prstGeom prst="rect">
            <a:avLst/>
          </a:prstGeom>
          <a:noFill/>
        </p:spPr>
        <p:txBody>
          <a:bodyPr wrap="square" lIns="0" rIns="0" tIns="0" bIns="0" anchor="ctr">
            <a:spAutoFit/>
          </a:bodyPr>
          <a:lstStyle/>
          <a:p>
            <a:pPr algn="l" eaLnBrk="0"/>
            <a:r>
              <a:rPr sz="2000" b="1" lang="ko-KR" altLang="en-US">
                <a:solidFill>
                  <a:srgbClr val="16213A"/>
                </a:solidFill>
                <a:latin typeface="Malgun Gothic"/>
                <a:ea typeface="Malgun Gothic"/>
              </a:rPr>
              <a:t>전우영</a:t>
            </a:r>
          </a:p>
        </p:txBody>
      </p:sp>
      <p:sp>
        <p:nvSpPr>
          <p:cNvPr id="108" name="TextBox 32"/>
          <p:cNvSpPr txBox="1"/>
          <p:nvPr/>
        </p:nvSpPr>
        <p:spPr>
          <a:xfrm>
            <a:off x="2971800" y="2331720"/>
            <a:ext cx="1691640" cy="274320"/>
          </a:xfrm>
          <a:prstGeom prst="rect">
            <a:avLst/>
          </a:prstGeom>
          <a:noFill/>
        </p:spPr>
        <p:txBody>
          <a:bodyPr wrap="square" lIns="0" rIns="0" tIns="0" bIns="0" anchor="t">
            <a:spAutoFit/>
          </a:bodyPr>
          <a:lstStyle/>
          <a:p>
            <a:pPr algn="l" eaLnBrk="0"/>
            <a:r>
              <a:rPr sz="1200" b="1" lang="ko-KR" altLang="en-US">
                <a:solidFill>
                  <a:srgbClr val="C99600"/>
                </a:solidFill>
                <a:latin typeface="Malgun Gothic"/>
                <a:ea typeface="Malgun Gothic"/>
              </a:rPr>
              <a:t>수요 예측</a:t>
            </a:r>
          </a:p>
        </p:txBody>
      </p:sp>
      <p:sp>
        <p:nvSpPr>
          <p:cNvPr id="109" name="TextBox 33"/>
          <p:cNvSpPr txBox="1"/>
          <p:nvPr/>
        </p:nvSpPr>
        <p:spPr>
          <a:xfrm>
            <a:off x="2971800" y="2788920"/>
            <a:ext cx="1691640" cy="2743200"/>
          </a:xfrm>
          <a:prstGeom prst="rect">
            <a:avLst/>
          </a:prstGeom>
          <a:noFill/>
        </p:spPr>
        <p:txBody>
          <a:bodyPr wrap="square" lIns="0" rIns="0" tIns="0" bIns="0" anchor="t">
            <a:spAutoFit/>
          </a:bodyPr>
          <a:lstStyle/>
          <a:p>
            <a:pPr algn="l" eaLnBrk="0"/>
            <a:r>
              <a:rPr sz="1400" b="0" lang="ko-KR" altLang="en-US">
                <a:solidFill>
                  <a:schemeClr val="tx1"/>
                </a:solidFill>
                <a:latin typeface="Malgun Gothic"/>
                <a:ea typeface="Malgun Gothic"/>
              </a:rPr>
              <a:t>전처리된 데이터로 XGBoost vs CNN-LSTM 두 모델 학습, 택시 수요 예측</a:t>
            </a:r>
          </a:p>
        </p:txBody>
      </p:sp>
      <p:sp>
        <p:nvSpPr>
          <p:cNvPr id="110" name="Rectangle 109"/>
          <p:cNvSpPr/>
          <p:nvPr/>
        </p:nvSpPr>
        <p:spPr>
          <a:xfrm>
            <a:off x="5029200" y="1463040"/>
            <a:ext cx="2057400" cy="4389120"/>
          </a:xfrm>
          <a:prstGeom prst="rect">
            <a:avLst/>
          </a:prstGeom>
          <a:solidFill>
            <a:srgbClr val="F5F7FA"/>
          </a:solidFill>
          <a:ln w="19050">
            <a:solidFill>
              <a:srgbClr val="E1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31"/>
          <p:cNvSpPr txBox="1"/>
          <p:nvPr/>
        </p:nvSpPr>
        <p:spPr>
          <a:xfrm>
            <a:off x="5212080" y="1737360"/>
            <a:ext cx="1691640" cy="457200"/>
          </a:xfrm>
          <a:prstGeom prst="rect">
            <a:avLst/>
          </a:prstGeom>
          <a:noFill/>
        </p:spPr>
        <p:txBody>
          <a:bodyPr wrap="square" lIns="0" rIns="0" tIns="0" bIns="0" anchor="ctr">
            <a:spAutoFit/>
          </a:bodyPr>
          <a:lstStyle/>
          <a:p>
            <a:pPr algn="l" eaLnBrk="0"/>
            <a:r>
              <a:rPr sz="2000" b="1" lang="ko-KR" altLang="en-US">
                <a:solidFill>
                  <a:srgbClr val="16213A"/>
                </a:solidFill>
                <a:latin typeface="Malgun Gothic"/>
                <a:ea typeface="Malgun Gothic"/>
              </a:rPr>
              <a:t>윤세빈</a:t>
            </a:r>
          </a:p>
        </p:txBody>
      </p:sp>
      <p:sp>
        <p:nvSpPr>
          <p:cNvPr id="111" name="TextBox 32"/>
          <p:cNvSpPr txBox="1"/>
          <p:nvPr/>
        </p:nvSpPr>
        <p:spPr>
          <a:xfrm>
            <a:off x="5212080" y="2331720"/>
            <a:ext cx="1691640" cy="274320"/>
          </a:xfrm>
          <a:prstGeom prst="rect">
            <a:avLst/>
          </a:prstGeom>
          <a:noFill/>
        </p:spPr>
        <p:txBody>
          <a:bodyPr wrap="square" lIns="0" rIns="0" tIns="0" bIns="0" anchor="t">
            <a:spAutoFit/>
          </a:bodyPr>
          <a:lstStyle/>
          <a:p>
            <a:pPr algn="l" eaLnBrk="0"/>
            <a:r>
              <a:rPr sz="1200" b="1" lang="ko-KR" altLang="en-US">
                <a:solidFill>
                  <a:srgbClr val="C99600"/>
                </a:solidFill>
                <a:latin typeface="Malgun Gothic"/>
                <a:ea typeface="Malgun Gothic"/>
              </a:rPr>
              <a:t>전처리 · EDA</a:t>
            </a:r>
          </a:p>
        </p:txBody>
      </p:sp>
      <p:sp>
        <p:nvSpPr>
          <p:cNvPr id="112" name="TextBox 33"/>
          <p:cNvSpPr txBox="1"/>
          <p:nvPr/>
        </p:nvSpPr>
        <p:spPr>
          <a:xfrm>
            <a:off x="5212080" y="2788920"/>
            <a:ext cx="1691640" cy="2743200"/>
          </a:xfrm>
          <a:prstGeom prst="rect">
            <a:avLst/>
          </a:prstGeom>
          <a:noFill/>
        </p:spPr>
        <p:txBody>
          <a:bodyPr wrap="square" lIns="0" rIns="0" tIns="0" bIns="0" anchor="t">
            <a:spAutoFit/>
          </a:bodyPr>
          <a:lstStyle/>
          <a:p>
            <a:pPr algn="l" eaLnBrk="0"/>
            <a:r>
              <a:rPr sz="1400" b="0" lang="ko-KR" altLang="en-US">
                <a:solidFill>
                  <a:schemeClr val="tx1"/>
                </a:solidFill>
                <a:latin typeface="Malgun Gothic"/>
                <a:ea typeface="Malgun Gothic"/>
              </a:rPr>
              <a:t>시뮬레이션 로그를 학습용 시계열 데이터로 전처리, EDA로 수요 패턴과 데이터 특성 분석</a:t>
            </a:r>
          </a:p>
        </p:txBody>
      </p:sp>
      <p:sp>
        <p:nvSpPr>
          <p:cNvPr id="113" name="Rectangle 112"/>
          <p:cNvSpPr/>
          <p:nvPr/>
        </p:nvSpPr>
        <p:spPr>
          <a:xfrm>
            <a:off x="7269480" y="1463040"/>
            <a:ext cx="2057400" cy="4389120"/>
          </a:xfrm>
          <a:prstGeom prst="rect">
            <a:avLst/>
          </a:prstGeom>
          <a:solidFill>
            <a:srgbClr val="F5F7FA"/>
          </a:solidFill>
          <a:ln w="19050">
            <a:solidFill>
              <a:srgbClr val="E1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31"/>
          <p:cNvSpPr txBox="1"/>
          <p:nvPr/>
        </p:nvSpPr>
        <p:spPr>
          <a:xfrm>
            <a:off x="7452360" y="1737360"/>
            <a:ext cx="1691640" cy="457200"/>
          </a:xfrm>
          <a:prstGeom prst="rect">
            <a:avLst/>
          </a:prstGeom>
          <a:noFill/>
        </p:spPr>
        <p:txBody>
          <a:bodyPr wrap="square" lIns="0" rIns="0" tIns="0" bIns="0" anchor="ctr">
            <a:spAutoFit/>
          </a:bodyPr>
          <a:lstStyle/>
          <a:p>
            <a:pPr algn="l" eaLnBrk="0"/>
            <a:r>
              <a:rPr sz="2000" b="1" lang="ko-KR" altLang="en-US">
                <a:solidFill>
                  <a:srgbClr val="16213A"/>
                </a:solidFill>
                <a:latin typeface="Malgun Gothic"/>
                <a:ea typeface="Malgun Gothic"/>
              </a:rPr>
              <a:t>송신화</a:t>
            </a:r>
          </a:p>
        </p:txBody>
      </p:sp>
      <p:sp>
        <p:nvSpPr>
          <p:cNvPr id="114" name="TextBox 32"/>
          <p:cNvSpPr txBox="1"/>
          <p:nvPr/>
        </p:nvSpPr>
        <p:spPr>
          <a:xfrm>
            <a:off x="7452360" y="2331720"/>
            <a:ext cx="1691640" cy="274320"/>
          </a:xfrm>
          <a:prstGeom prst="rect">
            <a:avLst/>
          </a:prstGeom>
          <a:noFill/>
        </p:spPr>
        <p:txBody>
          <a:bodyPr wrap="square" lIns="0" rIns="0" tIns="0" bIns="0" anchor="t">
            <a:spAutoFit/>
          </a:bodyPr>
          <a:lstStyle/>
          <a:p>
            <a:pPr algn="l" eaLnBrk="0"/>
            <a:r>
              <a:rPr sz="1200" b="1" lang="ko-KR" altLang="en-US">
                <a:solidFill>
                  <a:srgbClr val="C99600"/>
                </a:solidFill>
                <a:latin typeface="Malgun Gothic"/>
                <a:ea typeface="Malgun Gothic"/>
              </a:rPr>
              <a:t>데이터 · 평가 · Unity</a:t>
            </a:r>
          </a:p>
        </p:txBody>
      </p:sp>
      <p:sp>
        <p:nvSpPr>
          <p:cNvPr id="115" name="TextBox 33"/>
          <p:cNvSpPr txBox="1"/>
          <p:nvPr/>
        </p:nvSpPr>
        <p:spPr>
          <a:xfrm>
            <a:off x="7452360" y="2788920"/>
            <a:ext cx="1691640" cy="2743200"/>
          </a:xfrm>
          <a:prstGeom prst="rect">
            <a:avLst/>
          </a:prstGeom>
          <a:noFill/>
        </p:spPr>
        <p:txBody>
          <a:bodyPr wrap="square" lIns="0" rIns="0" tIns="0" bIns="0" anchor="t">
            <a:spAutoFit/>
          </a:bodyPr>
          <a:lstStyle/>
          <a:p>
            <a:pPr algn="l" eaLnBrk="0"/>
            <a:r>
              <a:rPr sz="1400" b="0" lang="ko-KR" altLang="en-US">
                <a:solidFill>
                  <a:schemeClr val="tx1"/>
                </a:solidFill>
                <a:latin typeface="Malgun Gothic"/>
                <a:ea typeface="Malgun Gothic"/>
              </a:rPr>
              <a:t>데이터 생성 · 전처리 · 모델 학습 · 평가 테스트, Unity 디지털 트윈 시각화</a:t>
            </a:r>
          </a:p>
        </p:txBody>
      </p:sp>
      <p:sp>
        <p:nvSpPr>
          <p:cNvPr id="116" name="Rectangle 115"/>
          <p:cNvSpPr/>
          <p:nvPr/>
        </p:nvSpPr>
        <p:spPr>
          <a:xfrm>
            <a:off x="9509760" y="1463040"/>
            <a:ext cx="2057400" cy="4389120"/>
          </a:xfrm>
          <a:prstGeom prst="rect">
            <a:avLst/>
          </a:prstGeom>
          <a:solidFill>
            <a:srgbClr val="F5F7FA"/>
          </a:solidFill>
          <a:ln w="19050">
            <a:solidFill>
              <a:srgbClr val="E1E5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31"/>
          <p:cNvSpPr txBox="1"/>
          <p:nvPr/>
        </p:nvSpPr>
        <p:spPr>
          <a:xfrm>
            <a:off x="9692640" y="1737360"/>
            <a:ext cx="1691640" cy="457200"/>
          </a:xfrm>
          <a:prstGeom prst="rect">
            <a:avLst/>
          </a:prstGeom>
          <a:noFill/>
        </p:spPr>
        <p:txBody>
          <a:bodyPr wrap="square" lIns="0" rIns="0" tIns="0" bIns="0" anchor="ctr">
            <a:spAutoFit/>
          </a:bodyPr>
          <a:lstStyle/>
          <a:p>
            <a:pPr algn="l" eaLnBrk="0"/>
            <a:r>
              <a:rPr sz="2000" b="1" lang="ko-KR" altLang="en-US">
                <a:solidFill>
                  <a:srgbClr val="16213A"/>
                </a:solidFill>
                <a:latin typeface="Malgun Gothic"/>
                <a:ea typeface="Malgun Gothic"/>
              </a:rPr>
              <a:t>이동규</a:t>
            </a:r>
          </a:p>
        </p:txBody>
      </p:sp>
      <p:sp>
        <p:nvSpPr>
          <p:cNvPr id="117" name="TextBox 32"/>
          <p:cNvSpPr txBox="1"/>
          <p:nvPr/>
        </p:nvSpPr>
        <p:spPr>
          <a:xfrm>
            <a:off x="9692640" y="2331720"/>
            <a:ext cx="1691640" cy="274320"/>
          </a:xfrm>
          <a:prstGeom prst="rect">
            <a:avLst/>
          </a:prstGeom>
          <a:noFill/>
        </p:spPr>
        <p:txBody>
          <a:bodyPr wrap="square" lIns="0" rIns="0" tIns="0" bIns="0" anchor="t">
            <a:spAutoFit/>
          </a:bodyPr>
          <a:lstStyle/>
          <a:p>
            <a:pPr algn="l" eaLnBrk="0"/>
            <a:r>
              <a:rPr sz="1200" b="1" lang="ko-KR" altLang="en-US">
                <a:solidFill>
                  <a:srgbClr val="C99600"/>
                </a:solidFill>
                <a:latin typeface="Malgun Gothic"/>
                <a:ea typeface="Malgun Gothic"/>
              </a:rPr>
              <a:t>데이터 검증</a:t>
            </a:r>
          </a:p>
        </p:txBody>
      </p:sp>
      <p:sp>
        <p:nvSpPr>
          <p:cNvPr id="118" name="TextBox 33"/>
          <p:cNvSpPr txBox="1"/>
          <p:nvPr/>
        </p:nvSpPr>
        <p:spPr>
          <a:xfrm>
            <a:off x="9692640" y="2788920"/>
            <a:ext cx="1691640" cy="2743200"/>
          </a:xfrm>
          <a:prstGeom prst="rect">
            <a:avLst/>
          </a:prstGeom>
          <a:noFill/>
        </p:spPr>
        <p:txBody>
          <a:bodyPr wrap="square" lIns="0" rIns="0" tIns="0" bIns="0" anchor="t">
            <a:spAutoFit/>
          </a:bodyPr>
          <a:lstStyle/>
          <a:p>
            <a:pPr algn="l" eaLnBrk="0"/>
            <a:r>
              <a:rPr sz="1400" b="0" lang="ko-KR" altLang="en-US">
                <a:solidFill>
                  <a:schemeClr val="tx1"/>
                </a:solidFill>
                <a:latin typeface="Malgun Gothic"/>
                <a:ea typeface="Malgun Gothic"/>
              </a:rPr>
              <a:t>지도·외부 데이터 검증 및 검증 도구 작성, 지역 좌표 조회 캐시 개선</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pixel road" descr="/tmp/claude-0/-home-claude/11347301-a108-554b-858c-c0553e507ab7/scratchpad/build/px/road_c.png"/>
          <p:cNvPicPr>
            <a:picLocks noChangeAspect="1"/>
          </p:cNvPicPr>
          <p:nvPr/>
        </p:nvPicPr>
        <p:blipFill>
          <a:blip r:embed="rId3"/>
          <a:stretch>
            <a:fillRect/>
          </a:stretch>
        </p:blipFill>
        <p:spPr>
          <a:xfrm>
            <a:off x="548640" y="6629400"/>
            <a:ext cx="10424160" cy="150876"/>
          </a:xfrm>
          <a:prstGeom prst="rect">
            <a:avLst/>
          </a:prstGeom>
        </p:spPr>
      </p:pic>
      <p:pic>
        <p:nvPicPr>
          <p:cNvPr id="4" name="pixel taxi" descr="/tmp/claude-0/-home-claude/11347301-a108-554b-858c-c0553e507ab7/scratchpad/build/px/taxi.png"/>
          <p:cNvPicPr>
            <a:picLocks noChangeAspect="1"/>
          </p:cNvPicPr>
          <p:nvPr/>
        </p:nvPicPr>
        <p:blipFill>
          <a:blip r:embed="rId4"/>
          <a:stretch>
            <a:fillRect/>
          </a:stretch>
        </p:blipFill>
        <p:spPr>
          <a:xfrm>
            <a:off x="10188245" y="6297473"/>
            <a:ext cx="784555" cy="362102"/>
          </a:xfrm>
          <a:prstGeom prst="rect">
            <a:avLst/>
          </a:prstGeom>
        </p:spPr>
      </p:pic>
      <p:sp>
        <p:nvSpPr>
          <p:cNvPr id="5" name="Text 0"/>
          <p:cNvSpPr txBox="1"/>
          <p:nvPr/>
        </p:nvSpPr>
        <p:spPr>
          <a:xfrm>
            <a:off x="731520" y="731520"/>
            <a:ext cx="5486400" cy="457200"/>
          </a:xfrm>
          <a:prstGeom prst="rect">
            <a:avLst/>
          </a:prstGeom>
          <a:noFill/>
          <a:ln/>
        </p:spPr>
        <p:txBody>
          <a:bodyPr wrap="square" lIns="0" tIns="0" rIns="0" bIns="0" rtlCol="0" anchor="t"/>
          <a:lstStyle/>
          <a:p>
            <a:pPr marL="0" indent="0" eaLnBrk="0">
              <a:buNone/>
            </a:pPr>
            <a:r>
              <a:rPr lang="ko-KR" sz="1600" b="1" dirty="0" altLang="en-US">
                <a:solidFill>
                  <a:schemeClr val="accent1"/>
                </a:solidFill>
              </a:rPr>
              <a:t>중간 정리</a:t>
            </a:r>
            <a:endParaRPr lang="ko-KR" sz="1600" dirty="0" altLang="en-US"/>
          </a:p>
        </p:txBody>
      </p:sp>
      <p:sp>
        <p:nvSpPr>
          <p:cNvPr id="6" name="Text 1"/>
          <p:cNvSpPr txBox="1"/>
          <p:nvPr/>
        </p:nvSpPr>
        <p:spPr>
          <a:xfrm>
            <a:off x="731520" y="1280160"/>
            <a:ext cx="10515600" cy="1645920"/>
          </a:xfrm>
          <a:prstGeom prst="rect">
            <a:avLst/>
          </a:prstGeom>
          <a:noFill/>
          <a:ln/>
        </p:spPr>
        <p:txBody>
          <a:bodyPr wrap="square" lIns="0" tIns="0" rIns="0" bIns="0" rtlCol="0" anchor="t"/>
          <a:lstStyle/>
          <a:p>
            <a:pPr marL="0" indent="0" eaLnBrk="0">
              <a:buNone/>
            </a:pPr>
            <a:r>
              <a:rPr lang="ko-KR" sz="4000" b="1" dirty="0" altLang="en-US">
                <a:solidFill>
                  <a:schemeClr val="bg1"/>
                </a:solidFill>
              </a:rPr>
              <a:t>미리 보내는 로직은 만들었다.</a:t>
            </a:r>
            <a:endParaRPr lang="ko-KR" sz="4000" dirty="0" altLang="en-US"/>
          </a:p>
          <a:p>
            <a:pPr marL="0" indent="0" eaLnBrk="0">
              <a:buNone/>
            </a:pPr>
            <a:r>
              <a:rPr lang="ko-KR" sz="4000" b="1" dirty="0" altLang="en-US">
                <a:solidFill>
                  <a:schemeClr val="bg1"/>
                </a:solidFill>
              </a:rPr>
              <a:t>이제 Unity에서 눈으로 확인</a:t>
            </a:r>
            <a:endParaRPr lang="ko-KR" sz="4000" dirty="0" altLang="en-US"/>
          </a:p>
        </p:txBody>
      </p:sp>
      <p:sp>
        <p:nvSpPr>
          <p:cNvPr id="7" name="Shape 2"/>
          <p:cNvSpPr/>
          <p:nvPr/>
        </p:nvSpPr>
        <p:spPr>
          <a:xfrm>
            <a:off x="731520" y="2926080"/>
            <a:ext cx="3383280" cy="1828800"/>
          </a:xfrm>
          <a:prstGeom prst="roundRect">
            <a:avLst>
              <a:gd name="adj" fmla="val 6000"/>
            </a:avLst>
          </a:prstGeom>
          <a:solidFill>
            <a:schemeClr val="tx1"/>
          </a:solidFill>
          <a:ln w="12700">
            <a:solidFill>
              <a:schemeClr val="tx1"/>
            </a:solidFill>
            <a:prstDash val="solid"/>
          </a:ln>
        </p:spPr>
      </p:sp>
      <p:sp>
        <p:nvSpPr>
          <p:cNvPr id="8" name="Text 3"/>
          <p:cNvSpPr txBox="1"/>
          <p:nvPr/>
        </p:nvSpPr>
        <p:spPr>
          <a:xfrm>
            <a:off x="1005840" y="3108960"/>
            <a:ext cx="2834640" cy="548640"/>
          </a:xfrm>
          <a:prstGeom prst="rect">
            <a:avLst/>
          </a:prstGeom>
          <a:noFill/>
          <a:ln/>
        </p:spPr>
        <p:txBody>
          <a:bodyPr wrap="square" lIns="0" tIns="0" rIns="0" bIns="0" rtlCol="0" anchor="t"/>
          <a:lstStyle/>
          <a:p>
            <a:pPr marL="0" indent="0" eaLnBrk="0">
              <a:buNone/>
            </a:pPr>
            <a:r>
              <a:rPr lang="ko-KR" sz="2400" b="1" dirty="0" altLang="en-US">
                <a:solidFill>
                  <a:schemeClr val="accent1"/>
                </a:solidFill>
              </a:rPr>
              <a:t>만든 것</a:t>
            </a:r>
            <a:endParaRPr lang="ko-KR" sz="2400" dirty="0" altLang="en-US"/>
          </a:p>
        </p:txBody>
      </p:sp>
      <p:sp>
        <p:nvSpPr>
          <p:cNvPr id="9" name="Text 4"/>
          <p:cNvSpPr txBox="1"/>
          <p:nvPr/>
        </p:nvSpPr>
        <p:spPr>
          <a:xfrm>
            <a:off x="1005840" y="3794760"/>
            <a:ext cx="2834640" cy="914400"/>
          </a:xfrm>
          <a:prstGeom prst="rect">
            <a:avLst/>
          </a:prstGeom>
          <a:noFill/>
          <a:ln/>
        </p:spPr>
        <p:txBody>
          <a:bodyPr wrap="square" lIns="0" tIns="0" rIns="0" bIns="0" rtlCol="0" anchor="t"/>
          <a:lstStyle/>
          <a:p>
            <a:pPr marL="0" indent="0" eaLnBrk="0">
              <a:buNone/>
            </a:pPr>
            <a:r>
              <a:rPr lang="ko-KR" sz="1500" dirty="0" altLang="en-US">
                <a:solidFill>
                  <a:schemeClr val="bg1"/>
                </a:solidFill>
              </a:rPr>
              <a:t>시뮬 환경 · 전처리 ·</a:t>
            </a:r>
            <a:endParaRPr lang="ko-KR" sz="1500" dirty="0" altLang="en-US"/>
          </a:p>
          <a:p>
            <a:pPr marL="0" indent="0" eaLnBrk="0">
              <a:buNone/>
            </a:pPr>
            <a:r>
              <a:rPr lang="ko-KR" sz="1500" dirty="0" altLang="en-US">
                <a:solidFill>
                  <a:schemeClr val="bg1"/>
                </a:solidFill>
              </a:rPr>
              <a:t>예측 · 배차 · RL · 분석 도구</a:t>
            </a:r>
            <a:endParaRPr lang="ko-KR" sz="1500" dirty="0" altLang="en-US"/>
          </a:p>
        </p:txBody>
      </p:sp>
      <p:sp>
        <p:nvSpPr>
          <p:cNvPr id="10" name="Shape 5"/>
          <p:cNvSpPr/>
          <p:nvPr/>
        </p:nvSpPr>
        <p:spPr>
          <a:xfrm>
            <a:off x="4389120" y="2926080"/>
            <a:ext cx="3383280" cy="1828800"/>
          </a:xfrm>
          <a:prstGeom prst="roundRect">
            <a:avLst>
              <a:gd name="adj" fmla="val 6000"/>
            </a:avLst>
          </a:prstGeom>
          <a:solidFill>
            <a:schemeClr val="tx1"/>
          </a:solidFill>
          <a:ln w="12700">
            <a:solidFill>
              <a:schemeClr val="tx1"/>
            </a:solidFill>
            <a:prstDash val="solid"/>
          </a:ln>
        </p:spPr>
      </p:sp>
      <p:sp>
        <p:nvSpPr>
          <p:cNvPr id="11" name="Text 6"/>
          <p:cNvSpPr txBox="1"/>
          <p:nvPr/>
        </p:nvSpPr>
        <p:spPr>
          <a:xfrm>
            <a:off x="4663440" y="3108960"/>
            <a:ext cx="2834640" cy="548640"/>
          </a:xfrm>
          <a:prstGeom prst="rect">
            <a:avLst/>
          </a:prstGeom>
          <a:noFill/>
          <a:ln/>
        </p:spPr>
        <p:txBody>
          <a:bodyPr wrap="square" lIns="0" tIns="0" rIns="0" bIns="0" rtlCol="0" anchor="t"/>
          <a:lstStyle/>
          <a:p>
            <a:pPr marL="0" indent="0" eaLnBrk="0">
              <a:buNone/>
            </a:pPr>
            <a:r>
              <a:rPr lang="ko-KR" sz="2400" b="1" dirty="0" altLang="en-US">
                <a:solidFill>
                  <a:schemeClr val="accent1"/>
                </a:solidFill>
              </a:rPr>
              <a:t>1차 결과</a:t>
            </a:r>
            <a:endParaRPr lang="ko-KR" sz="2400" dirty="0" altLang="en-US"/>
          </a:p>
        </p:txBody>
      </p:sp>
      <p:sp>
        <p:nvSpPr>
          <p:cNvPr id="12" name="Text 7"/>
          <p:cNvSpPr txBox="1"/>
          <p:nvPr/>
        </p:nvSpPr>
        <p:spPr>
          <a:xfrm>
            <a:off x="4663440" y="3794760"/>
            <a:ext cx="2834640" cy="914400"/>
          </a:xfrm>
          <a:prstGeom prst="rect">
            <a:avLst/>
          </a:prstGeom>
          <a:noFill/>
          <a:ln/>
        </p:spPr>
        <p:txBody>
          <a:bodyPr wrap="square" lIns="0" tIns="0" rIns="0" bIns="0" rtlCol="0" anchor="t"/>
          <a:lstStyle/>
          <a:p>
            <a:pPr marL="0" indent="0" eaLnBrk="0">
              <a:buNone/>
            </a:pPr>
            <a:r>
              <a:rPr lang="ko-KR" sz="1500" dirty="0" altLang="en-US">
                <a:solidFill>
                  <a:schemeClr val="bg1"/>
                </a:solidFill>
              </a:rPr>
              <a:t>RL 재배치 휴일 −11~15%</a:t>
            </a:r>
            <a:endParaRPr lang="ko-KR" sz="1500" dirty="0" altLang="en-US"/>
          </a:p>
          <a:p>
            <a:pPr marL="0" indent="0" eaLnBrk="0">
              <a:buNone/>
            </a:pPr>
            <a:r>
              <a:rPr lang="ko-KR" sz="1500" dirty="0" altLang="en-US">
                <a:solidFill>
                  <a:schemeClr val="bg1"/>
                </a:solidFill>
              </a:rPr>
              <a:t>(평일은 개선폭이 작음)</a:t>
            </a:r>
            <a:endParaRPr lang="ko-KR" sz="1500" dirty="0" altLang="en-US"/>
          </a:p>
        </p:txBody>
      </p:sp>
      <p:sp>
        <p:nvSpPr>
          <p:cNvPr id="13" name="Shape 8"/>
          <p:cNvSpPr/>
          <p:nvPr/>
        </p:nvSpPr>
        <p:spPr>
          <a:xfrm>
            <a:off x="8046720" y="2926080"/>
            <a:ext cx="3383280" cy="1828800"/>
          </a:xfrm>
          <a:prstGeom prst="roundRect">
            <a:avLst>
              <a:gd name="adj" fmla="val 6000"/>
            </a:avLst>
          </a:prstGeom>
          <a:solidFill>
            <a:schemeClr val="tx1"/>
          </a:solidFill>
          <a:ln w="12700">
            <a:solidFill>
              <a:schemeClr val="tx1"/>
            </a:solidFill>
            <a:prstDash val="solid"/>
          </a:ln>
        </p:spPr>
      </p:sp>
      <p:sp>
        <p:nvSpPr>
          <p:cNvPr id="14" name="Text 9"/>
          <p:cNvSpPr txBox="1"/>
          <p:nvPr/>
        </p:nvSpPr>
        <p:spPr>
          <a:xfrm>
            <a:off x="8321040" y="3108960"/>
            <a:ext cx="2834640" cy="548640"/>
          </a:xfrm>
          <a:prstGeom prst="rect">
            <a:avLst/>
          </a:prstGeom>
          <a:noFill/>
          <a:ln/>
        </p:spPr>
        <p:txBody>
          <a:bodyPr wrap="square" lIns="0" tIns="0" rIns="0" bIns="0" rtlCol="0" anchor="t"/>
          <a:lstStyle/>
          <a:p>
            <a:pPr marL="0" indent="0" eaLnBrk="0">
              <a:buNone/>
            </a:pPr>
            <a:r>
              <a:rPr lang="ko-KR" sz="2400" b="1" dirty="0" altLang="en-US">
                <a:solidFill>
                  <a:schemeClr val="accent1"/>
                </a:solidFill>
              </a:rPr>
              <a:t>남은 것</a:t>
            </a:r>
            <a:endParaRPr lang="ko-KR" sz="2400" dirty="0" altLang="en-US"/>
          </a:p>
        </p:txBody>
      </p:sp>
      <p:sp>
        <p:nvSpPr>
          <p:cNvPr id="15" name="Text 10"/>
          <p:cNvSpPr txBox="1"/>
          <p:nvPr/>
        </p:nvSpPr>
        <p:spPr>
          <a:xfrm>
            <a:off x="8321040" y="3794760"/>
            <a:ext cx="2834640" cy="914400"/>
          </a:xfrm>
          <a:prstGeom prst="rect">
            <a:avLst/>
          </a:prstGeom>
          <a:noFill/>
          <a:ln/>
        </p:spPr>
        <p:txBody>
          <a:bodyPr wrap="square" lIns="0" tIns="0" rIns="0" bIns="0" rtlCol="0" anchor="t"/>
          <a:lstStyle/>
          <a:p>
            <a:pPr marL="0" indent="0" eaLnBrk="0">
              <a:buNone/>
            </a:pPr>
            <a:r>
              <a:rPr lang="ko-KR" sz="1500" dirty="0" altLang="en-US">
                <a:solidFill>
                  <a:schemeClr val="bg1"/>
                </a:solidFill>
              </a:rPr>
              <a:t>Unity 연동 · FETEX 개발</a:t>
            </a:r>
            <a:endParaRPr lang="ko-KR" sz="1500" dirty="0" altLang="en-US"/>
          </a:p>
          <a:p>
            <a:pPr marL="0" indent="0" eaLnBrk="0">
              <a:buNone/>
            </a:pPr>
            <a:r>
              <a:rPr lang="ko-KR" sz="1500" dirty="0" altLang="en-US">
                <a:solidFill>
                  <a:schemeClr val="bg1"/>
                </a:solidFill>
              </a:rPr>
              <a:t>(10/22 이후 동시 착수)</a:t>
            </a:r>
            <a:endParaRPr lang="ko-KR" sz="1500" dirty="0" altLang="en-US"/>
          </a:p>
        </p:txBody>
      </p:sp>
      <p:sp>
        <p:nvSpPr>
          <p:cNvPr id="16" name="Text 11"/>
          <p:cNvSpPr txBox="1"/>
          <p:nvPr/>
        </p:nvSpPr>
        <p:spPr>
          <a:xfrm>
            <a:off x="731520" y="5943600"/>
            <a:ext cx="5486400" cy="457200"/>
          </a:xfrm>
          <a:prstGeom prst="rect">
            <a:avLst/>
          </a:prstGeom>
          <a:noFill/>
          <a:ln/>
        </p:spPr>
        <p:txBody>
          <a:bodyPr wrap="square" lIns="0" tIns="0" rIns="0" bIns="0" rtlCol="0" anchor="t"/>
          <a:lstStyle/>
          <a:p>
            <a:pPr marL="0" indent="0" eaLnBrk="0">
              <a:buNone/>
            </a:pPr>
            <a:r>
              <a:rPr lang="ko-KR" sz="1600" dirty="0" altLang="en-US">
                <a:solidFill>
                  <a:schemeClr val="accent6"/>
                </a:solidFill>
              </a:rPr>
              <a:t>감사합니다 · Q&amp;A</a:t>
            </a:r>
            <a:endParaRPr lang="ko-KR" sz="1600" dirty="0" altLang="en-US"/>
          </a:p>
        </p:txBody>
      </p:sp>
      <p:sp>
        <p:nvSpPr>
          <p:cNvPr id="17" name="Shape 2"/>
          <p:cNvSpPr/>
          <p:nvPr/>
        </p:nvSpPr>
        <p:spPr>
          <a:xfrm>
            <a:off x="731520" y="4937760"/>
            <a:ext cx="10698480" cy="868680"/>
          </a:xfrm>
          <a:prstGeom prst="roundRect">
            <a:avLst>
              <a:gd name="adj" fmla="val 6000"/>
            </a:avLst>
          </a:prstGeom>
          <a:solidFill>
            <a:schemeClr val="tx1"/>
          </a:solidFill>
          <a:ln w="12700">
            <a:solidFill>
              <a:schemeClr val="tx1"/>
            </a:solidFill>
            <a:prstDash val="solid"/>
          </a:ln>
        </p:spPr>
      </p:sp>
      <p:sp>
        <p:nvSpPr>
          <p:cNvPr id="18" name="Text 3"/>
          <p:cNvSpPr txBox="1"/>
          <p:nvPr/>
        </p:nvSpPr>
        <p:spPr>
          <a:xfrm>
            <a:off x="1005840" y="5029200"/>
            <a:ext cx="1828800" cy="548640"/>
          </a:xfrm>
          <a:prstGeom prst="rect">
            <a:avLst/>
          </a:prstGeom>
          <a:noFill/>
          <a:ln/>
        </p:spPr>
        <p:txBody>
          <a:bodyPr wrap="square" lIns="0" tIns="0" rIns="0" bIns="0" rtlCol="0" anchor="t"/>
          <a:lstStyle/>
          <a:p>
            <a:pPr marL="0" indent="0" eaLnBrk="0">
              <a:buNone/>
            </a:pPr>
            <a:r>
              <a:rPr lang="ko-KR" sz="2400" b="1" dirty="0" altLang="en-US">
                <a:solidFill>
                  <a:schemeClr val="accent1"/>
                </a:solidFill>
              </a:rPr>
              <a:t>핵심 위험요인</a:t>
            </a:r>
            <a:endParaRPr lang="ko-KR" sz="2400" dirty="0" altLang="en-US"/>
          </a:p>
        </p:txBody>
      </p:sp>
      <p:sp>
        <p:nvSpPr>
          <p:cNvPr id="19" name="Text 4"/>
          <p:cNvSpPr txBox="1"/>
          <p:nvPr/>
        </p:nvSpPr>
        <p:spPr>
          <a:xfrm>
            <a:off x="2926080" y="5029200"/>
            <a:ext cx="8321040" cy="731520"/>
          </a:xfrm>
          <a:prstGeom prst="rect">
            <a:avLst/>
          </a:prstGeom>
          <a:noFill/>
          <a:ln/>
        </p:spPr>
        <p:txBody>
          <a:bodyPr wrap="square" lIns="0" tIns="0" rIns="0" bIns="0" rtlCol="0" anchor="t"/>
          <a:lstStyle/>
          <a:p>
            <a:pPr marL="0" indent="0" eaLnBrk="0">
              <a:buNone/>
            </a:pPr>
            <a:r>
              <a:rPr lang="ko-KR" sz="1500" dirty="0" altLang="en-US">
                <a:solidFill>
                  <a:schemeClr val="bg1"/>
                </a:solidFill>
              </a:rPr>
              <a:t>실데이터 확보 어려움(이동경로뿐) · Unity·FETEX 동시 착수 일정 · 평일 개선폭이 휴일보다 작음</a:t>
            </a:r>
            <a:endParaRPr lang="ko-KR" sz="1500" dirty="0" altLang="en-US"/>
          </a:p>
        </p:txBody>
      </p:sp>
    </p:spTree>
  </p:cSld>
  <p:clrMapOvr>
    <a:masterClrMapping/>
  </p:clrMapOvr>
</p:sld>
</file>

<file path=ppt/theme/theme1.xml><?xml version="1.0" encoding="utf-8"?>
<a:theme xmlns:a="http://schemas.openxmlformats.org/drawingml/2006/main" name="Mobility Night">
  <a:themeElements>
    <a:clrScheme name="Mobility Night">
      <a:dk1>
        <a:srgbClr val="16213A"/>
      </a:dk1>
      <a:lt1>
        <a:srgbClr val="FFFFFF"/>
      </a:lt1>
      <a:dk2>
        <a:srgbClr val="0E1730"/>
      </a:dk2>
      <a:lt2>
        <a:srgbClr val="F2F4F8"/>
      </a:lt2>
      <a:accent1>
        <a:srgbClr val="F5B700"/>
      </a:accent1>
      <a:accent2>
        <a:srgbClr val="1FA89A"/>
      </a:accent2>
      <a:accent3>
        <a:srgbClr val="E4572E"/>
      </a:accent3>
      <a:accent4>
        <a:srgbClr val="5B6B8C"/>
      </a:accent4>
      <a:accent5>
        <a:srgbClr val="3A86FF"/>
      </a:accent5>
      <a:accent6>
        <a:srgbClr val="9AA5BD"/>
      </a:accent6>
      <a:hlink>
        <a:srgbClr val="3A86FF"/>
      </a:hlink>
      <a:folHlink>
        <a:srgbClr val="5B6B8C"/>
      </a:folHlink>
    </a:clrScheme>
    <a:fontScheme name="Mobility Night">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2762</Words>
  <Application>Microsoft Office PowerPoint</Application>
  <PresentationFormat>와이드스크린</PresentationFormat>
  <Paragraphs>338</Paragraphs>
  <Slides>16</Slides>
  <Notes>16</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16</vt:i4>
      </vt:variant>
    </vt:vector>
  </HeadingPairs>
  <TitlesOfParts>
    <vt:vector size="19" baseType="lpstr">
      <vt:lpstr>Malgun Gothic</vt:lpstr>
      <vt:lpstr>Arial</vt:lpstr>
      <vt:lpstr>Mobility Night</vt:lpstr>
      <vt:lpstr>PowerPoint 프레젠테이션</vt:lpstr>
      <vt:lpstr>팀의 목적 · 택시는 충분한데, 필요한 곳에 없다</vt:lpstr>
      <vt:lpstr>전체 진행 현황</vt:lpstr>
      <vt:lpstr>구조 · 시뮬레이션 로그가 학습과 배차로 이어진다</vt:lpstr>
      <vt:lpstr>Module 1 · 실제 지도 위의 도시 환경</vt:lpstr>
      <vt:lpstr>Module 2 · 전처리 파이프라인</vt:lpstr>
      <vt:lpstr>Module 3 · 수요 예측 모델</vt:lpstr>
      <vt:lpstr>Module 4-1 · 어떻게 학습시키나</vt:lpstr>
      <vt:lpstr>Module 4-2 · 배차 알고리즘 (헝가리안 고정)</vt:lpstr>
      <vt:lpstr>Module 4-3 · RL 유휴택시 재배치 (핵심)</vt:lpstr>
      <vt:lpstr>실험 설계 · 배치 전략 비교 (RL vs 고정 배치)</vt:lpstr>
      <vt:lpstr>1차 결과 · RL 재배치가 휴일 3일 모두 우세</vt:lpstr>
      <vt:lpstr>1차 결과 · 타임아웃은 점심·저녁 피크에 몰린다</vt:lpstr>
      <vt:lpstr>진행 중 겪은 문제와 해결</vt:lpstr>
      <vt:lpstr>남은 일과 다음 단계</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Mobility Digital Twin 중간 발표</dc:title>
  <dc:subject>PptxGenJS Presentation</dc:subject>
  <dc:creator>PptxGenJS</dc:creator>
  <cp:lastModifiedBy>준성 김</cp:lastModifiedBy>
  <cp:revision>3</cp:revision>
  <dcterms:created xsi:type="dcterms:W3CDTF">2026-10-09T09:25:32Z</dcterms:created>
  <dcterms:modified xsi:type="dcterms:W3CDTF">2026-10-10T00:01:08Z</dcterms:modified>
</cp:coreProperties>
</file>